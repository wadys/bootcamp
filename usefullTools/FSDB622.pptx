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345" r:id="rId3"/>
    <p:sldId id="358" r:id="rId4"/>
    <p:sldId id="359" r:id="rId5"/>
    <p:sldId id="355"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3300"/>
    <a:srgbClr val="745A00"/>
    <a:srgbClr val="61456A"/>
    <a:srgbClr val="C55A11"/>
    <a:srgbClr val="AD6513"/>
    <a:srgbClr val="FCC613"/>
    <a:srgbClr val="FFDD6D"/>
    <a:srgbClr val="DD53F8"/>
    <a:srgbClr val="E100FF"/>
    <a:srgbClr val="E85E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015"/>
    <p:restoredTop sz="91126"/>
  </p:normalViewPr>
  <p:slideViewPr>
    <p:cSldViewPr snapToGrid="0" showGuides="1">
      <p:cViewPr varScale="1">
        <p:scale>
          <a:sx n="140" d="100"/>
          <a:sy n="140" d="100"/>
        </p:scale>
        <p:origin x="1032" y="20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CAFF5F-4593-4642-B263-46DC71846A50}" type="datetimeFigureOut">
              <a:rPr lang="en-US" smtClean="0"/>
              <a:t>10/5/24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ED73B4-3B7A-5C47-BA0A-325276D0DB7E}" type="slidenum">
              <a:rPr lang="en-US" smtClean="0"/>
              <a:t>‹#›</a:t>
            </a:fld>
            <a:endParaRPr lang="en-US"/>
          </a:p>
        </p:txBody>
      </p:sp>
    </p:spTree>
    <p:extLst>
      <p:ext uri="{BB962C8B-B14F-4D97-AF65-F5344CB8AC3E}">
        <p14:creationId xmlns:p14="http://schemas.microsoft.com/office/powerpoint/2010/main" val="3036001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08086-3F50-6B21-F11D-D596A1B280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0F869C-0979-778C-E6F3-FA2616613A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F5CCF7-3D8B-35B5-4950-C203563F06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15F4C7-44EB-8560-3395-20BB16A1E7D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8644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21FBF-5F79-6B12-8961-2F1198206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807F17-1501-031C-CE80-2E5D3B50C8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784F5B-8FD7-8ECA-46F2-CF13B2F1F3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EFD1A8-28AD-2B70-ED11-B5FA8DF797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8139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24C53-4E55-A5C4-9BE1-096B1A2AEB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5B0913-96AC-818D-5146-A5498730FF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B40433-7296-C33B-1B06-32E8D5ED46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82BF89-4850-11E3-47E3-0553EE58F62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909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A7539-DE5B-FE24-D293-93B92FBD75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3A8259-785C-6F4A-A48D-64325D623A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CF34DC-FE0C-D3CD-6208-79C37159BD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16E978-4A22-203F-E7E5-2B1F9625AD3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2285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914B0-5224-B0DF-7293-F406631750C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F48810A-B6B9-C0BD-1265-DFCF181465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8519265-9BFA-1BC2-CDD6-47A3F947ED64}"/>
              </a:ext>
            </a:extLst>
          </p:cNvPr>
          <p:cNvSpPr>
            <a:spLocks noGrp="1"/>
          </p:cNvSpPr>
          <p:nvPr>
            <p:ph type="dt" sz="half" idx="10"/>
          </p:nvPr>
        </p:nvSpPr>
        <p:spPr/>
        <p:txBody>
          <a:bodyPr/>
          <a:lstStyle/>
          <a:p>
            <a:fld id="{A0CE7AAE-89D3-5444-979C-39A9910DDA2F}" type="datetimeFigureOut">
              <a:rPr lang="en-US" smtClean="0"/>
              <a:t>10/5/24</a:t>
            </a:fld>
            <a:endParaRPr lang="en-US"/>
          </a:p>
        </p:txBody>
      </p:sp>
      <p:sp>
        <p:nvSpPr>
          <p:cNvPr id="5" name="Footer Placeholder 4">
            <a:extLst>
              <a:ext uri="{FF2B5EF4-FFF2-40B4-BE49-F238E27FC236}">
                <a16:creationId xmlns:a16="http://schemas.microsoft.com/office/drawing/2014/main" id="{3CE74205-5F65-3747-0E48-5926F2DAE2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549A60-B65A-047C-1901-9E58799F46D8}"/>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041942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10753-60BE-D4E8-DF98-50EB8781B32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64FF022-9CC0-F395-2126-25FD48B7EA0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BC5A9DC-7053-2EC2-614A-ACE263E42A17}"/>
              </a:ext>
            </a:extLst>
          </p:cNvPr>
          <p:cNvSpPr>
            <a:spLocks noGrp="1"/>
          </p:cNvSpPr>
          <p:nvPr>
            <p:ph type="dt" sz="half" idx="10"/>
          </p:nvPr>
        </p:nvSpPr>
        <p:spPr/>
        <p:txBody>
          <a:bodyPr/>
          <a:lstStyle/>
          <a:p>
            <a:fld id="{A0CE7AAE-89D3-5444-979C-39A9910DDA2F}" type="datetimeFigureOut">
              <a:rPr lang="en-US" smtClean="0"/>
              <a:t>10/5/24</a:t>
            </a:fld>
            <a:endParaRPr lang="en-US"/>
          </a:p>
        </p:txBody>
      </p:sp>
      <p:sp>
        <p:nvSpPr>
          <p:cNvPr id="5" name="Footer Placeholder 4">
            <a:extLst>
              <a:ext uri="{FF2B5EF4-FFF2-40B4-BE49-F238E27FC236}">
                <a16:creationId xmlns:a16="http://schemas.microsoft.com/office/drawing/2014/main" id="{2A487403-D3DF-EED7-AC4A-58DC6ACD60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4F9626-CF06-4327-1460-B41D736AD62E}"/>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272489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58E38-3DF8-0E50-B41F-24E2F9647C5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0DF70C4-F003-C288-3E3B-F320E8EDA2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9AF0F96-1D0B-7BE6-0DA5-722FDD17D8A8}"/>
              </a:ext>
            </a:extLst>
          </p:cNvPr>
          <p:cNvSpPr>
            <a:spLocks noGrp="1"/>
          </p:cNvSpPr>
          <p:nvPr>
            <p:ph type="dt" sz="half" idx="10"/>
          </p:nvPr>
        </p:nvSpPr>
        <p:spPr/>
        <p:txBody>
          <a:bodyPr/>
          <a:lstStyle/>
          <a:p>
            <a:fld id="{A0CE7AAE-89D3-5444-979C-39A9910DDA2F}" type="datetimeFigureOut">
              <a:rPr lang="en-US" smtClean="0"/>
              <a:t>10/5/24</a:t>
            </a:fld>
            <a:endParaRPr lang="en-US"/>
          </a:p>
        </p:txBody>
      </p:sp>
      <p:sp>
        <p:nvSpPr>
          <p:cNvPr id="5" name="Footer Placeholder 4">
            <a:extLst>
              <a:ext uri="{FF2B5EF4-FFF2-40B4-BE49-F238E27FC236}">
                <a16:creationId xmlns:a16="http://schemas.microsoft.com/office/drawing/2014/main" id="{8FBFA99A-36B8-13EE-009B-F71B62B1EA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75676F-30E5-E5C7-0601-07574EB2D6DA}"/>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1391519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4B8B2-55D6-055B-5C09-E65DD8C951A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75256CA-6EF2-B2E8-7D4B-52ECBC95853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D456E81-36C0-EE8A-9E4E-8470ED18AAD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C4A4CF9-8A85-9602-5D37-E5036C3F74B5}"/>
              </a:ext>
            </a:extLst>
          </p:cNvPr>
          <p:cNvSpPr>
            <a:spLocks noGrp="1"/>
          </p:cNvSpPr>
          <p:nvPr>
            <p:ph type="dt" sz="half" idx="10"/>
          </p:nvPr>
        </p:nvSpPr>
        <p:spPr/>
        <p:txBody>
          <a:bodyPr/>
          <a:lstStyle/>
          <a:p>
            <a:fld id="{A0CE7AAE-89D3-5444-979C-39A9910DDA2F}" type="datetimeFigureOut">
              <a:rPr lang="en-US" smtClean="0"/>
              <a:t>10/5/24</a:t>
            </a:fld>
            <a:endParaRPr lang="en-US"/>
          </a:p>
        </p:txBody>
      </p:sp>
      <p:sp>
        <p:nvSpPr>
          <p:cNvPr id="6" name="Footer Placeholder 5">
            <a:extLst>
              <a:ext uri="{FF2B5EF4-FFF2-40B4-BE49-F238E27FC236}">
                <a16:creationId xmlns:a16="http://schemas.microsoft.com/office/drawing/2014/main" id="{E3A8346B-1F76-4AD0-4C90-AD7234282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591F1-5E0B-7A68-8722-F1575298775C}"/>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3927745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BFBBD-1722-4224-F9BB-8EBD1C001F3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354CB22-1AE7-CA9A-D0DC-DC783753CB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E55AA36-5AC2-7491-7C18-242609E9FE6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0A99B3A-36E2-CFCE-6301-878B769EC1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1E6ABAF-F340-A78E-DFD6-A0867F846F7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6FF998BD-30CD-7920-E753-C252CA2B2BBA}"/>
              </a:ext>
            </a:extLst>
          </p:cNvPr>
          <p:cNvSpPr>
            <a:spLocks noGrp="1"/>
          </p:cNvSpPr>
          <p:nvPr>
            <p:ph type="dt" sz="half" idx="10"/>
          </p:nvPr>
        </p:nvSpPr>
        <p:spPr/>
        <p:txBody>
          <a:bodyPr/>
          <a:lstStyle/>
          <a:p>
            <a:fld id="{A0CE7AAE-89D3-5444-979C-39A9910DDA2F}" type="datetimeFigureOut">
              <a:rPr lang="en-US" smtClean="0"/>
              <a:t>10/5/24</a:t>
            </a:fld>
            <a:endParaRPr lang="en-US"/>
          </a:p>
        </p:txBody>
      </p:sp>
      <p:sp>
        <p:nvSpPr>
          <p:cNvPr id="8" name="Footer Placeholder 7">
            <a:extLst>
              <a:ext uri="{FF2B5EF4-FFF2-40B4-BE49-F238E27FC236}">
                <a16:creationId xmlns:a16="http://schemas.microsoft.com/office/drawing/2014/main" id="{3AA7ABC1-3752-46E5-F1AF-00F01D4BE0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2F4455-339C-F08F-C4CD-B3F2A7952737}"/>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504233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AA960-22DE-E5A9-7830-63B79FA7472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71E3637-07FD-41EA-C7DB-1E60FA870257}"/>
              </a:ext>
            </a:extLst>
          </p:cNvPr>
          <p:cNvSpPr>
            <a:spLocks noGrp="1"/>
          </p:cNvSpPr>
          <p:nvPr>
            <p:ph type="dt" sz="half" idx="10"/>
          </p:nvPr>
        </p:nvSpPr>
        <p:spPr/>
        <p:txBody>
          <a:bodyPr/>
          <a:lstStyle/>
          <a:p>
            <a:fld id="{A0CE7AAE-89D3-5444-979C-39A9910DDA2F}" type="datetimeFigureOut">
              <a:rPr lang="en-US" smtClean="0"/>
              <a:t>10/5/24</a:t>
            </a:fld>
            <a:endParaRPr lang="en-US"/>
          </a:p>
        </p:txBody>
      </p:sp>
      <p:sp>
        <p:nvSpPr>
          <p:cNvPr id="4" name="Footer Placeholder 3">
            <a:extLst>
              <a:ext uri="{FF2B5EF4-FFF2-40B4-BE49-F238E27FC236}">
                <a16:creationId xmlns:a16="http://schemas.microsoft.com/office/drawing/2014/main" id="{201F13C8-AE6B-EC91-149D-C4F99AB0D4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F6A696-6FF2-5CBD-6F28-EC15D5709D21}"/>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568098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68334D-D93A-3844-6818-5266D3B3D6E9}"/>
              </a:ext>
            </a:extLst>
          </p:cNvPr>
          <p:cNvSpPr>
            <a:spLocks noGrp="1"/>
          </p:cNvSpPr>
          <p:nvPr>
            <p:ph type="dt" sz="half" idx="10"/>
          </p:nvPr>
        </p:nvSpPr>
        <p:spPr/>
        <p:txBody>
          <a:bodyPr/>
          <a:lstStyle/>
          <a:p>
            <a:fld id="{A0CE7AAE-89D3-5444-979C-39A9910DDA2F}" type="datetimeFigureOut">
              <a:rPr lang="en-US" smtClean="0"/>
              <a:t>10/5/24</a:t>
            </a:fld>
            <a:endParaRPr lang="en-US"/>
          </a:p>
        </p:txBody>
      </p:sp>
      <p:sp>
        <p:nvSpPr>
          <p:cNvPr id="3" name="Footer Placeholder 2">
            <a:extLst>
              <a:ext uri="{FF2B5EF4-FFF2-40B4-BE49-F238E27FC236}">
                <a16:creationId xmlns:a16="http://schemas.microsoft.com/office/drawing/2014/main" id="{5FB9EED5-89A1-ACE4-55B7-3E9C29A579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EA3269-AD29-F734-147B-CF871F8F93DC}"/>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293418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EF10A-D478-0EAA-0D79-6B896263640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0101B23-CF69-1895-9367-83A95BCF1C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E200D4B-7EEA-3448-A4D6-3B78AD012E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A856B4C-B757-9048-D019-358A416E5641}"/>
              </a:ext>
            </a:extLst>
          </p:cNvPr>
          <p:cNvSpPr>
            <a:spLocks noGrp="1"/>
          </p:cNvSpPr>
          <p:nvPr>
            <p:ph type="dt" sz="half" idx="10"/>
          </p:nvPr>
        </p:nvSpPr>
        <p:spPr/>
        <p:txBody>
          <a:bodyPr/>
          <a:lstStyle/>
          <a:p>
            <a:fld id="{A0CE7AAE-89D3-5444-979C-39A9910DDA2F}" type="datetimeFigureOut">
              <a:rPr lang="en-US" smtClean="0"/>
              <a:t>10/5/24</a:t>
            </a:fld>
            <a:endParaRPr lang="en-US"/>
          </a:p>
        </p:txBody>
      </p:sp>
      <p:sp>
        <p:nvSpPr>
          <p:cNvPr id="6" name="Footer Placeholder 5">
            <a:extLst>
              <a:ext uri="{FF2B5EF4-FFF2-40B4-BE49-F238E27FC236}">
                <a16:creationId xmlns:a16="http://schemas.microsoft.com/office/drawing/2014/main" id="{CFFE17CD-B648-BBC6-40F2-86A87DD4A8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55F0EB-2058-FC2E-EDCF-37CD7BC36E7B}"/>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360055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B20EC-5AFE-8DF7-F581-AEE45E4A993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869887F-796D-C2EF-5316-35FE57640F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76A06E-DDBD-D2B6-9290-9E50813A44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77558D9-110B-23FB-23FE-284059F2192C}"/>
              </a:ext>
            </a:extLst>
          </p:cNvPr>
          <p:cNvSpPr>
            <a:spLocks noGrp="1"/>
          </p:cNvSpPr>
          <p:nvPr>
            <p:ph type="dt" sz="half" idx="10"/>
          </p:nvPr>
        </p:nvSpPr>
        <p:spPr/>
        <p:txBody>
          <a:bodyPr/>
          <a:lstStyle/>
          <a:p>
            <a:fld id="{A0CE7AAE-89D3-5444-979C-39A9910DDA2F}" type="datetimeFigureOut">
              <a:rPr lang="en-US" smtClean="0"/>
              <a:t>10/5/24</a:t>
            </a:fld>
            <a:endParaRPr lang="en-US"/>
          </a:p>
        </p:txBody>
      </p:sp>
      <p:sp>
        <p:nvSpPr>
          <p:cNvPr id="6" name="Footer Placeholder 5">
            <a:extLst>
              <a:ext uri="{FF2B5EF4-FFF2-40B4-BE49-F238E27FC236}">
                <a16:creationId xmlns:a16="http://schemas.microsoft.com/office/drawing/2014/main" id="{B628022B-6382-BE9C-A25F-0B02B02931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23489-F0FC-18E2-45F1-463EFAAB24AC}"/>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3356510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F9BB7-6F7E-5B81-4F71-4BE777730CA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2698EFD-6E2D-073D-2777-B8197B8AD90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5FCEA36-4478-D24E-E2AB-CF9EEA3E9F2A}"/>
              </a:ext>
            </a:extLst>
          </p:cNvPr>
          <p:cNvSpPr>
            <a:spLocks noGrp="1"/>
          </p:cNvSpPr>
          <p:nvPr>
            <p:ph type="dt" sz="half" idx="10"/>
          </p:nvPr>
        </p:nvSpPr>
        <p:spPr/>
        <p:txBody>
          <a:bodyPr/>
          <a:lstStyle/>
          <a:p>
            <a:fld id="{A0CE7AAE-89D3-5444-979C-39A9910DDA2F}" type="datetimeFigureOut">
              <a:rPr lang="en-US" smtClean="0"/>
              <a:t>10/5/24</a:t>
            </a:fld>
            <a:endParaRPr lang="en-US"/>
          </a:p>
        </p:txBody>
      </p:sp>
      <p:sp>
        <p:nvSpPr>
          <p:cNvPr id="5" name="Footer Placeholder 4">
            <a:extLst>
              <a:ext uri="{FF2B5EF4-FFF2-40B4-BE49-F238E27FC236}">
                <a16:creationId xmlns:a16="http://schemas.microsoft.com/office/drawing/2014/main" id="{A63BC77E-E47B-EBFA-D7E2-EB8CAFC4C6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C8DF2F-19EC-AA0F-C42C-20F34B9C706A}"/>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1170652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DB8503-2440-79EE-E716-072BE6DE3E8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8CF235D-189D-2752-0AD8-7B97748CAC2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E86B4F1-B968-C9DC-36A0-40D3A9249691}"/>
              </a:ext>
            </a:extLst>
          </p:cNvPr>
          <p:cNvSpPr>
            <a:spLocks noGrp="1"/>
          </p:cNvSpPr>
          <p:nvPr>
            <p:ph type="dt" sz="half" idx="10"/>
          </p:nvPr>
        </p:nvSpPr>
        <p:spPr/>
        <p:txBody>
          <a:bodyPr/>
          <a:lstStyle/>
          <a:p>
            <a:fld id="{A0CE7AAE-89D3-5444-979C-39A9910DDA2F}" type="datetimeFigureOut">
              <a:rPr lang="en-US" smtClean="0"/>
              <a:t>10/5/24</a:t>
            </a:fld>
            <a:endParaRPr lang="en-US"/>
          </a:p>
        </p:txBody>
      </p:sp>
      <p:sp>
        <p:nvSpPr>
          <p:cNvPr id="5" name="Footer Placeholder 4">
            <a:extLst>
              <a:ext uri="{FF2B5EF4-FFF2-40B4-BE49-F238E27FC236}">
                <a16:creationId xmlns:a16="http://schemas.microsoft.com/office/drawing/2014/main" id="{5FE11C7E-F8C8-E7B1-5AE1-6C0FD2430B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B64DB4-9403-A5D1-815E-2C890E8D9E38}"/>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304233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20128"/>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99037D-89B3-121A-2C40-3A64E3262F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A6CA659-082C-0B10-3680-E2AAC011B6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DA14A2A-5365-7A34-B293-F60F544841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CE7AAE-89D3-5444-979C-39A9910DDA2F}" type="datetimeFigureOut">
              <a:rPr lang="en-US" smtClean="0"/>
              <a:t>10/5/24</a:t>
            </a:fld>
            <a:endParaRPr lang="en-US"/>
          </a:p>
        </p:txBody>
      </p:sp>
      <p:sp>
        <p:nvSpPr>
          <p:cNvPr id="5" name="Footer Placeholder 4">
            <a:extLst>
              <a:ext uri="{FF2B5EF4-FFF2-40B4-BE49-F238E27FC236}">
                <a16:creationId xmlns:a16="http://schemas.microsoft.com/office/drawing/2014/main" id="{EDF3B83F-380E-CA22-46AF-AE6DC794FD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B1D42CC-6023-539B-3E1C-4866E62C81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E6BFF1-75E3-3D43-94C4-129BFF8AF248}" type="slidenum">
              <a:rPr lang="en-US" smtClean="0"/>
              <a:t>‹#›</a:t>
            </a:fld>
            <a:endParaRPr lang="en-US"/>
          </a:p>
        </p:txBody>
      </p:sp>
    </p:spTree>
    <p:extLst>
      <p:ext uri="{BB962C8B-B14F-4D97-AF65-F5344CB8AC3E}">
        <p14:creationId xmlns:p14="http://schemas.microsoft.com/office/powerpoint/2010/main" val="1240892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2.emf"/><Relationship Id="rId9"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FDEFE-3BD7-6534-F0FE-3E6113B81D72}"/>
              </a:ext>
            </a:extLst>
          </p:cNvPr>
          <p:cNvSpPr>
            <a:spLocks noGrp="1"/>
          </p:cNvSpPr>
          <p:nvPr>
            <p:ph type="ctrTitle"/>
          </p:nvPr>
        </p:nvSpPr>
        <p:spPr>
          <a:xfrm>
            <a:off x="723796" y="2189079"/>
            <a:ext cx="9144000" cy="2030550"/>
          </a:xfrm>
          <a:ln>
            <a:noFill/>
          </a:ln>
        </p:spPr>
        <p:txBody>
          <a:bodyPr>
            <a:normAutofit/>
          </a:bodyPr>
          <a:lstStyle/>
          <a:p>
            <a:pPr algn="l"/>
            <a:r>
              <a:rPr lang="en-US" sz="3800" b="1" dirty="0">
                <a:solidFill>
                  <a:srgbClr val="423300"/>
                </a:solidFill>
                <a:latin typeface="Poppins" pitchFamily="2" charset="77"/>
                <a:cs typeface="Poppins" pitchFamily="2" charset="77"/>
              </a:rPr>
              <a:t>Working With</a:t>
            </a:r>
            <a:br>
              <a:rPr lang="en-US" sz="3800" b="1" dirty="0">
                <a:solidFill>
                  <a:srgbClr val="423300"/>
                </a:solidFill>
                <a:latin typeface="Poppins" pitchFamily="2" charset="77"/>
                <a:cs typeface="Poppins" pitchFamily="2" charset="77"/>
              </a:rPr>
            </a:br>
            <a:r>
              <a:rPr lang="en-US" sz="3800" b="1" dirty="0">
                <a:solidFill>
                  <a:schemeClr val="accent2">
                    <a:lumMod val="75000"/>
                  </a:schemeClr>
                </a:solidFill>
                <a:latin typeface="Poppins" pitchFamily="2" charset="77"/>
                <a:cs typeface="Poppins" pitchFamily="2" charset="77"/>
              </a:rPr>
              <a:t>Schema and Model</a:t>
            </a:r>
          </a:p>
        </p:txBody>
      </p:sp>
      <p:sp>
        <p:nvSpPr>
          <p:cNvPr id="5" name="4-point Star 4">
            <a:extLst>
              <a:ext uri="{FF2B5EF4-FFF2-40B4-BE49-F238E27FC236}">
                <a16:creationId xmlns:a16="http://schemas.microsoft.com/office/drawing/2014/main" id="{72042A47-18F1-19EA-DA4D-4B338208F7AB}"/>
              </a:ext>
            </a:extLst>
          </p:cNvPr>
          <p:cNvSpPr/>
          <p:nvPr/>
        </p:nvSpPr>
        <p:spPr>
          <a:xfrm rot="2055929">
            <a:off x="2050484" y="517788"/>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4-point Star 5">
            <a:extLst>
              <a:ext uri="{FF2B5EF4-FFF2-40B4-BE49-F238E27FC236}">
                <a16:creationId xmlns:a16="http://schemas.microsoft.com/office/drawing/2014/main" id="{567DD399-6D96-8282-2AF3-7548B8B8E838}"/>
              </a:ext>
            </a:extLst>
          </p:cNvPr>
          <p:cNvSpPr/>
          <p:nvPr/>
        </p:nvSpPr>
        <p:spPr>
          <a:xfrm rot="787370">
            <a:off x="6810715" y="5903344"/>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4-point Star 6">
            <a:extLst>
              <a:ext uri="{FF2B5EF4-FFF2-40B4-BE49-F238E27FC236}">
                <a16:creationId xmlns:a16="http://schemas.microsoft.com/office/drawing/2014/main" id="{0BFD952C-DB3A-88EE-1426-2396912F87A0}"/>
              </a:ext>
            </a:extLst>
          </p:cNvPr>
          <p:cNvSpPr/>
          <p:nvPr/>
        </p:nvSpPr>
        <p:spPr>
          <a:xfrm rot="20264836">
            <a:off x="675273" y="5875098"/>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F8D7621-FC0B-5370-77AC-A12637AA9E62}"/>
              </a:ext>
            </a:extLst>
          </p:cNvPr>
          <p:cNvPicPr>
            <a:picLocks noChangeAspect="1"/>
          </p:cNvPicPr>
          <p:nvPr/>
        </p:nvPicPr>
        <p:blipFill>
          <a:blip r:embed="rId3"/>
          <a:stretch>
            <a:fillRect/>
          </a:stretch>
        </p:blipFill>
        <p:spPr>
          <a:xfrm>
            <a:off x="11167313" y="6029624"/>
            <a:ext cx="618386" cy="501804"/>
          </a:xfrm>
          <a:prstGeom prst="rect">
            <a:avLst/>
          </a:prstGeom>
        </p:spPr>
      </p:pic>
      <p:sp>
        <p:nvSpPr>
          <p:cNvPr id="9" name="Title 1">
            <a:extLst>
              <a:ext uri="{FF2B5EF4-FFF2-40B4-BE49-F238E27FC236}">
                <a16:creationId xmlns:a16="http://schemas.microsoft.com/office/drawing/2014/main" id="{C0976C4D-1AC5-50E3-8628-B479D40EB899}"/>
              </a:ext>
            </a:extLst>
          </p:cNvPr>
          <p:cNvSpPr txBox="1">
            <a:spLocks/>
          </p:cNvSpPr>
          <p:nvPr/>
        </p:nvSpPr>
        <p:spPr>
          <a:xfrm>
            <a:off x="723796" y="4219629"/>
            <a:ext cx="9144000" cy="391925"/>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700" dirty="0">
                <a:solidFill>
                  <a:srgbClr val="745A00"/>
                </a:solidFill>
                <a:latin typeface="Arial" panose="020B0604020202020204" pitchFamily="34" charset="0"/>
                <a:cs typeface="Arial" panose="020B0604020202020204" pitchFamily="34" charset="0"/>
              </a:rPr>
              <a:t>Full-Stack Web Development Bootcamp</a:t>
            </a:r>
          </a:p>
        </p:txBody>
      </p:sp>
      <p:pic>
        <p:nvPicPr>
          <p:cNvPr id="8" name="Graphic 7">
            <a:extLst>
              <a:ext uri="{FF2B5EF4-FFF2-40B4-BE49-F238E27FC236}">
                <a16:creationId xmlns:a16="http://schemas.microsoft.com/office/drawing/2014/main" id="{D8468213-F66A-0661-AF69-9D384537A4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5081" y="2050247"/>
            <a:ext cx="2859232" cy="720000"/>
          </a:xfrm>
          <a:prstGeom prst="rect">
            <a:avLst/>
          </a:prstGeom>
        </p:spPr>
      </p:pic>
    </p:spTree>
    <p:extLst>
      <p:ext uri="{BB962C8B-B14F-4D97-AF65-F5344CB8AC3E}">
        <p14:creationId xmlns:p14="http://schemas.microsoft.com/office/powerpoint/2010/main" val="38265223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1DE94F7-45A3-B780-1611-0989E2B6055A}"/>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5752B060-A796-CC02-A49A-46E15B9DB8A0}"/>
              </a:ext>
            </a:extLst>
          </p:cNvPr>
          <p:cNvSpPr/>
          <p:nvPr/>
        </p:nvSpPr>
        <p:spPr>
          <a:xfrm rot="2055929">
            <a:off x="619117" y="6250266"/>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CB53628D-1E36-4B87-73AC-7F4503E2FE32}"/>
              </a:ext>
            </a:extLst>
          </p:cNvPr>
          <p:cNvSpPr/>
          <p:nvPr/>
        </p:nvSpPr>
        <p:spPr>
          <a:xfrm rot="787370">
            <a:off x="11032449" y="272472"/>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138B1A9C-AA7D-DC51-EADD-1D9AE4C56F1F}"/>
              </a:ext>
            </a:extLst>
          </p:cNvPr>
          <p:cNvSpPr/>
          <p:nvPr/>
        </p:nvSpPr>
        <p:spPr>
          <a:xfrm rot="20264836">
            <a:off x="10475940" y="6321962"/>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17F2325D-9631-2624-B351-7C2D71A0D555}"/>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AF67CF8D-E1A7-9AE7-51FF-764F6F19DE20}"/>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What is a </a:t>
            </a:r>
            <a:r>
              <a:rPr lang="en-US" sz="3600" b="1" dirty="0">
                <a:solidFill>
                  <a:schemeClr val="accent2">
                    <a:lumMod val="75000"/>
                  </a:schemeClr>
                </a:solidFill>
                <a:latin typeface="Poppins" pitchFamily="2" charset="77"/>
                <a:cs typeface="Poppins" pitchFamily="2" charset="77"/>
              </a:rPr>
              <a:t>Schema</a:t>
            </a:r>
          </a:p>
        </p:txBody>
      </p:sp>
      <p:sp>
        <p:nvSpPr>
          <p:cNvPr id="14" name="TextBox 13">
            <a:extLst>
              <a:ext uri="{FF2B5EF4-FFF2-40B4-BE49-F238E27FC236}">
                <a16:creationId xmlns:a16="http://schemas.microsoft.com/office/drawing/2014/main" id="{20A0CC64-7B5D-982B-D79E-32A116D8D6FC}"/>
              </a:ext>
            </a:extLst>
          </p:cNvPr>
          <p:cNvSpPr txBox="1"/>
          <p:nvPr/>
        </p:nvSpPr>
        <p:spPr>
          <a:xfrm>
            <a:off x="7466983" y="2548117"/>
            <a:ext cx="4155148" cy="2327560"/>
          </a:xfrm>
          <a:prstGeom prst="rect">
            <a:avLst/>
          </a:prstGeom>
          <a:noFill/>
        </p:spPr>
        <p:txBody>
          <a:bodyPr wrap="square" rtlCol="0">
            <a:spAutoFit/>
          </a:bodyPr>
          <a:lstStyle/>
          <a:p>
            <a:pPr marR="0" lvl="0" defTabSz="914400" rtl="0" eaLnBrk="1" fontAlgn="auto" latinLnBrk="0" hangingPunct="1">
              <a:lnSpc>
                <a:spcPct val="150000"/>
              </a:lnSpc>
              <a:spcBef>
                <a:spcPts val="0"/>
              </a:spcBef>
              <a:spcAft>
                <a:spcPts val="0"/>
              </a:spcAft>
              <a:buClrTx/>
              <a:buSzTx/>
              <a:tabLst/>
              <a:defRPr/>
            </a:pPr>
            <a:r>
              <a:rPr lang="en-US" sz="1400" dirty="0">
                <a:solidFill>
                  <a:srgbClr val="745A00"/>
                </a:solidFill>
                <a:latin typeface="Poppins" pitchFamily="2" charset="77"/>
                <a:cs typeface="Poppins" pitchFamily="2" charset="77"/>
              </a:rPr>
              <a:t>A Mongoose schema defines the structure of documents within a MongoDB collection, specifying the types of data, validation rules, and default values. It serves as a blueprint for how data is organized and managed in the database, allowing developers to enforce data integrity and behaviors.</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15" name="TextBox 14">
            <a:extLst>
              <a:ext uri="{FF2B5EF4-FFF2-40B4-BE49-F238E27FC236}">
                <a16:creationId xmlns:a16="http://schemas.microsoft.com/office/drawing/2014/main" id="{2D4BF7CC-874B-86C5-2925-714341DA4647}"/>
              </a:ext>
            </a:extLst>
          </p:cNvPr>
          <p:cNvSpPr txBox="1"/>
          <p:nvPr/>
        </p:nvSpPr>
        <p:spPr>
          <a:xfrm>
            <a:off x="7466983" y="2159550"/>
            <a:ext cx="3314608" cy="388568"/>
          </a:xfrm>
          <a:prstGeom prst="rect">
            <a:avLst/>
          </a:prstGeom>
          <a:noFill/>
        </p:spPr>
        <p:txBody>
          <a:bodyPr wrap="square" rtlCol="0">
            <a:spAutoFit/>
          </a:bodyPr>
          <a:lstStyle/>
          <a:p>
            <a:pPr marR="0" lvl="0" defTabSz="914400" rtl="0" eaLnBrk="1" fontAlgn="auto" latinLnBrk="0" hangingPunct="1">
              <a:lnSpc>
                <a:spcPct val="150000"/>
              </a:lnSpc>
              <a:spcBef>
                <a:spcPts val="0"/>
              </a:spcBef>
              <a:spcAft>
                <a:spcPts val="0"/>
              </a:spcAft>
              <a:buClrTx/>
              <a:buSzTx/>
              <a:tabLst/>
              <a:defRPr/>
            </a:pPr>
            <a:r>
              <a:rPr lang="en-US" sz="1400" b="1" i="0" dirty="0">
                <a:solidFill>
                  <a:srgbClr val="423300"/>
                </a:solidFill>
                <a:latin typeface="Poppins Medium" pitchFamily="2" charset="77"/>
                <a:ea typeface="+mn-ea"/>
                <a:cs typeface="Poppins Medium" pitchFamily="2" charset="77"/>
              </a:rPr>
              <a:t>Schema</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pic>
        <p:nvPicPr>
          <p:cNvPr id="9" name="Picture 8">
            <a:extLst>
              <a:ext uri="{FF2B5EF4-FFF2-40B4-BE49-F238E27FC236}">
                <a16:creationId xmlns:a16="http://schemas.microsoft.com/office/drawing/2014/main" id="{CBB7809E-E215-4E50-2848-57D5820E9B4C}"/>
              </a:ext>
            </a:extLst>
          </p:cNvPr>
          <p:cNvPicPr>
            <a:picLocks noChangeAspect="1"/>
          </p:cNvPicPr>
          <p:nvPr/>
        </p:nvPicPr>
        <p:blipFill>
          <a:blip r:embed="rId5"/>
          <a:stretch>
            <a:fillRect/>
          </a:stretch>
        </p:blipFill>
        <p:spPr>
          <a:xfrm>
            <a:off x="680247" y="1118284"/>
            <a:ext cx="6401015" cy="4950919"/>
          </a:xfrm>
          <a:prstGeom prst="rect">
            <a:avLst/>
          </a:prstGeom>
        </p:spPr>
      </p:pic>
    </p:spTree>
    <p:extLst>
      <p:ext uri="{BB962C8B-B14F-4D97-AF65-F5344CB8AC3E}">
        <p14:creationId xmlns:p14="http://schemas.microsoft.com/office/powerpoint/2010/main" val="223999309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2F0A4AE-07E2-E9EA-B1F1-87512E1790CD}"/>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59CF2F6E-6B8A-ECFA-01B9-C72DEC813369}"/>
              </a:ext>
            </a:extLst>
          </p:cNvPr>
          <p:cNvSpPr/>
          <p:nvPr/>
        </p:nvSpPr>
        <p:spPr>
          <a:xfrm rot="2055929">
            <a:off x="291252" y="1182103"/>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63805478-9EA5-5565-5488-1A24AF7C6CB8}"/>
              </a:ext>
            </a:extLst>
          </p:cNvPr>
          <p:cNvSpPr/>
          <p:nvPr/>
        </p:nvSpPr>
        <p:spPr>
          <a:xfrm rot="787370">
            <a:off x="8901897" y="6063869"/>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E2E9E137-A750-2FDB-0E5F-58244C16D098}"/>
              </a:ext>
            </a:extLst>
          </p:cNvPr>
          <p:cNvSpPr/>
          <p:nvPr/>
        </p:nvSpPr>
        <p:spPr>
          <a:xfrm rot="20264836">
            <a:off x="2154900" y="6071060"/>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0F5BD2CD-21CE-583F-6A6D-779F10AE5A8E}"/>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8BA739F3-FD92-3E3A-EFC6-32C9B135545B}"/>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What is a </a:t>
            </a:r>
            <a:r>
              <a:rPr lang="en-US" sz="3600" b="1" dirty="0">
                <a:solidFill>
                  <a:schemeClr val="accent2">
                    <a:lumMod val="75000"/>
                  </a:schemeClr>
                </a:solidFill>
                <a:latin typeface="Poppins" pitchFamily="2" charset="77"/>
                <a:cs typeface="Poppins" pitchFamily="2" charset="77"/>
              </a:rPr>
              <a:t>Model</a:t>
            </a:r>
          </a:p>
        </p:txBody>
      </p:sp>
      <p:sp>
        <p:nvSpPr>
          <p:cNvPr id="14" name="TextBox 13">
            <a:extLst>
              <a:ext uri="{FF2B5EF4-FFF2-40B4-BE49-F238E27FC236}">
                <a16:creationId xmlns:a16="http://schemas.microsoft.com/office/drawing/2014/main" id="{1F6E093B-2C32-2515-8E18-6DB682CB2726}"/>
              </a:ext>
            </a:extLst>
          </p:cNvPr>
          <p:cNvSpPr txBox="1"/>
          <p:nvPr/>
        </p:nvSpPr>
        <p:spPr>
          <a:xfrm>
            <a:off x="6315182" y="2224948"/>
            <a:ext cx="5306949" cy="2327560"/>
          </a:xfrm>
          <a:prstGeom prst="rect">
            <a:avLst/>
          </a:prstGeom>
          <a:noFill/>
        </p:spPr>
        <p:txBody>
          <a:bodyPr wrap="square" rtlCol="0">
            <a:spAutoFit/>
          </a:bodyPr>
          <a:lstStyle/>
          <a:p>
            <a:pPr marR="0" lvl="0" defTabSz="914400" rtl="0" eaLnBrk="1" fontAlgn="auto" latinLnBrk="0" hangingPunct="1">
              <a:lnSpc>
                <a:spcPct val="150000"/>
              </a:lnSpc>
              <a:spcBef>
                <a:spcPts val="0"/>
              </a:spcBef>
              <a:spcAft>
                <a:spcPts val="0"/>
              </a:spcAft>
              <a:buClrTx/>
              <a:buSzTx/>
              <a:tabLst/>
              <a:defRPr/>
            </a:pPr>
            <a:r>
              <a:rPr lang="en-US" sz="1400" dirty="0">
                <a:solidFill>
                  <a:srgbClr val="745A00"/>
                </a:solidFill>
                <a:latin typeface="Poppins" pitchFamily="2" charset="77"/>
                <a:cs typeface="Poppins" pitchFamily="2" charset="77"/>
              </a:rPr>
              <a:t>A Mongoose model is a constructor compiled from a Schema definition. It provides an interface to the database for creating, querying, updating, and deleting records. Essentially, models are responsible for reading and writing data to the underlying MongoDB database, and they represent documents as instances of the model that can be manipulated with JavaScript.</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15" name="TextBox 14">
            <a:extLst>
              <a:ext uri="{FF2B5EF4-FFF2-40B4-BE49-F238E27FC236}">
                <a16:creationId xmlns:a16="http://schemas.microsoft.com/office/drawing/2014/main" id="{8BD3697D-52E6-6D0F-207B-F9A1B8FCFC46}"/>
              </a:ext>
            </a:extLst>
          </p:cNvPr>
          <p:cNvSpPr txBox="1"/>
          <p:nvPr/>
        </p:nvSpPr>
        <p:spPr>
          <a:xfrm>
            <a:off x="6315182" y="1836381"/>
            <a:ext cx="4233413" cy="388568"/>
          </a:xfrm>
          <a:prstGeom prst="rect">
            <a:avLst/>
          </a:prstGeom>
          <a:noFill/>
        </p:spPr>
        <p:txBody>
          <a:bodyPr wrap="square" rtlCol="0">
            <a:spAutoFit/>
          </a:bodyPr>
          <a:lstStyle/>
          <a:p>
            <a:pPr marR="0" lvl="0" defTabSz="914400" rtl="0" eaLnBrk="1" fontAlgn="auto" latinLnBrk="0" hangingPunct="1">
              <a:lnSpc>
                <a:spcPct val="150000"/>
              </a:lnSpc>
              <a:spcBef>
                <a:spcPts val="0"/>
              </a:spcBef>
              <a:spcAft>
                <a:spcPts val="0"/>
              </a:spcAft>
              <a:buClrTx/>
              <a:buSzTx/>
              <a:tabLst/>
              <a:defRPr/>
            </a:pPr>
            <a:r>
              <a:rPr lang="en-US" sz="1400" b="1" i="0" dirty="0">
                <a:solidFill>
                  <a:srgbClr val="423300"/>
                </a:solidFill>
                <a:latin typeface="Poppins Medium" pitchFamily="2" charset="77"/>
                <a:ea typeface="+mn-ea"/>
                <a:cs typeface="Poppins Medium" pitchFamily="2" charset="77"/>
              </a:rPr>
              <a:t>Model</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pic>
        <p:nvPicPr>
          <p:cNvPr id="4" name="Picture 3">
            <a:extLst>
              <a:ext uri="{FF2B5EF4-FFF2-40B4-BE49-F238E27FC236}">
                <a16:creationId xmlns:a16="http://schemas.microsoft.com/office/drawing/2014/main" id="{23BE012F-352D-F777-319D-407CD68914D7}"/>
              </a:ext>
            </a:extLst>
          </p:cNvPr>
          <p:cNvPicPr>
            <a:picLocks noChangeAspect="1"/>
          </p:cNvPicPr>
          <p:nvPr/>
        </p:nvPicPr>
        <p:blipFill>
          <a:blip r:embed="rId5"/>
          <a:stretch>
            <a:fillRect/>
          </a:stretch>
        </p:blipFill>
        <p:spPr>
          <a:xfrm>
            <a:off x="356616" y="2224949"/>
            <a:ext cx="5520204" cy="2191603"/>
          </a:xfrm>
          <a:prstGeom prst="rect">
            <a:avLst/>
          </a:prstGeom>
        </p:spPr>
      </p:pic>
    </p:spTree>
    <p:extLst>
      <p:ext uri="{BB962C8B-B14F-4D97-AF65-F5344CB8AC3E}">
        <p14:creationId xmlns:p14="http://schemas.microsoft.com/office/powerpoint/2010/main" val="139343835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A6EE30E-FAC6-99FD-57B6-6BBA93AF4D2E}"/>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C0F317AD-7A32-E240-F8E1-6933FF4F8573}"/>
              </a:ext>
            </a:extLst>
          </p:cNvPr>
          <p:cNvSpPr/>
          <p:nvPr/>
        </p:nvSpPr>
        <p:spPr>
          <a:xfrm rot="2055929">
            <a:off x="619117" y="6250266"/>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0043B955-3FE1-597D-22A5-84A9FBDAE0E7}"/>
              </a:ext>
            </a:extLst>
          </p:cNvPr>
          <p:cNvSpPr/>
          <p:nvPr/>
        </p:nvSpPr>
        <p:spPr>
          <a:xfrm rot="787370">
            <a:off x="11032449" y="272472"/>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E88B177A-06D4-D00A-8F18-7F77433478F9}"/>
              </a:ext>
            </a:extLst>
          </p:cNvPr>
          <p:cNvSpPr/>
          <p:nvPr/>
        </p:nvSpPr>
        <p:spPr>
          <a:xfrm rot="20264836">
            <a:off x="10475940" y="6321962"/>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48A438BF-2CDF-96BC-8FDD-9738D13D0F83}"/>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2030C777-AF3A-DC1C-FABB-3660A1183F71}"/>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Using The </a:t>
            </a:r>
            <a:r>
              <a:rPr lang="en-US" sz="3600" b="1" dirty="0">
                <a:solidFill>
                  <a:schemeClr val="accent2">
                    <a:lumMod val="75000"/>
                  </a:schemeClr>
                </a:solidFill>
                <a:latin typeface="Poppins" pitchFamily="2" charset="77"/>
                <a:cs typeface="Poppins" pitchFamily="2" charset="77"/>
              </a:rPr>
              <a:t>Model</a:t>
            </a:r>
          </a:p>
        </p:txBody>
      </p:sp>
      <p:sp>
        <p:nvSpPr>
          <p:cNvPr id="14" name="TextBox 13">
            <a:extLst>
              <a:ext uri="{FF2B5EF4-FFF2-40B4-BE49-F238E27FC236}">
                <a16:creationId xmlns:a16="http://schemas.microsoft.com/office/drawing/2014/main" id="{9D29426E-3D75-0B32-5CE3-F1862786A21F}"/>
              </a:ext>
            </a:extLst>
          </p:cNvPr>
          <p:cNvSpPr txBox="1"/>
          <p:nvPr/>
        </p:nvSpPr>
        <p:spPr>
          <a:xfrm>
            <a:off x="957061" y="5026141"/>
            <a:ext cx="10125574" cy="1358064"/>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lang="en-US" sz="1400" dirty="0">
                <a:solidFill>
                  <a:srgbClr val="745A00"/>
                </a:solidFill>
                <a:latin typeface="Poppins" pitchFamily="2" charset="77"/>
                <a:cs typeface="Poppins" pitchFamily="2" charset="77"/>
              </a:rPr>
              <a:t>A model in Mongoose acts as an interface to the MongoDB database, allowing developers to perform CRUD (Create, Read, Update, Delete) operations on the database. It abstracts the database interaction, provides schema validation, and helps manage data relationships, significantly simplifying database programming tasks.</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15" name="TextBox 14">
            <a:extLst>
              <a:ext uri="{FF2B5EF4-FFF2-40B4-BE49-F238E27FC236}">
                <a16:creationId xmlns:a16="http://schemas.microsoft.com/office/drawing/2014/main" id="{CCF7DB2E-D005-7B26-FD4D-90E0EE61BA7E}"/>
              </a:ext>
            </a:extLst>
          </p:cNvPr>
          <p:cNvSpPr txBox="1"/>
          <p:nvPr/>
        </p:nvSpPr>
        <p:spPr>
          <a:xfrm>
            <a:off x="2164811" y="4637574"/>
            <a:ext cx="8077284" cy="38856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lang="en-US" sz="1400" b="1" i="0" dirty="0">
                <a:solidFill>
                  <a:srgbClr val="423300"/>
                </a:solidFill>
                <a:latin typeface="Poppins Medium" pitchFamily="2" charset="77"/>
                <a:ea typeface="+mn-ea"/>
                <a:cs typeface="Poppins Medium" pitchFamily="2" charset="77"/>
              </a:rPr>
              <a:t>Model for Database Interactions</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pic>
        <p:nvPicPr>
          <p:cNvPr id="4" name="Picture 3">
            <a:extLst>
              <a:ext uri="{FF2B5EF4-FFF2-40B4-BE49-F238E27FC236}">
                <a16:creationId xmlns:a16="http://schemas.microsoft.com/office/drawing/2014/main" id="{EE768147-9338-BCFB-40E4-F48664FD3175}"/>
              </a:ext>
            </a:extLst>
          </p:cNvPr>
          <p:cNvPicPr>
            <a:picLocks noChangeAspect="1"/>
          </p:cNvPicPr>
          <p:nvPr/>
        </p:nvPicPr>
        <p:blipFill>
          <a:blip r:embed="rId5"/>
          <a:stretch>
            <a:fillRect/>
          </a:stretch>
        </p:blipFill>
        <p:spPr>
          <a:xfrm>
            <a:off x="2606040" y="1211509"/>
            <a:ext cx="6775704" cy="3024055"/>
          </a:xfrm>
          <a:prstGeom prst="rect">
            <a:avLst/>
          </a:prstGeom>
        </p:spPr>
      </p:pic>
    </p:spTree>
    <p:extLst>
      <p:ext uri="{BB962C8B-B14F-4D97-AF65-F5344CB8AC3E}">
        <p14:creationId xmlns:p14="http://schemas.microsoft.com/office/powerpoint/2010/main" val="20576346"/>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CD97427-4D08-34D6-C22C-610AE4949FC1}"/>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D2EA3530-D9E2-FFFF-DCF7-CA959E8ECB83}"/>
              </a:ext>
            </a:extLst>
          </p:cNvPr>
          <p:cNvSpPr/>
          <p:nvPr/>
        </p:nvSpPr>
        <p:spPr>
          <a:xfrm rot="2055929">
            <a:off x="619117" y="6250266"/>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FC9BA549-0620-857B-F53B-0E10981DC9B5}"/>
              </a:ext>
            </a:extLst>
          </p:cNvPr>
          <p:cNvSpPr/>
          <p:nvPr/>
        </p:nvSpPr>
        <p:spPr>
          <a:xfrm rot="787370">
            <a:off x="11032449" y="272472"/>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56483835-F89D-FD02-4C09-DE0D85A43401}"/>
              </a:ext>
            </a:extLst>
          </p:cNvPr>
          <p:cNvSpPr/>
          <p:nvPr/>
        </p:nvSpPr>
        <p:spPr>
          <a:xfrm rot="20264836">
            <a:off x="11241661" y="4635490"/>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9450382E-9CE1-6E48-2B26-28769617BA58}"/>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1EBF03FC-9599-EA03-34E3-F7F08B4528CB}"/>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Only Model </a:t>
            </a:r>
            <a:r>
              <a:rPr lang="en-US" sz="3600" b="1" dirty="0">
                <a:solidFill>
                  <a:schemeClr val="accent2">
                    <a:lumMod val="75000"/>
                  </a:schemeClr>
                </a:solidFill>
                <a:latin typeface="Poppins" pitchFamily="2" charset="77"/>
                <a:cs typeface="Poppins" pitchFamily="2" charset="77"/>
              </a:rPr>
              <a:t>Interacts With Database</a:t>
            </a:r>
          </a:p>
        </p:txBody>
      </p:sp>
      <p:pic>
        <p:nvPicPr>
          <p:cNvPr id="2" name="Picture 1">
            <a:extLst>
              <a:ext uri="{FF2B5EF4-FFF2-40B4-BE49-F238E27FC236}">
                <a16:creationId xmlns:a16="http://schemas.microsoft.com/office/drawing/2014/main" id="{7A43AA2D-01D6-AAF3-FC6D-7F0C6B182A0B}"/>
              </a:ext>
            </a:extLst>
          </p:cNvPr>
          <p:cNvPicPr>
            <a:picLocks noChangeAspect="1"/>
          </p:cNvPicPr>
          <p:nvPr/>
        </p:nvPicPr>
        <p:blipFill>
          <a:blip r:embed="rId5"/>
          <a:stretch>
            <a:fillRect/>
          </a:stretch>
        </p:blipFill>
        <p:spPr>
          <a:xfrm>
            <a:off x="805353" y="3332736"/>
            <a:ext cx="720000" cy="720000"/>
          </a:xfrm>
          <a:prstGeom prst="rect">
            <a:avLst/>
          </a:prstGeom>
        </p:spPr>
      </p:pic>
      <p:cxnSp>
        <p:nvCxnSpPr>
          <p:cNvPr id="4" name="Straight Arrow Connector 3">
            <a:extLst>
              <a:ext uri="{FF2B5EF4-FFF2-40B4-BE49-F238E27FC236}">
                <a16:creationId xmlns:a16="http://schemas.microsoft.com/office/drawing/2014/main" id="{325F5B0D-2D9F-7255-B1B2-979F5E08DC0D}"/>
              </a:ext>
            </a:extLst>
          </p:cNvPr>
          <p:cNvCxnSpPr>
            <a:cxnSpLocks/>
          </p:cNvCxnSpPr>
          <p:nvPr/>
        </p:nvCxnSpPr>
        <p:spPr>
          <a:xfrm>
            <a:off x="1868354" y="3276562"/>
            <a:ext cx="1644557" cy="0"/>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D9ED0C4-1B66-DB90-F84B-5C36853743D1}"/>
              </a:ext>
            </a:extLst>
          </p:cNvPr>
          <p:cNvCxnSpPr>
            <a:cxnSpLocks/>
          </p:cNvCxnSpPr>
          <p:nvPr/>
        </p:nvCxnSpPr>
        <p:spPr>
          <a:xfrm flipH="1">
            <a:off x="1868354" y="4158354"/>
            <a:ext cx="5412838" cy="0"/>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FEFE29E7-96A5-A3A6-776E-749947914779}"/>
              </a:ext>
            </a:extLst>
          </p:cNvPr>
          <p:cNvPicPr>
            <a:picLocks noChangeAspect="1"/>
          </p:cNvPicPr>
          <p:nvPr/>
        </p:nvPicPr>
        <p:blipFill>
          <a:blip r:embed="rId6"/>
          <a:stretch>
            <a:fillRect/>
          </a:stretch>
        </p:blipFill>
        <p:spPr>
          <a:xfrm>
            <a:off x="3756709" y="2915122"/>
            <a:ext cx="540000" cy="540000"/>
          </a:xfrm>
          <a:prstGeom prst="rect">
            <a:avLst/>
          </a:prstGeom>
        </p:spPr>
      </p:pic>
      <p:sp>
        <p:nvSpPr>
          <p:cNvPr id="12" name="TextBox 11">
            <a:extLst>
              <a:ext uri="{FF2B5EF4-FFF2-40B4-BE49-F238E27FC236}">
                <a16:creationId xmlns:a16="http://schemas.microsoft.com/office/drawing/2014/main" id="{14BE4217-596F-1941-8056-FA37753D6A00}"/>
              </a:ext>
            </a:extLst>
          </p:cNvPr>
          <p:cNvSpPr txBox="1"/>
          <p:nvPr/>
        </p:nvSpPr>
        <p:spPr>
          <a:xfrm>
            <a:off x="3153275" y="3426324"/>
            <a:ext cx="1707006" cy="346249"/>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lang="en-US" sz="1200" b="1" i="0" dirty="0" err="1">
                <a:solidFill>
                  <a:srgbClr val="423300"/>
                </a:solidFill>
                <a:latin typeface="Poppins Medium" pitchFamily="2" charset="77"/>
                <a:ea typeface="+mn-ea"/>
                <a:cs typeface="Poppins Medium" pitchFamily="2" charset="77"/>
              </a:rPr>
              <a:t>usersRouter</a:t>
            </a:r>
            <a:endParaRPr kumimoji="0" lang="en-US" sz="12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cxnSp>
        <p:nvCxnSpPr>
          <p:cNvPr id="13" name="Straight Arrow Connector 12">
            <a:extLst>
              <a:ext uri="{FF2B5EF4-FFF2-40B4-BE49-F238E27FC236}">
                <a16:creationId xmlns:a16="http://schemas.microsoft.com/office/drawing/2014/main" id="{9B7C4C6C-EAD9-ADB1-E9DE-B686C15927B4}"/>
              </a:ext>
            </a:extLst>
          </p:cNvPr>
          <p:cNvCxnSpPr>
            <a:cxnSpLocks/>
            <a:endCxn id="16" idx="1"/>
          </p:cNvCxnSpPr>
          <p:nvPr/>
        </p:nvCxnSpPr>
        <p:spPr>
          <a:xfrm flipV="1">
            <a:off x="4371504" y="2246200"/>
            <a:ext cx="2909688" cy="1030362"/>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FA927EDE-82F8-C82F-39D7-28DC65725B80}"/>
              </a:ext>
            </a:extLst>
          </p:cNvPr>
          <p:cNvPicPr>
            <a:picLocks noChangeAspect="1"/>
          </p:cNvPicPr>
          <p:nvPr/>
        </p:nvPicPr>
        <p:blipFill>
          <a:blip r:embed="rId7"/>
          <a:stretch>
            <a:fillRect/>
          </a:stretch>
        </p:blipFill>
        <p:spPr>
          <a:xfrm>
            <a:off x="7281192" y="1886200"/>
            <a:ext cx="720000" cy="720000"/>
          </a:xfrm>
          <a:prstGeom prst="rect">
            <a:avLst/>
          </a:prstGeom>
        </p:spPr>
      </p:pic>
      <p:sp>
        <p:nvSpPr>
          <p:cNvPr id="17" name="TextBox 16">
            <a:extLst>
              <a:ext uri="{FF2B5EF4-FFF2-40B4-BE49-F238E27FC236}">
                <a16:creationId xmlns:a16="http://schemas.microsoft.com/office/drawing/2014/main" id="{D8E63343-4E53-110E-5F1D-6F0189308C71}"/>
              </a:ext>
            </a:extLst>
          </p:cNvPr>
          <p:cNvSpPr txBox="1"/>
          <p:nvPr/>
        </p:nvSpPr>
        <p:spPr>
          <a:xfrm>
            <a:off x="6787734" y="2717392"/>
            <a:ext cx="1707006" cy="346249"/>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200" u="none" strike="noStrike" kern="1200" cap="none" spc="0" normalizeH="0" baseline="0" noProof="0" dirty="0" err="1">
                <a:ln>
                  <a:noFill/>
                </a:ln>
                <a:solidFill>
                  <a:srgbClr val="423300"/>
                </a:solidFill>
                <a:effectLst/>
                <a:uLnTx/>
                <a:uFillTx/>
                <a:latin typeface="Poppins Medium" pitchFamily="2" charset="77"/>
                <a:cs typeface="Poppins Medium" pitchFamily="2" charset="77"/>
              </a:rPr>
              <a:t>tasksController</a:t>
            </a:r>
            <a:endParaRPr kumimoji="0" lang="en-US" sz="12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pic>
        <p:nvPicPr>
          <p:cNvPr id="18" name="Picture 17">
            <a:extLst>
              <a:ext uri="{FF2B5EF4-FFF2-40B4-BE49-F238E27FC236}">
                <a16:creationId xmlns:a16="http://schemas.microsoft.com/office/drawing/2014/main" id="{CB396D22-6860-0C1F-A7E5-FB0C8DA0CE74}"/>
              </a:ext>
            </a:extLst>
          </p:cNvPr>
          <p:cNvPicPr>
            <a:picLocks noChangeAspect="1"/>
          </p:cNvPicPr>
          <p:nvPr/>
        </p:nvPicPr>
        <p:blipFill>
          <a:blip r:embed="rId7"/>
          <a:stretch>
            <a:fillRect/>
          </a:stretch>
        </p:blipFill>
        <p:spPr>
          <a:xfrm>
            <a:off x="7281192" y="3550408"/>
            <a:ext cx="720000" cy="720000"/>
          </a:xfrm>
          <a:prstGeom prst="rect">
            <a:avLst/>
          </a:prstGeom>
        </p:spPr>
      </p:pic>
      <p:sp>
        <p:nvSpPr>
          <p:cNvPr id="19" name="TextBox 18">
            <a:extLst>
              <a:ext uri="{FF2B5EF4-FFF2-40B4-BE49-F238E27FC236}">
                <a16:creationId xmlns:a16="http://schemas.microsoft.com/office/drawing/2014/main" id="{F2CB10B3-34BE-31B8-95CA-27770E5D9ED9}"/>
              </a:ext>
            </a:extLst>
          </p:cNvPr>
          <p:cNvSpPr txBox="1"/>
          <p:nvPr/>
        </p:nvSpPr>
        <p:spPr>
          <a:xfrm>
            <a:off x="6787734" y="4381600"/>
            <a:ext cx="1707006" cy="346249"/>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200" u="none" strike="noStrike" kern="1200" cap="none" spc="0" normalizeH="0" baseline="0" noProof="0" dirty="0" err="1">
                <a:ln>
                  <a:noFill/>
                </a:ln>
                <a:solidFill>
                  <a:srgbClr val="423300"/>
                </a:solidFill>
                <a:effectLst/>
                <a:uLnTx/>
                <a:uFillTx/>
                <a:latin typeface="Poppins Medium" pitchFamily="2" charset="77"/>
                <a:cs typeface="Poppins Medium" pitchFamily="2" charset="77"/>
              </a:rPr>
              <a:t>usersController</a:t>
            </a:r>
            <a:endParaRPr kumimoji="0" lang="en-US" sz="12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cxnSp>
        <p:nvCxnSpPr>
          <p:cNvPr id="20" name="Straight Arrow Connector 19">
            <a:extLst>
              <a:ext uri="{FF2B5EF4-FFF2-40B4-BE49-F238E27FC236}">
                <a16:creationId xmlns:a16="http://schemas.microsoft.com/office/drawing/2014/main" id="{F2EE67BF-B6A2-E5DB-B513-60758E5F34A3}"/>
              </a:ext>
            </a:extLst>
          </p:cNvPr>
          <p:cNvCxnSpPr>
            <a:cxnSpLocks/>
            <a:endCxn id="18" idx="1"/>
          </p:cNvCxnSpPr>
          <p:nvPr/>
        </p:nvCxnSpPr>
        <p:spPr>
          <a:xfrm>
            <a:off x="4371504" y="3287431"/>
            <a:ext cx="2909688" cy="622977"/>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8D406D41-BF11-F7C6-0696-B818807C2B0A}"/>
              </a:ext>
            </a:extLst>
          </p:cNvPr>
          <p:cNvSpPr txBox="1"/>
          <p:nvPr/>
        </p:nvSpPr>
        <p:spPr>
          <a:xfrm>
            <a:off x="1761611" y="2890516"/>
            <a:ext cx="856901" cy="276999"/>
          </a:xfrm>
          <a:prstGeom prst="rect">
            <a:avLst/>
          </a:prstGeom>
          <a:noFill/>
        </p:spPr>
        <p:txBody>
          <a:bodyPr wrap="none" rtlCol="0">
            <a:spAutoFit/>
          </a:bodyPr>
          <a:lstStyle/>
          <a:p>
            <a:r>
              <a:rPr lang="en-US" sz="1200" dirty="0">
                <a:solidFill>
                  <a:schemeClr val="accent2">
                    <a:lumMod val="75000"/>
                  </a:schemeClr>
                </a:solidFill>
              </a:rPr>
              <a:t>GET /users</a:t>
            </a:r>
          </a:p>
        </p:txBody>
      </p:sp>
      <p:pic>
        <p:nvPicPr>
          <p:cNvPr id="22" name="Picture 21">
            <a:extLst>
              <a:ext uri="{FF2B5EF4-FFF2-40B4-BE49-F238E27FC236}">
                <a16:creationId xmlns:a16="http://schemas.microsoft.com/office/drawing/2014/main" id="{B23FE177-D97D-F845-0DE3-9A1CBBB43080}"/>
              </a:ext>
            </a:extLst>
          </p:cNvPr>
          <p:cNvPicPr>
            <a:picLocks noChangeAspect="1"/>
          </p:cNvPicPr>
          <p:nvPr/>
        </p:nvPicPr>
        <p:blipFill>
          <a:blip r:embed="rId8"/>
          <a:stretch>
            <a:fillRect/>
          </a:stretch>
        </p:blipFill>
        <p:spPr>
          <a:xfrm>
            <a:off x="5646348" y="2578178"/>
            <a:ext cx="360000" cy="360000"/>
          </a:xfrm>
          <a:prstGeom prst="rect">
            <a:avLst/>
          </a:prstGeom>
        </p:spPr>
      </p:pic>
      <p:pic>
        <p:nvPicPr>
          <p:cNvPr id="28" name="Picture 27">
            <a:extLst>
              <a:ext uri="{FF2B5EF4-FFF2-40B4-BE49-F238E27FC236}">
                <a16:creationId xmlns:a16="http://schemas.microsoft.com/office/drawing/2014/main" id="{5EC61A6E-9EB2-A5FD-14D8-0592D3189BAA}"/>
              </a:ext>
            </a:extLst>
          </p:cNvPr>
          <p:cNvPicPr>
            <a:picLocks noChangeAspect="1"/>
          </p:cNvPicPr>
          <p:nvPr/>
        </p:nvPicPr>
        <p:blipFill>
          <a:blip r:embed="rId9"/>
          <a:stretch>
            <a:fillRect/>
          </a:stretch>
        </p:blipFill>
        <p:spPr>
          <a:xfrm>
            <a:off x="9034184" y="2782575"/>
            <a:ext cx="720000" cy="720000"/>
          </a:xfrm>
          <a:prstGeom prst="rect">
            <a:avLst/>
          </a:prstGeom>
        </p:spPr>
      </p:pic>
      <p:pic>
        <p:nvPicPr>
          <p:cNvPr id="30" name="Picture 29">
            <a:extLst>
              <a:ext uri="{FF2B5EF4-FFF2-40B4-BE49-F238E27FC236}">
                <a16:creationId xmlns:a16="http://schemas.microsoft.com/office/drawing/2014/main" id="{9DF299DD-D609-EBCE-CC07-DB7C80EC5BD8}"/>
              </a:ext>
            </a:extLst>
          </p:cNvPr>
          <p:cNvPicPr>
            <a:picLocks noChangeAspect="1"/>
          </p:cNvPicPr>
          <p:nvPr/>
        </p:nvPicPr>
        <p:blipFill>
          <a:blip r:embed="rId10"/>
          <a:stretch>
            <a:fillRect/>
          </a:stretch>
        </p:blipFill>
        <p:spPr>
          <a:xfrm>
            <a:off x="10610693" y="2778688"/>
            <a:ext cx="720000" cy="720000"/>
          </a:xfrm>
          <a:prstGeom prst="rect">
            <a:avLst/>
          </a:prstGeom>
        </p:spPr>
      </p:pic>
      <p:sp>
        <p:nvSpPr>
          <p:cNvPr id="31" name="TextBox 30">
            <a:extLst>
              <a:ext uri="{FF2B5EF4-FFF2-40B4-BE49-F238E27FC236}">
                <a16:creationId xmlns:a16="http://schemas.microsoft.com/office/drawing/2014/main" id="{C74C9196-6F24-86DD-8F1A-393A61A96859}"/>
              </a:ext>
            </a:extLst>
          </p:cNvPr>
          <p:cNvSpPr txBox="1"/>
          <p:nvPr/>
        </p:nvSpPr>
        <p:spPr>
          <a:xfrm>
            <a:off x="8859298" y="3567784"/>
            <a:ext cx="1111750" cy="62324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200" u="none" strike="noStrike" kern="1200" cap="none" spc="0" normalizeH="0" baseline="0" noProof="0" dirty="0">
                <a:ln>
                  <a:noFill/>
                </a:ln>
                <a:solidFill>
                  <a:srgbClr val="423300"/>
                </a:solidFill>
                <a:effectLst/>
                <a:uLnTx/>
                <a:uFillTx/>
                <a:latin typeface="Poppins Medium" pitchFamily="2" charset="77"/>
                <a:cs typeface="Poppins Medium" pitchFamily="2" charset="77"/>
              </a:rPr>
              <a:t>User (model)</a:t>
            </a:r>
            <a:endParaRPr kumimoji="0" lang="en-US" sz="12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32" name="TextBox 31">
            <a:extLst>
              <a:ext uri="{FF2B5EF4-FFF2-40B4-BE49-F238E27FC236}">
                <a16:creationId xmlns:a16="http://schemas.microsoft.com/office/drawing/2014/main" id="{A607FAD9-D41E-39D4-6524-98B95BB58320}"/>
              </a:ext>
            </a:extLst>
          </p:cNvPr>
          <p:cNvSpPr txBox="1"/>
          <p:nvPr/>
        </p:nvSpPr>
        <p:spPr>
          <a:xfrm>
            <a:off x="10441210" y="3567784"/>
            <a:ext cx="1111750" cy="62324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200" u="none" strike="noStrike" kern="1200" cap="none" spc="0" normalizeH="0" baseline="0" noProof="0" dirty="0">
                <a:ln>
                  <a:noFill/>
                </a:ln>
                <a:solidFill>
                  <a:srgbClr val="423300"/>
                </a:solidFill>
                <a:effectLst/>
                <a:uLnTx/>
                <a:uFillTx/>
                <a:latin typeface="Poppins Medium" pitchFamily="2" charset="77"/>
                <a:cs typeface="Poppins Medium" pitchFamily="2" charset="77"/>
              </a:rPr>
              <a:t>Database</a:t>
            </a:r>
          </a:p>
          <a:p>
            <a:pPr marR="0" lvl="0" algn="ctr" defTabSz="914400" rtl="0" eaLnBrk="1" fontAlgn="auto" latinLnBrk="0" hangingPunct="1">
              <a:lnSpc>
                <a:spcPct val="150000"/>
              </a:lnSpc>
              <a:spcBef>
                <a:spcPts val="0"/>
              </a:spcBef>
              <a:spcAft>
                <a:spcPts val="0"/>
              </a:spcAft>
              <a:buClrTx/>
              <a:buSzTx/>
              <a:tabLst/>
              <a:defRPr/>
            </a:pPr>
            <a:r>
              <a:rPr lang="en-US" sz="1200" dirty="0">
                <a:solidFill>
                  <a:srgbClr val="423300"/>
                </a:solidFill>
                <a:latin typeface="Poppins Medium" pitchFamily="2" charset="77"/>
                <a:cs typeface="Poppins Medium" pitchFamily="2" charset="77"/>
              </a:rPr>
              <a:t>(MongoDB)</a:t>
            </a:r>
            <a:endParaRPr kumimoji="0" lang="en-US" sz="1200" u="none" strike="noStrike" kern="1200" cap="none" spc="0" normalizeH="0" baseline="0" noProof="0" dirty="0">
              <a:ln>
                <a:noFill/>
              </a:ln>
              <a:solidFill>
                <a:srgbClr val="423300"/>
              </a:solidFill>
              <a:effectLst/>
              <a:uLnTx/>
              <a:uFillTx/>
              <a:latin typeface="Poppins Medium" pitchFamily="2" charset="77"/>
              <a:cs typeface="Poppins Medium" pitchFamily="2" charset="77"/>
            </a:endParaRPr>
          </a:p>
        </p:txBody>
      </p:sp>
      <p:cxnSp>
        <p:nvCxnSpPr>
          <p:cNvPr id="33" name="Straight Arrow Connector 32">
            <a:extLst>
              <a:ext uri="{FF2B5EF4-FFF2-40B4-BE49-F238E27FC236}">
                <a16:creationId xmlns:a16="http://schemas.microsoft.com/office/drawing/2014/main" id="{E252DC2C-5F30-C231-B0F6-490318BAB3B8}"/>
              </a:ext>
            </a:extLst>
          </p:cNvPr>
          <p:cNvCxnSpPr>
            <a:cxnSpLocks/>
            <a:stCxn id="18" idx="3"/>
            <a:endCxn id="28" idx="1"/>
          </p:cNvCxnSpPr>
          <p:nvPr/>
        </p:nvCxnSpPr>
        <p:spPr>
          <a:xfrm flipV="1">
            <a:off x="8001192" y="3142575"/>
            <a:ext cx="1032992" cy="767833"/>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840757A2-4825-4175-EE9D-9164CEA9C9F8}"/>
              </a:ext>
            </a:extLst>
          </p:cNvPr>
          <p:cNvCxnSpPr>
            <a:cxnSpLocks/>
            <a:stCxn id="28" idx="3"/>
            <a:endCxn id="30" idx="1"/>
          </p:cNvCxnSpPr>
          <p:nvPr/>
        </p:nvCxnSpPr>
        <p:spPr>
          <a:xfrm flipV="1">
            <a:off x="9754184" y="3138688"/>
            <a:ext cx="856509" cy="3887"/>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3DFAC822-70E7-F7FF-2700-655A8B832CD2}"/>
              </a:ext>
            </a:extLst>
          </p:cNvPr>
          <p:cNvCxnSpPr>
            <a:cxnSpLocks/>
          </p:cNvCxnSpPr>
          <p:nvPr/>
        </p:nvCxnSpPr>
        <p:spPr>
          <a:xfrm flipH="1" flipV="1">
            <a:off x="9673829" y="3326356"/>
            <a:ext cx="936864" cy="6380"/>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53CEA0D3-7188-B492-DA99-03B27925E102}"/>
              </a:ext>
            </a:extLst>
          </p:cNvPr>
          <p:cNvCxnSpPr>
            <a:cxnSpLocks/>
          </p:cNvCxnSpPr>
          <p:nvPr/>
        </p:nvCxnSpPr>
        <p:spPr>
          <a:xfrm flipH="1">
            <a:off x="8032769" y="3351990"/>
            <a:ext cx="1142316" cy="806364"/>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A65CD92-B78D-D35D-62A9-FC510FC6072F}"/>
              </a:ext>
            </a:extLst>
          </p:cNvPr>
          <p:cNvSpPr txBox="1"/>
          <p:nvPr/>
        </p:nvSpPr>
        <p:spPr>
          <a:xfrm>
            <a:off x="1761611" y="3740908"/>
            <a:ext cx="783099" cy="276999"/>
          </a:xfrm>
          <a:prstGeom prst="rect">
            <a:avLst/>
          </a:prstGeom>
          <a:noFill/>
        </p:spPr>
        <p:txBody>
          <a:bodyPr wrap="none" rtlCol="0">
            <a:spAutoFit/>
          </a:bodyPr>
          <a:lstStyle/>
          <a:p>
            <a:r>
              <a:rPr lang="en-US" sz="1200" dirty="0">
                <a:solidFill>
                  <a:schemeClr val="accent2">
                    <a:lumMod val="75000"/>
                  </a:schemeClr>
                </a:solidFill>
              </a:rPr>
              <a:t>Response</a:t>
            </a:r>
          </a:p>
        </p:txBody>
      </p:sp>
    </p:spTree>
    <p:extLst>
      <p:ext uri="{BB962C8B-B14F-4D97-AF65-F5344CB8AC3E}">
        <p14:creationId xmlns:p14="http://schemas.microsoft.com/office/powerpoint/2010/main" val="401376463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6106</TotalTime>
  <Words>218</Words>
  <Application>Microsoft Macintosh PowerPoint</Application>
  <PresentationFormat>Widescreen</PresentationFormat>
  <Paragraphs>24</Paragraphs>
  <Slides>5</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Calibri</vt:lpstr>
      <vt:lpstr>Calibri Light</vt:lpstr>
      <vt:lpstr>Poppins</vt:lpstr>
      <vt:lpstr>Poppins Medium</vt:lpstr>
      <vt:lpstr>Poppins SemiBold</vt:lpstr>
      <vt:lpstr>Office Theme</vt:lpstr>
      <vt:lpstr>Working With Schema and Model</vt:lpstr>
      <vt:lpstr>What is a Schema</vt:lpstr>
      <vt:lpstr>What is a Model</vt:lpstr>
      <vt:lpstr>Using The Model</vt:lpstr>
      <vt:lpstr>Only Model Interacts With Database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NESTJS</dc:title>
  <dc:creator>Microsoft Office User</dc:creator>
  <cp:lastModifiedBy>Manik Bajaj</cp:lastModifiedBy>
  <cp:revision>696</cp:revision>
  <dcterms:created xsi:type="dcterms:W3CDTF">2024-02-28T11:24:07Z</dcterms:created>
  <dcterms:modified xsi:type="dcterms:W3CDTF">2024-10-05T10:17:30Z</dcterms:modified>
</cp:coreProperties>
</file>