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345" r:id="rId3"/>
    <p:sldId id="351" r:id="rId4"/>
    <p:sldId id="353" r:id="rId5"/>
    <p:sldId id="354" r:id="rId6"/>
    <p:sldId id="34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3300"/>
    <a:srgbClr val="745A00"/>
    <a:srgbClr val="61456A"/>
    <a:srgbClr val="C55A11"/>
    <a:srgbClr val="AD6513"/>
    <a:srgbClr val="FCC613"/>
    <a:srgbClr val="FFDD6D"/>
    <a:srgbClr val="DD53F8"/>
    <a:srgbClr val="E100FF"/>
    <a:srgbClr val="E85E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015"/>
    <p:restoredTop sz="91126"/>
  </p:normalViewPr>
  <p:slideViewPr>
    <p:cSldViewPr snapToGrid="0" showGuides="1">
      <p:cViewPr varScale="1">
        <p:scale>
          <a:sx n="140" d="100"/>
          <a:sy n="140" d="100"/>
        </p:scale>
        <p:origin x="1032"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CAFF5F-4593-4642-B263-46DC71846A50}" type="datetimeFigureOut">
              <a:rPr lang="en-US" smtClean="0"/>
              <a:t>10/5/24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ED73B4-3B7A-5C47-BA0A-325276D0DB7E}" type="slidenum">
              <a:rPr lang="en-US" smtClean="0"/>
              <a:t>‹#›</a:t>
            </a:fld>
            <a:endParaRPr lang="en-US"/>
          </a:p>
        </p:txBody>
      </p:sp>
    </p:spTree>
    <p:extLst>
      <p:ext uri="{BB962C8B-B14F-4D97-AF65-F5344CB8AC3E}">
        <p14:creationId xmlns:p14="http://schemas.microsoft.com/office/powerpoint/2010/main" val="3036001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08086-3F50-6B21-F11D-D596A1B28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F869C-0979-778C-E6F3-FA2616613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5CCF7-3D8B-35B5-4950-C203563F06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15F4C7-44EB-8560-3395-20BB16A1E7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8644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AC5E4-22AB-8DDE-708A-0FF0C6904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FD6389-6AA2-51F3-CED5-39F071D130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266495-70FC-2CE9-4914-7C4BAE4F68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C5B8FA-1019-4EE5-0A32-968DF583DD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3345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357E3-E61E-0BAC-E44D-2D12954A9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CAD65-C26C-A81C-A262-06BB60E228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B1CFC8-BB47-54BA-4D9D-3A8BFFA862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06A4C3-68B2-5179-081E-2516D6FA42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9752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E79B-BBE3-6D35-ABE9-1C839C197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2CD65-61F2-CD4F-10E4-0E791B5531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CBF33-4727-CD41-8D5F-7138390FED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0343BD-C940-8EA9-4CFC-6A22645FB7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5226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FDAE7-B6FA-4B99-82CD-5DA289726F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FA78F-D534-8EAD-6847-799F08E75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5E76D0-006F-E45D-789E-0D12879F3D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DA5600-8F52-B3A3-244C-D362523AC3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42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14B0-5224-B0DF-7293-F406631750C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48810A-B6B9-C0BD-1265-DFCF181465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8519265-9BFA-1BC2-CDD6-47A3F947ED64}"/>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5" name="Footer Placeholder 4">
            <a:extLst>
              <a:ext uri="{FF2B5EF4-FFF2-40B4-BE49-F238E27FC236}">
                <a16:creationId xmlns:a16="http://schemas.microsoft.com/office/drawing/2014/main" id="{3CE74205-5F65-3747-0E48-5926F2DAE2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49A60-B65A-047C-1901-9E58799F46D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041942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10753-60BE-D4E8-DF98-50EB8781B32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4FF022-9CC0-F395-2126-25FD48B7EA0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C5A9DC-7053-2EC2-614A-ACE263E42A17}"/>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5" name="Footer Placeholder 4">
            <a:extLst>
              <a:ext uri="{FF2B5EF4-FFF2-40B4-BE49-F238E27FC236}">
                <a16:creationId xmlns:a16="http://schemas.microsoft.com/office/drawing/2014/main" id="{2A487403-D3DF-EED7-AC4A-58DC6ACD6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4F9626-CF06-4327-1460-B41D736AD62E}"/>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72489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58E38-3DF8-0E50-B41F-24E2F9647C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0DF70C4-F003-C288-3E3B-F320E8EDA2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9AF0F96-1D0B-7BE6-0DA5-722FDD17D8A8}"/>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5" name="Footer Placeholder 4">
            <a:extLst>
              <a:ext uri="{FF2B5EF4-FFF2-40B4-BE49-F238E27FC236}">
                <a16:creationId xmlns:a16="http://schemas.microsoft.com/office/drawing/2014/main" id="{8FBFA99A-36B8-13EE-009B-F71B62B1EA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75676F-30E5-E5C7-0601-07574EB2D6D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391519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4B8B2-55D6-055B-5C09-E65DD8C951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75256CA-6EF2-B2E8-7D4B-52ECBC95853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D456E81-36C0-EE8A-9E4E-8470ED18AAD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C4A4CF9-8A85-9602-5D37-E5036C3F74B5}"/>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6" name="Footer Placeholder 5">
            <a:extLst>
              <a:ext uri="{FF2B5EF4-FFF2-40B4-BE49-F238E27FC236}">
                <a16:creationId xmlns:a16="http://schemas.microsoft.com/office/drawing/2014/main" id="{E3A8346B-1F76-4AD0-4C90-AD7234282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91F1-5E0B-7A68-8722-F1575298775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927745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BFBBD-1722-4224-F9BB-8EBD1C001F3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354CB22-1AE7-CA9A-D0DC-DC783753CB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E55AA36-5AC2-7491-7C18-242609E9FE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0A99B3A-36E2-CFCE-6301-878B769EC1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1E6ABAF-F340-A78E-DFD6-A0867F846F7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FF998BD-30CD-7920-E753-C252CA2B2BBA}"/>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8" name="Footer Placeholder 7">
            <a:extLst>
              <a:ext uri="{FF2B5EF4-FFF2-40B4-BE49-F238E27FC236}">
                <a16:creationId xmlns:a16="http://schemas.microsoft.com/office/drawing/2014/main" id="{3AA7ABC1-3752-46E5-F1AF-00F01D4BE0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2F4455-339C-F08F-C4CD-B3F2A7952737}"/>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504233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AA960-22DE-E5A9-7830-63B79FA7472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71E3637-07FD-41EA-C7DB-1E60FA870257}"/>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4" name="Footer Placeholder 3">
            <a:extLst>
              <a:ext uri="{FF2B5EF4-FFF2-40B4-BE49-F238E27FC236}">
                <a16:creationId xmlns:a16="http://schemas.microsoft.com/office/drawing/2014/main" id="{201F13C8-AE6B-EC91-149D-C4F99AB0D4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F6A696-6FF2-5CBD-6F28-EC15D5709D21}"/>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56809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68334D-D93A-3844-6818-5266D3B3D6E9}"/>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3" name="Footer Placeholder 2">
            <a:extLst>
              <a:ext uri="{FF2B5EF4-FFF2-40B4-BE49-F238E27FC236}">
                <a16:creationId xmlns:a16="http://schemas.microsoft.com/office/drawing/2014/main" id="{5FB9EED5-89A1-ACE4-55B7-3E9C29A57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EA3269-AD29-F734-147B-CF871F8F93D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93418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EF10A-D478-0EAA-0D79-6B896263640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0101B23-CF69-1895-9367-83A95BCF1C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E200D4B-7EEA-3448-A4D6-3B78AD012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A856B4C-B757-9048-D019-358A416E5641}"/>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6" name="Footer Placeholder 5">
            <a:extLst>
              <a:ext uri="{FF2B5EF4-FFF2-40B4-BE49-F238E27FC236}">
                <a16:creationId xmlns:a16="http://schemas.microsoft.com/office/drawing/2014/main" id="{CFFE17CD-B648-BBC6-40F2-86A87DD4A8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55F0EB-2058-FC2E-EDCF-37CD7BC36E7B}"/>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60055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B20EC-5AFE-8DF7-F581-AEE45E4A993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869887F-796D-C2EF-5316-35FE57640F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76A06E-DDBD-D2B6-9290-9E50813A44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77558D9-110B-23FB-23FE-284059F2192C}"/>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6" name="Footer Placeholder 5">
            <a:extLst>
              <a:ext uri="{FF2B5EF4-FFF2-40B4-BE49-F238E27FC236}">
                <a16:creationId xmlns:a16="http://schemas.microsoft.com/office/drawing/2014/main" id="{B628022B-6382-BE9C-A25F-0B02B02931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23489-F0FC-18E2-45F1-463EFAAB24A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356510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F9BB7-6F7E-5B81-4F71-4BE777730CA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2698EFD-6E2D-073D-2777-B8197B8AD90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FCEA36-4478-D24E-E2AB-CF9EEA3E9F2A}"/>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5" name="Footer Placeholder 4">
            <a:extLst>
              <a:ext uri="{FF2B5EF4-FFF2-40B4-BE49-F238E27FC236}">
                <a16:creationId xmlns:a16="http://schemas.microsoft.com/office/drawing/2014/main" id="{A63BC77E-E47B-EBFA-D7E2-EB8CAFC4C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8DF2F-19EC-AA0F-C42C-20F34B9C706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170652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DB8503-2440-79EE-E716-072BE6DE3E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8CF235D-189D-2752-0AD8-7B97748CAC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86B4F1-B968-C9DC-36A0-40D3A9249691}"/>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5" name="Footer Placeholder 4">
            <a:extLst>
              <a:ext uri="{FF2B5EF4-FFF2-40B4-BE49-F238E27FC236}">
                <a16:creationId xmlns:a16="http://schemas.microsoft.com/office/drawing/2014/main" id="{5FE11C7E-F8C8-E7B1-5AE1-6C0FD2430B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64DB4-9403-A5D1-815E-2C890E8D9E3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304233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2012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9037D-89B3-121A-2C40-3A64E3262F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6CA659-082C-0B10-3680-E2AAC011B6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A14A2A-5365-7A34-B293-F60F544841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CE7AAE-89D3-5444-979C-39A9910DDA2F}" type="datetimeFigureOut">
              <a:rPr lang="en-US" smtClean="0"/>
              <a:t>10/5/24</a:t>
            </a:fld>
            <a:endParaRPr lang="en-US"/>
          </a:p>
        </p:txBody>
      </p:sp>
      <p:sp>
        <p:nvSpPr>
          <p:cNvPr id="5" name="Footer Placeholder 4">
            <a:extLst>
              <a:ext uri="{FF2B5EF4-FFF2-40B4-BE49-F238E27FC236}">
                <a16:creationId xmlns:a16="http://schemas.microsoft.com/office/drawing/2014/main" id="{EDF3B83F-380E-CA22-46AF-AE6DC794FD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1D42CC-6023-539B-3E1C-4866E62C81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E6BFF1-75E3-3D43-94C4-129BFF8AF248}" type="slidenum">
              <a:rPr lang="en-US" smtClean="0"/>
              <a:t>‹#›</a:t>
            </a:fld>
            <a:endParaRPr lang="en-US"/>
          </a:p>
        </p:txBody>
      </p:sp>
    </p:spTree>
    <p:extLst>
      <p:ext uri="{BB962C8B-B14F-4D97-AF65-F5344CB8AC3E}">
        <p14:creationId xmlns:p14="http://schemas.microsoft.com/office/powerpoint/2010/main" val="1240892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FDEFE-3BD7-6534-F0FE-3E6113B81D72}"/>
              </a:ext>
            </a:extLst>
          </p:cNvPr>
          <p:cNvSpPr>
            <a:spLocks noGrp="1"/>
          </p:cNvSpPr>
          <p:nvPr>
            <p:ph type="ctrTitle"/>
          </p:nvPr>
        </p:nvSpPr>
        <p:spPr>
          <a:xfrm>
            <a:off x="723796" y="2189079"/>
            <a:ext cx="9144000" cy="2030550"/>
          </a:xfrm>
          <a:ln>
            <a:noFill/>
          </a:ln>
        </p:spPr>
        <p:txBody>
          <a:bodyPr>
            <a:normAutofit/>
          </a:bodyPr>
          <a:lstStyle/>
          <a:p>
            <a:pPr algn="l"/>
            <a:r>
              <a:rPr lang="en-US" sz="3800" b="1" dirty="0">
                <a:solidFill>
                  <a:srgbClr val="423300"/>
                </a:solidFill>
                <a:latin typeface="Poppins" pitchFamily="2" charset="77"/>
                <a:cs typeface="Poppins" pitchFamily="2" charset="77"/>
              </a:rPr>
              <a:t>Advantages Of Using</a:t>
            </a:r>
            <a:br>
              <a:rPr lang="en-US" sz="3800" b="1" dirty="0">
                <a:solidFill>
                  <a:srgbClr val="423300"/>
                </a:solidFill>
                <a:latin typeface="Poppins" pitchFamily="2" charset="77"/>
                <a:cs typeface="Poppins" pitchFamily="2" charset="77"/>
              </a:rPr>
            </a:br>
            <a:r>
              <a:rPr lang="en-US" sz="3800" b="1" dirty="0">
                <a:solidFill>
                  <a:schemeClr val="accent2">
                    <a:lumMod val="75000"/>
                  </a:schemeClr>
                </a:solidFill>
                <a:latin typeface="Poppins" pitchFamily="2" charset="77"/>
                <a:cs typeface="Poppins" pitchFamily="2" charset="77"/>
              </a:rPr>
              <a:t>MongoDB</a:t>
            </a:r>
          </a:p>
        </p:txBody>
      </p:sp>
      <p:sp>
        <p:nvSpPr>
          <p:cNvPr id="5" name="4-point Star 4">
            <a:extLst>
              <a:ext uri="{FF2B5EF4-FFF2-40B4-BE49-F238E27FC236}">
                <a16:creationId xmlns:a16="http://schemas.microsoft.com/office/drawing/2014/main" id="{72042A47-18F1-19EA-DA4D-4B338208F7AB}"/>
              </a:ext>
            </a:extLst>
          </p:cNvPr>
          <p:cNvSpPr/>
          <p:nvPr/>
        </p:nvSpPr>
        <p:spPr>
          <a:xfrm rot="2055929">
            <a:off x="2050484" y="517788"/>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567DD399-6D96-8282-2AF3-7548B8B8E838}"/>
              </a:ext>
            </a:extLst>
          </p:cNvPr>
          <p:cNvSpPr/>
          <p:nvPr/>
        </p:nvSpPr>
        <p:spPr>
          <a:xfrm rot="787370">
            <a:off x="6810715" y="5903344"/>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0BFD952C-DB3A-88EE-1426-2396912F87A0}"/>
              </a:ext>
            </a:extLst>
          </p:cNvPr>
          <p:cNvSpPr/>
          <p:nvPr/>
        </p:nvSpPr>
        <p:spPr>
          <a:xfrm rot="20264836">
            <a:off x="675273" y="5875098"/>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F8D7621-FC0B-5370-77AC-A12637AA9E62}"/>
              </a:ext>
            </a:extLst>
          </p:cNvPr>
          <p:cNvPicPr>
            <a:picLocks noChangeAspect="1"/>
          </p:cNvPicPr>
          <p:nvPr/>
        </p:nvPicPr>
        <p:blipFill>
          <a:blip r:embed="rId3"/>
          <a:stretch>
            <a:fillRect/>
          </a:stretch>
        </p:blipFill>
        <p:spPr>
          <a:xfrm>
            <a:off x="11167313" y="6029624"/>
            <a:ext cx="618386" cy="501804"/>
          </a:xfrm>
          <a:prstGeom prst="rect">
            <a:avLst/>
          </a:prstGeom>
        </p:spPr>
      </p:pic>
      <p:sp>
        <p:nvSpPr>
          <p:cNvPr id="9" name="Title 1">
            <a:extLst>
              <a:ext uri="{FF2B5EF4-FFF2-40B4-BE49-F238E27FC236}">
                <a16:creationId xmlns:a16="http://schemas.microsoft.com/office/drawing/2014/main" id="{C0976C4D-1AC5-50E3-8628-B479D40EB899}"/>
              </a:ext>
            </a:extLst>
          </p:cNvPr>
          <p:cNvSpPr txBox="1">
            <a:spLocks/>
          </p:cNvSpPr>
          <p:nvPr/>
        </p:nvSpPr>
        <p:spPr>
          <a:xfrm>
            <a:off x="723796" y="4219629"/>
            <a:ext cx="9144000" cy="391925"/>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700" dirty="0">
                <a:solidFill>
                  <a:srgbClr val="745A00"/>
                </a:solidFill>
                <a:latin typeface="Arial" panose="020B0604020202020204" pitchFamily="34" charset="0"/>
                <a:cs typeface="Arial" panose="020B0604020202020204" pitchFamily="34" charset="0"/>
              </a:rPr>
              <a:t>Full-Stack Web Development Bootcamp</a:t>
            </a:r>
          </a:p>
        </p:txBody>
      </p:sp>
      <p:pic>
        <p:nvPicPr>
          <p:cNvPr id="8" name="Graphic 7">
            <a:extLst>
              <a:ext uri="{FF2B5EF4-FFF2-40B4-BE49-F238E27FC236}">
                <a16:creationId xmlns:a16="http://schemas.microsoft.com/office/drawing/2014/main" id="{D8468213-F66A-0661-AF69-9D384537A4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5081" y="2050247"/>
            <a:ext cx="2859232" cy="720000"/>
          </a:xfrm>
          <a:prstGeom prst="rect">
            <a:avLst/>
          </a:prstGeom>
        </p:spPr>
      </p:pic>
    </p:spTree>
    <p:extLst>
      <p:ext uri="{BB962C8B-B14F-4D97-AF65-F5344CB8AC3E}">
        <p14:creationId xmlns:p14="http://schemas.microsoft.com/office/powerpoint/2010/main" val="38265223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DE94F7-45A3-B780-1611-0989E2B6055A}"/>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5752B060-A796-CC02-A49A-46E15B9DB8A0}"/>
              </a:ext>
            </a:extLst>
          </p:cNvPr>
          <p:cNvSpPr/>
          <p:nvPr/>
        </p:nvSpPr>
        <p:spPr>
          <a:xfrm rot="2055929">
            <a:off x="619117" y="625026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CB53628D-1E36-4B87-73AC-7F4503E2FE32}"/>
              </a:ext>
            </a:extLst>
          </p:cNvPr>
          <p:cNvSpPr/>
          <p:nvPr/>
        </p:nvSpPr>
        <p:spPr>
          <a:xfrm rot="787370">
            <a:off x="11032449" y="272472"/>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138B1A9C-AA7D-DC51-EADD-1D9AE4C56F1F}"/>
              </a:ext>
            </a:extLst>
          </p:cNvPr>
          <p:cNvSpPr/>
          <p:nvPr/>
        </p:nvSpPr>
        <p:spPr>
          <a:xfrm rot="20264836">
            <a:off x="11509310" y="4635490"/>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17F2325D-9631-2624-B351-7C2D71A0D555}"/>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AF67CF8D-E1A7-9AE7-51FF-764F6F19DE20}"/>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Main </a:t>
            </a:r>
            <a:r>
              <a:rPr lang="en-US" sz="3600" b="1" dirty="0">
                <a:solidFill>
                  <a:schemeClr val="accent2">
                    <a:lumMod val="75000"/>
                  </a:schemeClr>
                </a:solidFill>
                <a:latin typeface="Poppins" pitchFamily="2" charset="77"/>
                <a:cs typeface="Poppins" pitchFamily="2" charset="77"/>
              </a:rPr>
              <a:t>Advantages</a:t>
            </a:r>
          </a:p>
        </p:txBody>
      </p:sp>
      <p:sp>
        <p:nvSpPr>
          <p:cNvPr id="13" name="TextBox 12">
            <a:extLst>
              <a:ext uri="{FF2B5EF4-FFF2-40B4-BE49-F238E27FC236}">
                <a16:creationId xmlns:a16="http://schemas.microsoft.com/office/drawing/2014/main" id="{423C20DB-B3C8-F6CB-C48A-38A57761FCEC}"/>
              </a:ext>
            </a:extLst>
          </p:cNvPr>
          <p:cNvSpPr txBox="1"/>
          <p:nvPr/>
        </p:nvSpPr>
        <p:spPr>
          <a:xfrm>
            <a:off x="1431875" y="1603958"/>
            <a:ext cx="9735438" cy="4266553"/>
          </a:xfrm>
          <a:prstGeom prst="rect">
            <a:avLst/>
          </a:prstGeom>
          <a:noFill/>
        </p:spPr>
        <p:txBody>
          <a:bodyPr wrap="square" rtlCol="0">
            <a:spAutoFit/>
          </a:bodyPr>
          <a:lstStyle/>
          <a:p>
            <a:pPr marL="285750" marR="0" lvl="0" indent="-28575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b="1" dirty="0">
                <a:solidFill>
                  <a:srgbClr val="423300"/>
                </a:solidFill>
                <a:latin typeface="Poppins SemiBold" pitchFamily="2" charset="77"/>
                <a:cs typeface="Poppins SemiBold" pitchFamily="2" charset="77"/>
              </a:rPr>
              <a:t>Document-Oriented Storage: </a:t>
            </a:r>
            <a:r>
              <a:rPr lang="en-US" sz="1400" dirty="0">
                <a:solidFill>
                  <a:srgbClr val="745A00"/>
                </a:solidFill>
                <a:latin typeface="Poppins" pitchFamily="2" charset="77"/>
                <a:cs typeface="Poppins" pitchFamily="2" charset="77"/>
              </a:rPr>
              <a:t>MongoDB uses JSON-like documents which are intuitive for developers familiar with JSON and JavaScript, making it easier to understand and use.</a:t>
            </a:r>
            <a:br>
              <a:rPr lang="en-US" sz="1400" dirty="0">
                <a:solidFill>
                  <a:srgbClr val="745A00"/>
                </a:solidFill>
                <a:latin typeface="Poppins" pitchFamily="2" charset="77"/>
                <a:cs typeface="Poppins" pitchFamily="2" charset="77"/>
              </a:rPr>
            </a:br>
            <a:r>
              <a:rPr lang="en-US" sz="1400" dirty="0">
                <a:solidFill>
                  <a:srgbClr val="745A00"/>
                </a:solidFill>
                <a:latin typeface="Poppins" pitchFamily="2" charset="77"/>
                <a:cs typeface="Poppins" pitchFamily="2" charset="77"/>
              </a:rPr>
              <a:t> </a:t>
            </a:r>
          </a:p>
          <a:p>
            <a:pPr marL="285750" marR="0" lvl="0" indent="-28575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b="1" dirty="0">
                <a:solidFill>
                  <a:srgbClr val="423300"/>
                </a:solidFill>
                <a:latin typeface="Poppins SemiBold" pitchFamily="2" charset="77"/>
                <a:cs typeface="Poppins SemiBold" pitchFamily="2" charset="77"/>
              </a:rPr>
              <a:t>Schema Flexibility: </a:t>
            </a:r>
            <a:r>
              <a:rPr lang="en-US" sz="1400" dirty="0">
                <a:solidFill>
                  <a:srgbClr val="745A00"/>
                </a:solidFill>
                <a:latin typeface="Poppins" pitchFamily="2" charset="77"/>
                <a:cs typeface="Poppins" pitchFamily="2" charset="77"/>
              </a:rPr>
              <a:t>Unlike SQL databases that require predefined schemas, MongoDB is schema-less. This allows developers to easily modify the data structure without migrations, which is ideal for applications with evolving data models. </a:t>
            </a:r>
            <a:br>
              <a:rPr lang="en-US" sz="1400" dirty="0">
                <a:solidFill>
                  <a:srgbClr val="745A00"/>
                </a:solidFill>
                <a:latin typeface="Poppins" pitchFamily="2" charset="77"/>
                <a:cs typeface="Poppins" pitchFamily="2" charset="77"/>
              </a:rPr>
            </a:br>
            <a:endParaRPr lang="en-US" sz="1400" dirty="0">
              <a:solidFill>
                <a:srgbClr val="745A00"/>
              </a:solidFill>
              <a:latin typeface="Poppins" pitchFamily="2" charset="77"/>
              <a:cs typeface="Poppins" pitchFamily="2" charset="77"/>
            </a:endParaRPr>
          </a:p>
          <a:p>
            <a:pPr marL="285750" marR="0" lvl="0" indent="-28575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b="1" dirty="0">
                <a:solidFill>
                  <a:srgbClr val="423300"/>
                </a:solidFill>
                <a:latin typeface="Poppins SemiBold" pitchFamily="2" charset="77"/>
                <a:cs typeface="Poppins SemiBold" pitchFamily="2" charset="77"/>
              </a:rPr>
              <a:t>Scalability</a:t>
            </a:r>
            <a:r>
              <a:rPr lang="en-US" sz="1400" dirty="0">
                <a:solidFill>
                  <a:srgbClr val="745A00"/>
                </a:solidFill>
                <a:latin typeface="Poppins" pitchFamily="2" charset="77"/>
                <a:cs typeface="Poppins" pitchFamily="2" charset="77"/>
              </a:rPr>
              <a:t>: MongoDB is designed with scalability in mind, supporting horizontal scaling through sharding and replication, making it suitable for large-scale, high-volume applications. </a:t>
            </a:r>
            <a:br>
              <a:rPr lang="en-US" sz="1400" dirty="0">
                <a:solidFill>
                  <a:srgbClr val="745A00"/>
                </a:solidFill>
                <a:latin typeface="Poppins" pitchFamily="2" charset="77"/>
                <a:cs typeface="Poppins" pitchFamily="2" charset="77"/>
              </a:rPr>
            </a:br>
            <a:endParaRPr lang="en-US" sz="1400" dirty="0">
              <a:solidFill>
                <a:srgbClr val="745A00"/>
              </a:solidFill>
              <a:latin typeface="Poppins" pitchFamily="2" charset="77"/>
              <a:cs typeface="Poppins" pitchFamily="2" charset="77"/>
            </a:endParaRPr>
          </a:p>
          <a:p>
            <a:pPr marL="285750" marR="0" lvl="0" indent="-28575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b="1" dirty="0">
                <a:solidFill>
                  <a:srgbClr val="423300"/>
                </a:solidFill>
                <a:latin typeface="Poppins SemiBold" pitchFamily="2" charset="77"/>
                <a:cs typeface="Poppins SemiBold" pitchFamily="2" charset="77"/>
              </a:rPr>
              <a:t>Development Speed: </a:t>
            </a:r>
            <a:r>
              <a:rPr lang="en-US" sz="1400" dirty="0">
                <a:solidFill>
                  <a:srgbClr val="745A00"/>
                </a:solidFill>
                <a:latin typeface="Poppins" pitchFamily="2" charset="77"/>
                <a:cs typeface="Poppins" pitchFamily="2" charset="77"/>
              </a:rPr>
              <a:t>MongoDB’s flexible schema model can accelerate development cycles by reducing the need for early, rigid database design decisions, facilitating agile and iterative development.</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Tree>
    <p:extLst>
      <p:ext uri="{BB962C8B-B14F-4D97-AF65-F5344CB8AC3E}">
        <p14:creationId xmlns:p14="http://schemas.microsoft.com/office/powerpoint/2010/main" val="22399930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2DEFDC7-8F36-EAB7-D7AA-6D36468B1E58}"/>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338EA16F-0467-00D0-9447-063EE7C656D4}"/>
              </a:ext>
            </a:extLst>
          </p:cNvPr>
          <p:cNvSpPr/>
          <p:nvPr/>
        </p:nvSpPr>
        <p:spPr>
          <a:xfrm rot="2055929">
            <a:off x="551269" y="1058557"/>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CE077CCD-8C00-0952-2A37-899A983A97D3}"/>
              </a:ext>
            </a:extLst>
          </p:cNvPr>
          <p:cNvSpPr/>
          <p:nvPr/>
        </p:nvSpPr>
        <p:spPr>
          <a:xfrm rot="787370">
            <a:off x="10090618" y="5923504"/>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3A2BAB1B-CEE3-2E1E-BFC3-A4052D508BB5}"/>
              </a:ext>
            </a:extLst>
          </p:cNvPr>
          <p:cNvSpPr/>
          <p:nvPr/>
        </p:nvSpPr>
        <p:spPr>
          <a:xfrm rot="20264836">
            <a:off x="1312900" y="6110639"/>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B7DF2551-A4F9-325B-8A6F-7A5BD5B6C15E}"/>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B68C0B8C-7ADA-3233-E878-D103E5D411D0}"/>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Document Oriented </a:t>
            </a:r>
            <a:r>
              <a:rPr lang="en-US" sz="3600" b="1" dirty="0">
                <a:solidFill>
                  <a:schemeClr val="accent2">
                    <a:lumMod val="75000"/>
                  </a:schemeClr>
                </a:solidFill>
                <a:latin typeface="Poppins" pitchFamily="2" charset="77"/>
                <a:cs typeface="Poppins" pitchFamily="2" charset="77"/>
              </a:rPr>
              <a:t>Storage</a:t>
            </a:r>
          </a:p>
        </p:txBody>
      </p:sp>
      <p:sp>
        <p:nvSpPr>
          <p:cNvPr id="2" name="TextBox 1">
            <a:extLst>
              <a:ext uri="{FF2B5EF4-FFF2-40B4-BE49-F238E27FC236}">
                <a16:creationId xmlns:a16="http://schemas.microsoft.com/office/drawing/2014/main" id="{B15015CB-DDB9-06AD-D5C9-ADE9D1D07D02}"/>
              </a:ext>
            </a:extLst>
          </p:cNvPr>
          <p:cNvSpPr txBox="1"/>
          <p:nvPr/>
        </p:nvSpPr>
        <p:spPr>
          <a:xfrm>
            <a:off x="1264794" y="4710886"/>
            <a:ext cx="9735438" cy="1034899"/>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dirty="0">
                <a:solidFill>
                  <a:srgbClr val="745A00"/>
                </a:solidFill>
                <a:latin typeface="Poppins" pitchFamily="2" charset="77"/>
                <a:cs typeface="Poppins" pitchFamily="2" charset="77"/>
              </a:rPr>
              <a:t>MongoDB saves data in collections of documents, each document containing key-value pairs that are more flexible and can be nested for complex data structures, offering high flexibility and scalability without predefined schemas.</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4" name="TextBox 3">
            <a:extLst>
              <a:ext uri="{FF2B5EF4-FFF2-40B4-BE49-F238E27FC236}">
                <a16:creationId xmlns:a16="http://schemas.microsoft.com/office/drawing/2014/main" id="{DD91B8A9-8556-7C35-005E-FF63F3105A50}"/>
              </a:ext>
            </a:extLst>
          </p:cNvPr>
          <p:cNvSpPr txBox="1"/>
          <p:nvPr/>
        </p:nvSpPr>
        <p:spPr>
          <a:xfrm>
            <a:off x="3486912" y="4384466"/>
            <a:ext cx="521817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b="1" i="0" dirty="0">
                <a:solidFill>
                  <a:srgbClr val="423300"/>
                </a:solidFill>
                <a:latin typeface="Poppins Medium" pitchFamily="2" charset="77"/>
                <a:ea typeface="+mn-ea"/>
                <a:cs typeface="Poppins Medium" pitchFamily="2" charset="77"/>
              </a:rPr>
              <a:t>How MongoDB Stores Data</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12" name="Picture 11">
            <a:extLst>
              <a:ext uri="{FF2B5EF4-FFF2-40B4-BE49-F238E27FC236}">
                <a16:creationId xmlns:a16="http://schemas.microsoft.com/office/drawing/2014/main" id="{C566F850-0B9F-6EB9-07C1-019830EA6EC1}"/>
              </a:ext>
            </a:extLst>
          </p:cNvPr>
          <p:cNvPicPr>
            <a:picLocks noChangeAspect="1"/>
          </p:cNvPicPr>
          <p:nvPr/>
        </p:nvPicPr>
        <p:blipFill>
          <a:blip r:embed="rId5"/>
          <a:stretch>
            <a:fillRect/>
          </a:stretch>
        </p:blipFill>
        <p:spPr>
          <a:xfrm>
            <a:off x="7247257" y="1804159"/>
            <a:ext cx="3920056" cy="1826009"/>
          </a:xfrm>
          <a:prstGeom prst="rect">
            <a:avLst/>
          </a:prstGeom>
        </p:spPr>
      </p:pic>
      <p:pic>
        <p:nvPicPr>
          <p:cNvPr id="9" name="Picture 8">
            <a:extLst>
              <a:ext uri="{FF2B5EF4-FFF2-40B4-BE49-F238E27FC236}">
                <a16:creationId xmlns:a16="http://schemas.microsoft.com/office/drawing/2014/main" id="{9EC35488-CCD1-2118-4348-2076F3DEEF7E}"/>
              </a:ext>
            </a:extLst>
          </p:cNvPr>
          <p:cNvPicPr>
            <a:picLocks noChangeAspect="1"/>
          </p:cNvPicPr>
          <p:nvPr/>
        </p:nvPicPr>
        <p:blipFill>
          <a:blip r:embed="rId6"/>
          <a:stretch>
            <a:fillRect/>
          </a:stretch>
        </p:blipFill>
        <p:spPr>
          <a:xfrm>
            <a:off x="381000" y="1804159"/>
            <a:ext cx="6400444" cy="1826009"/>
          </a:xfrm>
          <a:prstGeom prst="rect">
            <a:avLst/>
          </a:prstGeom>
        </p:spPr>
      </p:pic>
    </p:spTree>
    <p:extLst>
      <p:ext uri="{BB962C8B-B14F-4D97-AF65-F5344CB8AC3E}">
        <p14:creationId xmlns:p14="http://schemas.microsoft.com/office/powerpoint/2010/main" val="4793018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7F4A336-596C-68D9-9180-B4FA61A53CB3}"/>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3CE0B37B-93F2-26CD-FA5E-8F8CE9EFFD90}"/>
              </a:ext>
            </a:extLst>
          </p:cNvPr>
          <p:cNvSpPr/>
          <p:nvPr/>
        </p:nvSpPr>
        <p:spPr>
          <a:xfrm rot="2055929">
            <a:off x="61092" y="155954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7A3924DD-A0FC-1A27-DE84-3F9E6FAF9F50}"/>
              </a:ext>
            </a:extLst>
          </p:cNvPr>
          <p:cNvSpPr/>
          <p:nvPr/>
        </p:nvSpPr>
        <p:spPr>
          <a:xfrm rot="787370">
            <a:off x="9743144" y="6227832"/>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CCE7D11D-BACF-AB71-B452-7D5B31619730}"/>
              </a:ext>
            </a:extLst>
          </p:cNvPr>
          <p:cNvSpPr/>
          <p:nvPr/>
        </p:nvSpPr>
        <p:spPr>
          <a:xfrm rot="20264836">
            <a:off x="1478342" y="6038733"/>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2A8F22C8-9DDB-C7C5-5BD9-BE5EDBC58A90}"/>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5C9F0B92-FE74-A4C7-8EA3-2D59CC7A71E0}"/>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Schema </a:t>
            </a:r>
            <a:r>
              <a:rPr lang="en-US" sz="3600" b="1" dirty="0">
                <a:solidFill>
                  <a:schemeClr val="accent2">
                    <a:lumMod val="75000"/>
                  </a:schemeClr>
                </a:solidFill>
                <a:latin typeface="Poppins" pitchFamily="2" charset="77"/>
                <a:cs typeface="Poppins" pitchFamily="2" charset="77"/>
              </a:rPr>
              <a:t>Flexibility</a:t>
            </a:r>
          </a:p>
        </p:txBody>
      </p:sp>
      <p:sp>
        <p:nvSpPr>
          <p:cNvPr id="13" name="TextBox 12">
            <a:extLst>
              <a:ext uri="{FF2B5EF4-FFF2-40B4-BE49-F238E27FC236}">
                <a16:creationId xmlns:a16="http://schemas.microsoft.com/office/drawing/2014/main" id="{6B463AE5-FC84-D86C-38A8-D4ED91CA1457}"/>
              </a:ext>
            </a:extLst>
          </p:cNvPr>
          <p:cNvSpPr txBox="1"/>
          <p:nvPr/>
        </p:nvSpPr>
        <p:spPr>
          <a:xfrm>
            <a:off x="1264794" y="4813978"/>
            <a:ext cx="9735438" cy="1358064"/>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dirty="0">
                <a:solidFill>
                  <a:srgbClr val="745A00"/>
                </a:solidFill>
                <a:latin typeface="Poppins" pitchFamily="2" charset="77"/>
                <a:cs typeface="Poppins" pitchFamily="2" charset="77"/>
              </a:rPr>
              <a:t>Unlike SQL databases that require predefined schemas, MongoDB is schema-less. This allows developers to easily modify the data structure without migrations, which is ideal for applications with evolving data models. This is </a:t>
            </a:r>
            <a:r>
              <a:rPr lang="en-US" sz="1400" b="1" dirty="0">
                <a:solidFill>
                  <a:srgbClr val="423300"/>
                </a:solidFill>
                <a:latin typeface="Poppins SemiBold" pitchFamily="2" charset="77"/>
                <a:cs typeface="Poppins SemiBold" pitchFamily="2" charset="77"/>
              </a:rPr>
              <a:t>not allowed in case of SQL Databases</a:t>
            </a:r>
            <a:r>
              <a:rPr lang="en-US" sz="1400" dirty="0">
                <a:solidFill>
                  <a:srgbClr val="745A00"/>
                </a:solidFill>
                <a:latin typeface="Poppins" pitchFamily="2" charset="77"/>
                <a:cs typeface="Poppins" pitchFamily="2" charset="77"/>
              </a:rPr>
              <a:t>, each table will have a set of rules that need to be adhered to all the rows of the table.</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8" name="TextBox 17">
            <a:extLst>
              <a:ext uri="{FF2B5EF4-FFF2-40B4-BE49-F238E27FC236}">
                <a16:creationId xmlns:a16="http://schemas.microsoft.com/office/drawing/2014/main" id="{09543741-22BB-B36E-7B7C-CAD1FA1E5683}"/>
              </a:ext>
            </a:extLst>
          </p:cNvPr>
          <p:cNvSpPr txBox="1"/>
          <p:nvPr/>
        </p:nvSpPr>
        <p:spPr>
          <a:xfrm>
            <a:off x="3633216" y="4487558"/>
            <a:ext cx="4925568"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b="1" i="0" dirty="0">
                <a:solidFill>
                  <a:srgbClr val="423300"/>
                </a:solidFill>
                <a:latin typeface="Poppins Medium" pitchFamily="2" charset="77"/>
                <a:ea typeface="+mn-ea"/>
                <a:cs typeface="Poppins Medium" pitchFamily="2" charset="77"/>
              </a:rPr>
              <a:t>Schema-less Design – </a:t>
            </a:r>
            <a:r>
              <a:rPr lang="en-US" sz="1400" b="1" dirty="0">
                <a:solidFill>
                  <a:srgbClr val="423300"/>
                </a:solidFill>
                <a:latin typeface="Poppins Medium" pitchFamily="2" charset="77"/>
                <a:cs typeface="Poppins Medium" pitchFamily="2" charset="77"/>
              </a:rPr>
              <a:t>In Same Collection</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10" name="Picture 9">
            <a:extLst>
              <a:ext uri="{FF2B5EF4-FFF2-40B4-BE49-F238E27FC236}">
                <a16:creationId xmlns:a16="http://schemas.microsoft.com/office/drawing/2014/main" id="{47DA815C-F632-EB4D-565F-5F5EC5349803}"/>
              </a:ext>
            </a:extLst>
          </p:cNvPr>
          <p:cNvPicPr>
            <a:picLocks noChangeAspect="1"/>
          </p:cNvPicPr>
          <p:nvPr/>
        </p:nvPicPr>
        <p:blipFill>
          <a:blip r:embed="rId5"/>
          <a:stretch>
            <a:fillRect/>
          </a:stretch>
        </p:blipFill>
        <p:spPr>
          <a:xfrm>
            <a:off x="814297" y="1362672"/>
            <a:ext cx="4617239" cy="2624328"/>
          </a:xfrm>
          <a:prstGeom prst="rect">
            <a:avLst/>
          </a:prstGeom>
        </p:spPr>
      </p:pic>
      <p:pic>
        <p:nvPicPr>
          <p:cNvPr id="20" name="Picture 19">
            <a:extLst>
              <a:ext uri="{FF2B5EF4-FFF2-40B4-BE49-F238E27FC236}">
                <a16:creationId xmlns:a16="http://schemas.microsoft.com/office/drawing/2014/main" id="{186AAD29-343D-C387-A4A2-3F398CE9A73F}"/>
              </a:ext>
            </a:extLst>
          </p:cNvPr>
          <p:cNvPicPr>
            <a:picLocks noChangeAspect="1"/>
          </p:cNvPicPr>
          <p:nvPr/>
        </p:nvPicPr>
        <p:blipFill>
          <a:blip r:embed="rId6"/>
          <a:stretch>
            <a:fillRect/>
          </a:stretch>
        </p:blipFill>
        <p:spPr>
          <a:xfrm>
            <a:off x="5760719" y="1368044"/>
            <a:ext cx="5635781" cy="2607761"/>
          </a:xfrm>
          <a:prstGeom prst="rect">
            <a:avLst/>
          </a:prstGeom>
        </p:spPr>
      </p:pic>
    </p:spTree>
    <p:extLst>
      <p:ext uri="{BB962C8B-B14F-4D97-AF65-F5344CB8AC3E}">
        <p14:creationId xmlns:p14="http://schemas.microsoft.com/office/powerpoint/2010/main" val="33021956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AF2F5EB-5A37-84DD-96A0-98010DF5916C}"/>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3977B7FD-DCBD-6AD9-1CBF-402FD4212DBB}"/>
              </a:ext>
            </a:extLst>
          </p:cNvPr>
          <p:cNvSpPr/>
          <p:nvPr/>
        </p:nvSpPr>
        <p:spPr>
          <a:xfrm rot="2055929">
            <a:off x="805854" y="6121213"/>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DFB3B433-F06C-B69C-5A0D-59109437F014}"/>
              </a:ext>
            </a:extLst>
          </p:cNvPr>
          <p:cNvSpPr/>
          <p:nvPr/>
        </p:nvSpPr>
        <p:spPr>
          <a:xfrm rot="787370">
            <a:off x="11616305" y="706096"/>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4EA30DF2-C571-2B57-E0AA-A472B7B57E50}"/>
              </a:ext>
            </a:extLst>
          </p:cNvPr>
          <p:cNvSpPr/>
          <p:nvPr/>
        </p:nvSpPr>
        <p:spPr>
          <a:xfrm rot="20264836">
            <a:off x="9515919" y="6343935"/>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8B0B1ABB-E1FA-F923-C3A7-070C1AB303B4}"/>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06CAFCF7-EEF1-18FE-9BDE-19E49C703D8D}"/>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Agility Brings </a:t>
            </a:r>
            <a:r>
              <a:rPr lang="en-US" sz="3600" b="1" dirty="0">
                <a:solidFill>
                  <a:schemeClr val="accent2">
                    <a:lumMod val="75000"/>
                  </a:schemeClr>
                </a:solidFill>
                <a:latin typeface="Poppins" pitchFamily="2" charset="77"/>
                <a:cs typeface="Poppins" pitchFamily="2" charset="77"/>
              </a:rPr>
              <a:t>Development Speed</a:t>
            </a:r>
          </a:p>
        </p:txBody>
      </p:sp>
      <p:sp>
        <p:nvSpPr>
          <p:cNvPr id="13" name="TextBox 12">
            <a:extLst>
              <a:ext uri="{FF2B5EF4-FFF2-40B4-BE49-F238E27FC236}">
                <a16:creationId xmlns:a16="http://schemas.microsoft.com/office/drawing/2014/main" id="{55A0F188-C7E0-3AAD-8FC1-3597E7A62F0B}"/>
              </a:ext>
            </a:extLst>
          </p:cNvPr>
          <p:cNvSpPr txBox="1"/>
          <p:nvPr/>
        </p:nvSpPr>
        <p:spPr>
          <a:xfrm>
            <a:off x="1264794" y="4813978"/>
            <a:ext cx="9735438" cy="711733"/>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dirty="0">
                <a:solidFill>
                  <a:srgbClr val="745A00"/>
                </a:solidFill>
                <a:latin typeface="Poppins" pitchFamily="2" charset="77"/>
                <a:cs typeface="Poppins" pitchFamily="2" charset="77"/>
              </a:rPr>
              <a:t>MongoDB’s flexible schema model can accelerate development cycles by reducing the need for early, rigid database design decisions, facilitating agile and iterative development.</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8" name="TextBox 17">
            <a:extLst>
              <a:ext uri="{FF2B5EF4-FFF2-40B4-BE49-F238E27FC236}">
                <a16:creationId xmlns:a16="http://schemas.microsoft.com/office/drawing/2014/main" id="{3722323E-59AE-762A-EA2C-A5405ACFDBBC}"/>
              </a:ext>
            </a:extLst>
          </p:cNvPr>
          <p:cNvSpPr txBox="1"/>
          <p:nvPr/>
        </p:nvSpPr>
        <p:spPr>
          <a:xfrm>
            <a:off x="3633216" y="4487558"/>
            <a:ext cx="4925568"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b="1" i="0" dirty="0">
                <a:solidFill>
                  <a:srgbClr val="423300"/>
                </a:solidFill>
                <a:latin typeface="Poppins Medium" pitchFamily="2" charset="77"/>
                <a:ea typeface="+mn-ea"/>
                <a:cs typeface="Poppins Medium" pitchFamily="2" charset="77"/>
              </a:rPr>
              <a:t>Development Speed</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10" name="Picture 9">
            <a:extLst>
              <a:ext uri="{FF2B5EF4-FFF2-40B4-BE49-F238E27FC236}">
                <a16:creationId xmlns:a16="http://schemas.microsoft.com/office/drawing/2014/main" id="{3BD9A78A-BB10-CD7A-C221-2C3CC0ECA2F3}"/>
              </a:ext>
            </a:extLst>
          </p:cNvPr>
          <p:cNvPicPr>
            <a:picLocks noChangeAspect="1"/>
          </p:cNvPicPr>
          <p:nvPr/>
        </p:nvPicPr>
        <p:blipFill>
          <a:blip r:embed="rId5"/>
          <a:stretch>
            <a:fillRect/>
          </a:stretch>
        </p:blipFill>
        <p:spPr>
          <a:xfrm>
            <a:off x="814297" y="1362672"/>
            <a:ext cx="4617239" cy="2624328"/>
          </a:xfrm>
          <a:prstGeom prst="rect">
            <a:avLst/>
          </a:prstGeom>
        </p:spPr>
      </p:pic>
      <p:pic>
        <p:nvPicPr>
          <p:cNvPr id="20" name="Picture 19">
            <a:extLst>
              <a:ext uri="{FF2B5EF4-FFF2-40B4-BE49-F238E27FC236}">
                <a16:creationId xmlns:a16="http://schemas.microsoft.com/office/drawing/2014/main" id="{19175FF9-4F3F-F2C3-F907-B52623E59022}"/>
              </a:ext>
            </a:extLst>
          </p:cNvPr>
          <p:cNvPicPr>
            <a:picLocks noChangeAspect="1"/>
          </p:cNvPicPr>
          <p:nvPr/>
        </p:nvPicPr>
        <p:blipFill>
          <a:blip r:embed="rId6"/>
          <a:stretch>
            <a:fillRect/>
          </a:stretch>
        </p:blipFill>
        <p:spPr>
          <a:xfrm>
            <a:off x="5760719" y="1368044"/>
            <a:ext cx="5635781" cy="2607761"/>
          </a:xfrm>
          <a:prstGeom prst="rect">
            <a:avLst/>
          </a:prstGeom>
        </p:spPr>
      </p:pic>
    </p:spTree>
    <p:extLst>
      <p:ext uri="{BB962C8B-B14F-4D97-AF65-F5344CB8AC3E}">
        <p14:creationId xmlns:p14="http://schemas.microsoft.com/office/powerpoint/2010/main" val="242680399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E3889A5-D936-995E-3657-278170999EB2}"/>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4FBDFDB2-5229-2B1D-619B-1BC8E1BD051E}"/>
              </a:ext>
            </a:extLst>
          </p:cNvPr>
          <p:cNvSpPr/>
          <p:nvPr/>
        </p:nvSpPr>
        <p:spPr>
          <a:xfrm rot="2055929">
            <a:off x="551269" y="1058557"/>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D239883B-6856-62C1-1FFE-25D0FC47F467}"/>
              </a:ext>
            </a:extLst>
          </p:cNvPr>
          <p:cNvSpPr/>
          <p:nvPr/>
        </p:nvSpPr>
        <p:spPr>
          <a:xfrm rot="787370">
            <a:off x="10090618" y="5923504"/>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92224ACD-A792-8271-8F80-65390310F4DF}"/>
              </a:ext>
            </a:extLst>
          </p:cNvPr>
          <p:cNvSpPr/>
          <p:nvPr/>
        </p:nvSpPr>
        <p:spPr>
          <a:xfrm rot="20264836">
            <a:off x="1312900" y="6110639"/>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F7DAFBB2-8BDD-3C3D-7110-E28D9A9DDF16}"/>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F710CAE1-0886-10A1-9B82-7DFBF03078EA}"/>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NOT a Solution </a:t>
            </a:r>
            <a:r>
              <a:rPr lang="en-US" sz="3600" b="1" dirty="0">
                <a:solidFill>
                  <a:schemeClr val="accent2">
                    <a:lumMod val="75000"/>
                  </a:schemeClr>
                </a:solidFill>
                <a:latin typeface="Poppins" pitchFamily="2" charset="77"/>
                <a:cs typeface="Poppins" pitchFamily="2" charset="77"/>
              </a:rPr>
              <a:t>For All Use Cases</a:t>
            </a:r>
          </a:p>
        </p:txBody>
      </p:sp>
      <p:sp>
        <p:nvSpPr>
          <p:cNvPr id="15" name="TextBox 14">
            <a:extLst>
              <a:ext uri="{FF2B5EF4-FFF2-40B4-BE49-F238E27FC236}">
                <a16:creationId xmlns:a16="http://schemas.microsoft.com/office/drawing/2014/main" id="{EA7CE07A-AA34-2A81-BD1B-E04C851319A6}"/>
              </a:ext>
            </a:extLst>
          </p:cNvPr>
          <p:cNvSpPr txBox="1"/>
          <p:nvPr/>
        </p:nvSpPr>
        <p:spPr>
          <a:xfrm>
            <a:off x="4794504" y="4142924"/>
            <a:ext cx="2602992"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b="1" i="0" dirty="0">
                <a:solidFill>
                  <a:srgbClr val="423300"/>
                </a:solidFill>
                <a:latin typeface="Poppins Medium" pitchFamily="2" charset="77"/>
                <a:ea typeface="+mn-ea"/>
                <a:cs typeface="Poppins Medium" pitchFamily="2" charset="77"/>
              </a:rPr>
              <a:t>Disclaimer</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7" name="TextBox 16">
            <a:extLst>
              <a:ext uri="{FF2B5EF4-FFF2-40B4-BE49-F238E27FC236}">
                <a16:creationId xmlns:a16="http://schemas.microsoft.com/office/drawing/2014/main" id="{1EA6E264-229C-CFA5-A045-DF22D3C43785}"/>
              </a:ext>
            </a:extLst>
          </p:cNvPr>
          <p:cNvSpPr txBox="1"/>
          <p:nvPr/>
        </p:nvSpPr>
        <p:spPr>
          <a:xfrm>
            <a:off x="1036320" y="4613924"/>
            <a:ext cx="10119360" cy="1034899"/>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dirty="0">
                <a:solidFill>
                  <a:srgbClr val="745A00"/>
                </a:solidFill>
                <a:latin typeface="Poppins" pitchFamily="2" charset="77"/>
                <a:cs typeface="Poppins" pitchFamily="2" charset="77"/>
              </a:rPr>
              <a:t>While MongoDB offers flexibility and scalability, it's not ideal for applications requiring complex transactions with multiple operations or strict relational data integrity. Its eventual consistency model can also be unsuitable for systems that need immediate consistency, such as financial services or booking systems.</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10" name="Picture 9">
            <a:extLst>
              <a:ext uri="{FF2B5EF4-FFF2-40B4-BE49-F238E27FC236}">
                <a16:creationId xmlns:a16="http://schemas.microsoft.com/office/drawing/2014/main" id="{9D997ABE-1F52-2FFC-C0C5-1871A357D783}"/>
              </a:ext>
            </a:extLst>
          </p:cNvPr>
          <p:cNvPicPr>
            <a:picLocks noChangeAspect="1"/>
          </p:cNvPicPr>
          <p:nvPr/>
        </p:nvPicPr>
        <p:blipFill>
          <a:blip r:embed="rId5"/>
          <a:stretch>
            <a:fillRect/>
          </a:stretch>
        </p:blipFill>
        <p:spPr>
          <a:xfrm>
            <a:off x="5196000" y="1872708"/>
            <a:ext cx="1800000" cy="1800000"/>
          </a:xfrm>
          <a:prstGeom prst="rect">
            <a:avLst/>
          </a:prstGeom>
        </p:spPr>
      </p:pic>
    </p:spTree>
    <p:extLst>
      <p:ext uri="{BB962C8B-B14F-4D97-AF65-F5344CB8AC3E}">
        <p14:creationId xmlns:p14="http://schemas.microsoft.com/office/powerpoint/2010/main" val="39812749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5971</TotalTime>
  <Words>341</Words>
  <Application>Microsoft Macintosh PowerPoint</Application>
  <PresentationFormat>Widescreen</PresentationFormat>
  <Paragraphs>24</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Calibri Light</vt:lpstr>
      <vt:lpstr>Poppins</vt:lpstr>
      <vt:lpstr>Poppins Medium</vt:lpstr>
      <vt:lpstr>Poppins SemiBold</vt:lpstr>
      <vt:lpstr>Office Theme</vt:lpstr>
      <vt:lpstr>Advantages Of Using MongoDB</vt:lpstr>
      <vt:lpstr>Main Advantages</vt:lpstr>
      <vt:lpstr>Document Oriented Storage</vt:lpstr>
      <vt:lpstr>Schema Flexibility</vt:lpstr>
      <vt:lpstr>Agility Brings Development Speed</vt:lpstr>
      <vt:lpstr>NOT a Solution For All Use 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NESTJS</dc:title>
  <dc:creator>Microsoft Office User</dc:creator>
  <cp:lastModifiedBy>Manik Bajaj</cp:lastModifiedBy>
  <cp:revision>673</cp:revision>
  <dcterms:created xsi:type="dcterms:W3CDTF">2024-02-28T11:24:07Z</dcterms:created>
  <dcterms:modified xsi:type="dcterms:W3CDTF">2024-10-05T07:02:46Z</dcterms:modified>
</cp:coreProperties>
</file>