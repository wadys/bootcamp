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345" r:id="rId3"/>
    <p:sldId id="346" r:id="rId4"/>
    <p:sldId id="347" r:id="rId5"/>
    <p:sldId id="348" r:id="rId6"/>
    <p:sldId id="349" r:id="rId7"/>
    <p:sldId id="350" r:id="rId8"/>
    <p:sldId id="351" r:id="rId9"/>
    <p:sldId id="352" r:id="rId10"/>
    <p:sldId id="35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3300"/>
    <a:srgbClr val="745A00"/>
    <a:srgbClr val="61456A"/>
    <a:srgbClr val="C55A11"/>
    <a:srgbClr val="AD6513"/>
    <a:srgbClr val="FCC613"/>
    <a:srgbClr val="FFDD6D"/>
    <a:srgbClr val="DD53F8"/>
    <a:srgbClr val="E100FF"/>
    <a:srgbClr val="E85E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929F9F4-4A8F-4326-A1B4-22849713DDAB}" styleName="Dark Style 1 –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D083AE6-46FA-4A59-8FB0-9F97EB10719F}" styleName="Light Style 3 –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Themed Style 2 –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27102A9-8310-4765-A935-A1911B00CA55}" styleName="Light Style 1 –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–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–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015"/>
    <p:restoredTop sz="91126"/>
  </p:normalViewPr>
  <p:slideViewPr>
    <p:cSldViewPr snapToGrid="0" showGuides="1">
      <p:cViewPr varScale="1">
        <p:scale>
          <a:sx n="140" d="100"/>
          <a:sy n="140" d="100"/>
        </p:scale>
        <p:origin x="1032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CAFF5F-4593-4642-B263-46DC71846A50}" type="datetimeFigureOut">
              <a:rPr lang="en-US" smtClean="0"/>
              <a:t>10/2/24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D73B4-3B7A-5C47-BA0A-325276D0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001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08086-3F50-6B21-F11D-D596A1B28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0F869C-0979-778C-E6F3-FA2616613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F5CCF7-3D8B-35B5-4950-C203563F06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5F4C7-44EB-8560-3395-20BB16A1E7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ED73B4-3B7A-5C47-BA0A-325276D0DB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8644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2FF15-F418-E150-46FA-5665CD862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B057F5-AFCE-BE27-D4E3-280DCAA65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A8F3C2-0CAB-D4DE-C80A-2BD7435C5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6DF38-7191-8CF4-2421-53E9F8763A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ED73B4-3B7A-5C47-BA0A-325276D0DB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97327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6F559-1EE1-180D-0BBF-3B3DF007F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3C3491-4256-1EC9-F649-9B1BC052B4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CD6788-2681-EF2C-F8D6-B9CDC77177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F30048-568A-10B0-ED11-706DD76198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ED73B4-3B7A-5C47-BA0A-325276D0DB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25374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AD3EF-0A0F-DE1A-BAD2-A6115CD9B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8EA0F0-800F-B10A-F8E4-467674D7A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F4C1C4-6ABA-2222-DDAB-D88B8B6C9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F3C1D-4367-9B18-D8C8-1BBA2A601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ED73B4-3B7A-5C47-BA0A-325276D0DB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6733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2AFF1-CFEA-6CC3-66D6-157F0A7F8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A1B235-293A-7F85-15E1-6098A11A74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2CE7BA-1470-296E-EC2C-22946674F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7DEDE-41C3-FA2F-D7E8-61467E90C4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ED73B4-3B7A-5C47-BA0A-325276D0DB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44929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6DE04-6581-DC5B-C47B-3A41FFE1B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E0341C-0056-85E7-4906-A8C9287092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A1A6F2-2A34-D7B1-D8E5-3B83D577E2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639A4-0EDC-5AB2-3FE0-66FC66A90D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ED73B4-3B7A-5C47-BA0A-325276D0DB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68781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EB51D-CD6A-AD63-59A5-6FE81241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C1A3C2-793B-FFF6-2889-49B991056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9F4638-DFF4-55D5-5753-B535B58E2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49F964-E22E-DB39-92A5-7282D537BF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ED73B4-3B7A-5C47-BA0A-325276D0DB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74169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96CD3-6157-9AAD-C3B4-941B3D9D6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FC44D0-7FA4-0DC4-6041-F50BE4999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AE7476-87D6-DFC9-87A2-EE9F655381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96A71-E662-3E66-20A4-5FE571AE0A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ED73B4-3B7A-5C47-BA0A-325276D0DB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59107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A1074-9DAF-C5D0-AE9E-AADF148F5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ADF81B-8A7D-2FB8-4FA1-53D435066B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A1E804-E2CB-2B30-5465-DD989087B6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CE81A-D293-DCAF-BA83-9925A71433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ED73B4-3B7A-5C47-BA0A-325276D0DB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8639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914B0-5224-B0DF-7293-F406631750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48810A-B6B9-C0BD-1265-DFCF18146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19265-9BFA-1BC2-CDD6-47A3F947E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74205-5F65-3747-0E48-5926F2DAE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49A60-B65A-047C-1901-9E58799F4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942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10753-60BE-D4E8-DF98-50EB8781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FF022-9CC0-F395-2126-25FD48B7E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5A9DC-7053-2EC2-614A-ACE263E42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87403-D3DF-EED7-AC4A-58DC6ACD6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F9626-CF06-4327-1460-B41D736AD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89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58E38-3DF8-0E50-B41F-24E2F9647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F70C4-F003-C288-3E3B-F320E8EDA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F0F96-1D0B-7BE6-0DA5-722FDD17D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FA99A-36B8-13EE-009B-F71B62B1E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5676F-30E5-E5C7-0601-07574EB2D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519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4B8B2-55D6-055B-5C09-E65DD8C95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256CA-6EF2-B2E8-7D4B-52ECBC9585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456E81-36C0-EE8A-9E4E-8470ED18A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A4CF9-8A85-9602-5D37-E5036C3F7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8346B-1F76-4AD0-4C90-AD7234282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591F1-5E0B-7A68-8722-F15752987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74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BFBBD-1722-4224-F9BB-8EBD1C001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4CB22-1AE7-CA9A-D0DC-DC783753C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5AA36-5AC2-7491-7C18-242609E9FE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A99B3A-36E2-CFCE-6301-878B769EC1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E6ABAF-F340-A78E-DFD6-A0867F846F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F998BD-30CD-7920-E753-C252CA2B2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A7ABC1-3752-46E5-F1AF-00F01D4BE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F4455-339C-F08F-C4CD-B3F2A7952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233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AA960-22DE-E5A9-7830-63B79FA74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1E3637-07FD-41EA-C7DB-1E60FA870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1F13C8-AE6B-EC91-149D-C4F99AB0D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F6A696-6FF2-5CBD-6F28-EC15D5709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098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68334D-D93A-3844-6818-5266D3B3D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B9EED5-89A1-ACE4-55B7-3E9C29A57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A3269-AD29-F734-147B-CF871F8F9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418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EF10A-D478-0EAA-0D79-6B8962636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01B23-CF69-1895-9367-83A95BCF1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200D4B-7EEA-3448-A4D6-3B78AD012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856B4C-B757-9048-D019-358A416E5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FE17CD-B648-BBC6-40F2-86A87DD4A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5F0EB-2058-FC2E-EDCF-37CD7BC36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556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B20EC-5AFE-8DF7-F581-AEE45E4A9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69887F-796D-C2EF-5316-35FE57640F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76A06E-DDBD-D2B6-9290-9E50813A44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558D9-110B-23FB-23FE-284059F21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8022B-6382-BE9C-A25F-0B02B029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23489-F0FC-18E2-45F1-463EFAAB2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510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9BB7-6F7E-5B81-4F71-4BE777730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698EFD-6E2D-073D-2777-B8197B8AD9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CEA36-4478-D24E-E2AB-CF9EEA3E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BC77E-E47B-EBFA-D7E2-EB8CAFC4C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8DF2F-19EC-AA0F-C42C-20F34B9C7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652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DB8503-2440-79EE-E716-072BE6DE3E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F235D-189D-2752-0AD8-7B97748CA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6B4F1-B968-C9DC-36A0-40D3A924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11C7E-F8C8-E7B1-5AE1-6C0FD2430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64DB4-9403-A5D1-815E-2C890E8D9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33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9037D-89B3-121A-2C40-3A64E3262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CA659-082C-0B10-3680-E2AAC011B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14A2A-5365-7A34-B293-F60F54484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CE7AAE-89D3-5444-979C-39A9910DDA2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3B83F-380E-CA22-46AF-AE6DC794FD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D42CC-6023-539B-3E1C-4866E62C8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892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FDEFE-3BD7-6534-F0FE-3E6113B81D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796" y="2189079"/>
            <a:ext cx="9144000" cy="2030550"/>
          </a:xfrm>
          <a:ln>
            <a:noFill/>
          </a:ln>
        </p:spPr>
        <p:txBody>
          <a:bodyPr>
            <a:normAutofit/>
          </a:bodyPr>
          <a:lstStyle/>
          <a:p>
            <a:pPr algn="l"/>
            <a:r>
              <a:rPr lang="en-US" sz="38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Introducing</a:t>
            </a:r>
            <a:br>
              <a:rPr lang="en-US" sz="38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</a:br>
            <a:r>
              <a:rPr lang="en-US" sz="38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Node Package Manager (</a:t>
            </a:r>
            <a:r>
              <a:rPr lang="en-US" sz="3800" b="1" dirty="0" err="1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npm</a:t>
            </a:r>
            <a:r>
              <a:rPr lang="en-US" sz="38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)</a:t>
            </a:r>
          </a:p>
        </p:txBody>
      </p:sp>
      <p:sp>
        <p:nvSpPr>
          <p:cNvPr id="5" name="4-point Star 4">
            <a:extLst>
              <a:ext uri="{FF2B5EF4-FFF2-40B4-BE49-F238E27FC236}">
                <a16:creationId xmlns:a16="http://schemas.microsoft.com/office/drawing/2014/main" id="{72042A47-18F1-19EA-DA4D-4B338208F7AB}"/>
              </a:ext>
            </a:extLst>
          </p:cNvPr>
          <p:cNvSpPr/>
          <p:nvPr/>
        </p:nvSpPr>
        <p:spPr>
          <a:xfrm rot="2055929">
            <a:off x="2050484" y="517788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567DD399-6D96-8282-2AF3-7548B8B8E838}"/>
              </a:ext>
            </a:extLst>
          </p:cNvPr>
          <p:cNvSpPr/>
          <p:nvPr/>
        </p:nvSpPr>
        <p:spPr>
          <a:xfrm rot="787370">
            <a:off x="6810715" y="5903344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0BFD952C-DB3A-88EE-1426-2396912F87A0}"/>
              </a:ext>
            </a:extLst>
          </p:cNvPr>
          <p:cNvSpPr/>
          <p:nvPr/>
        </p:nvSpPr>
        <p:spPr>
          <a:xfrm rot="20264836">
            <a:off x="675273" y="5875098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8D7621-FC0B-5370-77AC-A12637AA9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0976C4D-1AC5-50E3-8628-B479D40EB899}"/>
              </a:ext>
            </a:extLst>
          </p:cNvPr>
          <p:cNvSpPr txBox="1">
            <a:spLocks/>
          </p:cNvSpPr>
          <p:nvPr/>
        </p:nvSpPr>
        <p:spPr>
          <a:xfrm>
            <a:off x="723796" y="4219629"/>
            <a:ext cx="9144000" cy="3919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700" dirty="0">
                <a:solidFill>
                  <a:srgbClr val="745A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Full-Stack Web Development Bootcamp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BC947DD-51D9-8B42-CFD6-9990EEEA7C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5081" y="2050247"/>
            <a:ext cx="2665532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22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DE94F7-45A3-B780-1611-0989E2B60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-point Star 4">
            <a:extLst>
              <a:ext uri="{FF2B5EF4-FFF2-40B4-BE49-F238E27FC236}">
                <a16:creationId xmlns:a16="http://schemas.microsoft.com/office/drawing/2014/main" id="{5752B060-A796-CC02-A49A-46E15B9DB8A0}"/>
              </a:ext>
            </a:extLst>
          </p:cNvPr>
          <p:cNvSpPr/>
          <p:nvPr/>
        </p:nvSpPr>
        <p:spPr>
          <a:xfrm rot="2055929">
            <a:off x="619117" y="6250266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CB53628D-1E36-4B87-73AC-7F4503E2FE32}"/>
              </a:ext>
            </a:extLst>
          </p:cNvPr>
          <p:cNvSpPr/>
          <p:nvPr/>
        </p:nvSpPr>
        <p:spPr>
          <a:xfrm rot="787370">
            <a:off x="10726457" y="368704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138B1A9C-AA7D-DC51-EADD-1D9AE4C56F1F}"/>
              </a:ext>
            </a:extLst>
          </p:cNvPr>
          <p:cNvSpPr/>
          <p:nvPr/>
        </p:nvSpPr>
        <p:spPr>
          <a:xfrm rot="20264836">
            <a:off x="11509310" y="4635490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F2325D-9631-2624-B351-7C2D71A0D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AF67CF8D-E1A7-9AE7-51FF-764F6F19DE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175" y="236"/>
            <a:ext cx="10125574" cy="867250"/>
          </a:xfrm>
        </p:spPr>
        <p:txBody>
          <a:bodyPr>
            <a:normAutofit/>
          </a:bodyPr>
          <a:lstStyle/>
          <a:p>
            <a:pPr algn="l">
              <a:lnSpc>
                <a:spcPts val="5020"/>
              </a:lnSpc>
            </a:pPr>
            <a:r>
              <a:rPr lang="en-US" sz="36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What is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Node Package Manager (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npm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DB00BE-F37E-F604-F04A-A8168FDBEFFA}"/>
              </a:ext>
            </a:extLst>
          </p:cNvPr>
          <p:cNvSpPr txBox="1"/>
          <p:nvPr/>
        </p:nvSpPr>
        <p:spPr>
          <a:xfrm>
            <a:off x="1316736" y="21214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3C20DB-B3C8-F6CB-C48A-38A57761FCEC}"/>
              </a:ext>
            </a:extLst>
          </p:cNvPr>
          <p:cNvSpPr txBox="1"/>
          <p:nvPr/>
        </p:nvSpPr>
        <p:spPr>
          <a:xfrm>
            <a:off x="1264794" y="4110984"/>
            <a:ext cx="9735438" cy="1358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45A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NPM (Node Package Manager) is a package manager for JavaScript, facilitating the sharing and consumption of code. It provides a command-line utility for interacting with a repository of public and private packages, enabling developers to easily install, manage, and distribute packages within their software environments.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A70DFE9-E909-20F6-E298-08FD843F4E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941" y="2306074"/>
            <a:ext cx="2777143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993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94A702-9FA1-10AD-9495-8E24BE90D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-point Star 4">
            <a:extLst>
              <a:ext uri="{FF2B5EF4-FFF2-40B4-BE49-F238E27FC236}">
                <a16:creationId xmlns:a16="http://schemas.microsoft.com/office/drawing/2014/main" id="{CBAE8832-0EAE-B190-98A4-0FE21A6A0B10}"/>
              </a:ext>
            </a:extLst>
          </p:cNvPr>
          <p:cNvSpPr/>
          <p:nvPr/>
        </p:nvSpPr>
        <p:spPr>
          <a:xfrm rot="2055929">
            <a:off x="551269" y="1539868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BB800D5E-E069-277E-ECAD-0C9A86BF321A}"/>
              </a:ext>
            </a:extLst>
          </p:cNvPr>
          <p:cNvSpPr/>
          <p:nvPr/>
        </p:nvSpPr>
        <p:spPr>
          <a:xfrm rot="787370">
            <a:off x="10402717" y="6268520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4A9C3BD9-C9E4-19E6-D2C5-A3742C432B06}"/>
              </a:ext>
            </a:extLst>
          </p:cNvPr>
          <p:cNvSpPr/>
          <p:nvPr/>
        </p:nvSpPr>
        <p:spPr>
          <a:xfrm rot="20264836">
            <a:off x="1058315" y="6275054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BD60B3-B39F-1E17-21B8-99D253527E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6BE6DAE8-7C25-F249-D991-EE7CE9E617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175" y="236"/>
            <a:ext cx="10125574" cy="867250"/>
          </a:xfrm>
        </p:spPr>
        <p:txBody>
          <a:bodyPr>
            <a:normAutofit/>
          </a:bodyPr>
          <a:lstStyle/>
          <a:p>
            <a:pPr algn="l">
              <a:lnSpc>
                <a:spcPts val="5020"/>
              </a:lnSpc>
            </a:pPr>
            <a:r>
              <a:rPr lang="en-US" sz="36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Use Ready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Packages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F47E2B-8834-D68C-F40C-B707DAEDE3A2}"/>
              </a:ext>
            </a:extLst>
          </p:cNvPr>
          <p:cNvSpPr txBox="1"/>
          <p:nvPr/>
        </p:nvSpPr>
        <p:spPr>
          <a:xfrm>
            <a:off x="1260706" y="4833178"/>
            <a:ext cx="9735438" cy="1034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45A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NPM hosts community-created packages that act like building blocks for applications, offering reusable functionalities. These packages can be easily integrated into your projects, streamlining development by providing pre-built solutions for common programming tasks and challenges.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76499D-0CB6-5BDC-EB20-4490098DAF9B}"/>
              </a:ext>
            </a:extLst>
          </p:cNvPr>
          <p:cNvSpPr/>
          <p:nvPr/>
        </p:nvSpPr>
        <p:spPr>
          <a:xfrm>
            <a:off x="7149183" y="1366408"/>
            <a:ext cx="3221315" cy="2967848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423425-DE37-7CB4-D93E-20EE458D1FCC}"/>
              </a:ext>
            </a:extLst>
          </p:cNvPr>
          <p:cNvSpPr txBox="1"/>
          <p:nvPr/>
        </p:nvSpPr>
        <p:spPr>
          <a:xfrm>
            <a:off x="7679535" y="1457344"/>
            <a:ext cx="2170050" cy="388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400" b="1" u="none" strike="noStrike" kern="1200" cap="none" spc="0" normalizeH="0" baseline="0" noProof="0" dirty="0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 SemiBold" pitchFamily="2" charset="77"/>
                <a:cs typeface="Poppins SemiBold" pitchFamily="2" charset="77"/>
              </a:rPr>
              <a:t>Your Application</a:t>
            </a:r>
            <a:endParaRPr lang="en-US" sz="1400" dirty="0">
              <a:solidFill>
                <a:srgbClr val="745A00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EFCCB9-B42F-FB72-842C-7CC377FDE278}"/>
              </a:ext>
            </a:extLst>
          </p:cNvPr>
          <p:cNvSpPr/>
          <p:nvPr/>
        </p:nvSpPr>
        <p:spPr>
          <a:xfrm>
            <a:off x="1891383" y="1366408"/>
            <a:ext cx="3221315" cy="2967848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24D318-4C00-4ABE-3722-36BAE72FCDD2}"/>
              </a:ext>
            </a:extLst>
          </p:cNvPr>
          <p:cNvSpPr txBox="1"/>
          <p:nvPr/>
        </p:nvSpPr>
        <p:spPr>
          <a:xfrm>
            <a:off x="2421735" y="1457344"/>
            <a:ext cx="2170050" cy="388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400" b="1" u="none" strike="noStrike" kern="1200" cap="none" spc="0" normalizeH="0" baseline="0" noProof="0" dirty="0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 SemiBold" pitchFamily="2" charset="77"/>
                <a:cs typeface="Poppins SemiBold" pitchFamily="2" charset="77"/>
              </a:rPr>
              <a:t>Packages On </a:t>
            </a:r>
            <a:r>
              <a:rPr kumimoji="0" lang="en-US" sz="1400" b="1" u="none" strike="noStrike" kern="1200" cap="none" spc="0" normalizeH="0" baseline="0" noProof="0" dirty="0" err="1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 SemiBold" pitchFamily="2" charset="77"/>
                <a:cs typeface="Poppins SemiBold" pitchFamily="2" charset="77"/>
              </a:rPr>
              <a:t>npm</a:t>
            </a:r>
            <a:endParaRPr lang="en-US" sz="1400" dirty="0">
              <a:solidFill>
                <a:srgbClr val="745A00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A7A20CB-71BA-04DB-88EB-2A1CB4E12E08}"/>
              </a:ext>
            </a:extLst>
          </p:cNvPr>
          <p:cNvSpPr/>
          <p:nvPr/>
        </p:nvSpPr>
        <p:spPr>
          <a:xfrm>
            <a:off x="2421735" y="2006366"/>
            <a:ext cx="2160000" cy="396000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body-parser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F7E3306-344F-FBF9-E5EF-97B3E1205240}"/>
              </a:ext>
            </a:extLst>
          </p:cNvPr>
          <p:cNvSpPr/>
          <p:nvPr/>
        </p:nvSpPr>
        <p:spPr>
          <a:xfrm>
            <a:off x="2421735" y="2582438"/>
            <a:ext cx="2160000" cy="396000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express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A77FD2E-16EE-06F9-B017-8C81D4AD062C}"/>
              </a:ext>
            </a:extLst>
          </p:cNvPr>
          <p:cNvSpPr/>
          <p:nvPr/>
        </p:nvSpPr>
        <p:spPr>
          <a:xfrm>
            <a:off x="2421735" y="3162340"/>
            <a:ext cx="2160000" cy="396000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nodemon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E1824B8-DB45-9499-0EDD-A9B41F973C81}"/>
              </a:ext>
            </a:extLst>
          </p:cNvPr>
          <p:cNvSpPr/>
          <p:nvPr/>
        </p:nvSpPr>
        <p:spPr>
          <a:xfrm>
            <a:off x="2421735" y="3738412"/>
            <a:ext cx="2160000" cy="396000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dotenv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0A210225-70DC-C9C6-8487-DD25CE497E85}"/>
              </a:ext>
            </a:extLst>
          </p:cNvPr>
          <p:cNvSpPr/>
          <p:nvPr/>
        </p:nvSpPr>
        <p:spPr>
          <a:xfrm>
            <a:off x="7661247" y="2006366"/>
            <a:ext cx="2160000" cy="396000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body-parser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82434A14-BB4A-195B-D321-085F11294511}"/>
              </a:ext>
            </a:extLst>
          </p:cNvPr>
          <p:cNvSpPr/>
          <p:nvPr/>
        </p:nvSpPr>
        <p:spPr>
          <a:xfrm>
            <a:off x="7661247" y="2582438"/>
            <a:ext cx="2160000" cy="396000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express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01100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7AF53-8085-C5E6-E6C8-4607B0102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-point Star 4">
            <a:extLst>
              <a:ext uri="{FF2B5EF4-FFF2-40B4-BE49-F238E27FC236}">
                <a16:creationId xmlns:a16="http://schemas.microsoft.com/office/drawing/2014/main" id="{23EDF0CA-8842-13DF-9A0F-1B68D1FD5BFD}"/>
              </a:ext>
            </a:extLst>
          </p:cNvPr>
          <p:cNvSpPr/>
          <p:nvPr/>
        </p:nvSpPr>
        <p:spPr>
          <a:xfrm rot="2055929">
            <a:off x="619117" y="6250266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28212D50-062A-F7F3-9C0A-80DF4F97AC10}"/>
              </a:ext>
            </a:extLst>
          </p:cNvPr>
          <p:cNvSpPr/>
          <p:nvPr/>
        </p:nvSpPr>
        <p:spPr>
          <a:xfrm rot="787370">
            <a:off x="8534862" y="164451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7DC81534-CFB6-32C5-89DA-B143399A1C29}"/>
              </a:ext>
            </a:extLst>
          </p:cNvPr>
          <p:cNvSpPr/>
          <p:nvPr/>
        </p:nvSpPr>
        <p:spPr>
          <a:xfrm rot="20264836">
            <a:off x="11509310" y="4635490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BC7E46-B557-8225-B5D8-034656688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7389A999-A860-70CE-980A-F0047A070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175" y="236"/>
            <a:ext cx="10125574" cy="867250"/>
          </a:xfrm>
        </p:spPr>
        <p:txBody>
          <a:bodyPr>
            <a:normAutofit/>
          </a:bodyPr>
          <a:lstStyle/>
          <a:p>
            <a:pPr algn="l">
              <a:lnSpc>
                <a:spcPts val="5020"/>
              </a:lnSpc>
            </a:pPr>
            <a:r>
              <a:rPr lang="en-US" sz="36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Introducing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package.json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A79313-318D-F47E-6004-D2D54981FB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058" y="2599414"/>
            <a:ext cx="3821446" cy="16591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251757B-1AC2-C9F7-EB12-258231F14A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4458" y="1332198"/>
            <a:ext cx="5496369" cy="437083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C6BF4AC-6C3E-730A-977D-0AD018C8260C}"/>
              </a:ext>
            </a:extLst>
          </p:cNvPr>
          <p:cNvSpPr txBox="1"/>
          <p:nvPr/>
        </p:nvSpPr>
        <p:spPr>
          <a:xfrm>
            <a:off x="1078058" y="4251159"/>
            <a:ext cx="2612130" cy="325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Location of package</a:t>
            </a:r>
            <a:r>
              <a:rPr lang="en-US" sz="1100" dirty="0">
                <a:solidFill>
                  <a:srgbClr val="ED7D31">
                    <a:lumMod val="75000"/>
                  </a:srgbClr>
                </a:solidFill>
                <a:latin typeface="Poppins"/>
              </a:rPr>
              <a:t>.</a:t>
            </a:r>
            <a:r>
              <a:rPr lang="en-US" sz="1100" dirty="0" err="1">
                <a:solidFill>
                  <a:srgbClr val="ED7D31">
                    <a:lumMod val="75000"/>
                  </a:srgbClr>
                </a:solidFill>
                <a:latin typeface="Poppins"/>
              </a:rPr>
              <a:t>json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4F001A-0B27-7FD9-0AFA-842B927402E3}"/>
              </a:ext>
            </a:extLst>
          </p:cNvPr>
          <p:cNvSpPr txBox="1"/>
          <p:nvPr/>
        </p:nvSpPr>
        <p:spPr>
          <a:xfrm>
            <a:off x="5768930" y="5769063"/>
            <a:ext cx="2612130" cy="325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Contents of package</a:t>
            </a:r>
            <a:r>
              <a:rPr lang="en-US" sz="1100" dirty="0">
                <a:solidFill>
                  <a:srgbClr val="ED7D31">
                    <a:lumMod val="75000"/>
                  </a:srgbClr>
                </a:solidFill>
                <a:latin typeface="Poppins"/>
              </a:rPr>
              <a:t>.</a:t>
            </a:r>
            <a:r>
              <a:rPr lang="en-US" sz="1100" dirty="0" err="1">
                <a:solidFill>
                  <a:srgbClr val="ED7D31">
                    <a:lumMod val="75000"/>
                  </a:srgbClr>
                </a:solidFill>
                <a:latin typeface="Poppins"/>
              </a:rPr>
              <a:t>json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193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3BED1C-58C4-1657-8B08-5868FFD60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-point Star 4">
            <a:extLst>
              <a:ext uri="{FF2B5EF4-FFF2-40B4-BE49-F238E27FC236}">
                <a16:creationId xmlns:a16="http://schemas.microsoft.com/office/drawing/2014/main" id="{E026A533-D601-E000-0130-B9D8A4C272E5}"/>
              </a:ext>
            </a:extLst>
          </p:cNvPr>
          <p:cNvSpPr/>
          <p:nvPr/>
        </p:nvSpPr>
        <p:spPr>
          <a:xfrm rot="2055929">
            <a:off x="551269" y="1119244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95B1EC6A-AC50-020B-6DAD-659EAD0F6C1B}"/>
              </a:ext>
            </a:extLst>
          </p:cNvPr>
          <p:cNvSpPr/>
          <p:nvPr/>
        </p:nvSpPr>
        <p:spPr>
          <a:xfrm rot="787370">
            <a:off x="10402717" y="6268520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526BD48F-86B7-6001-C2FD-6FE692453B92}"/>
              </a:ext>
            </a:extLst>
          </p:cNvPr>
          <p:cNvSpPr/>
          <p:nvPr/>
        </p:nvSpPr>
        <p:spPr>
          <a:xfrm rot="20264836">
            <a:off x="870401" y="6071061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52A64B-E7DA-1AB6-BB97-9B9E97A9E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0D2CC5F2-7630-AF50-898A-53A4B7B44C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175" y="236"/>
            <a:ext cx="10125574" cy="867250"/>
          </a:xfrm>
        </p:spPr>
        <p:txBody>
          <a:bodyPr>
            <a:normAutofit/>
          </a:bodyPr>
          <a:lstStyle/>
          <a:p>
            <a:pPr algn="l">
              <a:lnSpc>
                <a:spcPts val="5020"/>
              </a:lnSpc>
            </a:pPr>
            <a:r>
              <a:rPr lang="en-US" sz="36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Scope Of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npm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 Packages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7544DB-7D67-6853-8120-591F9AE735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5248314"/>
              </p:ext>
            </p:extLst>
          </p:nvPr>
        </p:nvGraphicFramePr>
        <p:xfrm>
          <a:off x="1244501" y="1541428"/>
          <a:ext cx="9793224" cy="411911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624328">
                  <a:extLst>
                    <a:ext uri="{9D8B030D-6E8A-4147-A177-3AD203B41FA5}">
                      <a16:colId xmlns:a16="http://schemas.microsoft.com/office/drawing/2014/main" val="3687275145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3244133774"/>
                    </a:ext>
                  </a:extLst>
                </a:gridCol>
                <a:gridCol w="3575304">
                  <a:extLst>
                    <a:ext uri="{9D8B030D-6E8A-4147-A177-3AD203B41FA5}">
                      <a16:colId xmlns:a16="http://schemas.microsoft.com/office/drawing/2014/main" val="23798452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300" dirty="0">
                          <a:solidFill>
                            <a:srgbClr val="423300"/>
                          </a:solidFill>
                        </a:rPr>
                        <a:t>Particulars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300" dirty="0">
                          <a:solidFill>
                            <a:srgbClr val="423300"/>
                          </a:solidFill>
                        </a:rPr>
                        <a:t>Global Packages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300" dirty="0">
                          <a:solidFill>
                            <a:srgbClr val="423300"/>
                          </a:solidFill>
                        </a:rPr>
                        <a:t>Local Packages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1518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300" dirty="0">
                          <a:solidFill>
                            <a:srgbClr val="423300"/>
                          </a:solidFill>
                        </a:rPr>
                        <a:t>Scope of Installation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300" dirty="0">
                          <a:solidFill>
                            <a:srgbClr val="745A00"/>
                          </a:solidFill>
                        </a:rPr>
                        <a:t>Installed once on a system and are available across all projects. You can run them from any location in your system's command line.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300" dirty="0">
                          <a:solidFill>
                            <a:srgbClr val="745A00"/>
                          </a:solidFill>
                        </a:rPr>
                        <a:t>Installed within a specific project directory and are only accessible within that project. They are used in the context of the project they belong to.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034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300" dirty="0">
                          <a:solidFill>
                            <a:srgbClr val="423300"/>
                          </a:solidFill>
                        </a:rPr>
                        <a:t>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rgbClr val="745A00"/>
                          </a:solidFill>
                        </a:rPr>
                        <a:t>Typically used for command-line tools and utilities that you want to use across multiple projects, or for packages that provide commands that you run from the terminal.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300" dirty="0">
                          <a:solidFill>
                            <a:srgbClr val="745A00"/>
                          </a:solidFill>
                        </a:rPr>
                        <a:t>Generally include libraries or frameworks that your project code depends on directly. These packages are integrated into your application's codebase.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743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300" dirty="0">
                          <a:solidFill>
                            <a:srgbClr val="423300"/>
                          </a:solidFill>
                        </a:rPr>
                        <a:t>Dependency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rgbClr val="745A00"/>
                          </a:solidFill>
                        </a:rPr>
                        <a:t>Not listed in your project’s </a:t>
                      </a:r>
                      <a:r>
                        <a:rPr lang="en-US" sz="1300" dirty="0" err="1">
                          <a:solidFill>
                            <a:srgbClr val="745A00"/>
                          </a:solidFill>
                        </a:rPr>
                        <a:t>package.json</a:t>
                      </a:r>
                      <a:r>
                        <a:rPr lang="en-US" sz="1300" dirty="0">
                          <a:solidFill>
                            <a:srgbClr val="745A00"/>
                          </a:solidFill>
                        </a:rPr>
                        <a:t> file and do not affect the project’s environment directly. They are managed separately by </a:t>
                      </a:r>
                      <a:r>
                        <a:rPr lang="en-US" sz="1300" dirty="0" err="1">
                          <a:solidFill>
                            <a:srgbClr val="745A00"/>
                          </a:solidFill>
                        </a:rPr>
                        <a:t>npm</a:t>
                      </a:r>
                      <a:r>
                        <a:rPr lang="en-US" sz="1300" dirty="0">
                          <a:solidFill>
                            <a:srgbClr val="745A00"/>
                          </a:solidFill>
                        </a:rPr>
                        <a:t> at a system level.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300" dirty="0">
                          <a:solidFill>
                            <a:srgbClr val="745A00"/>
                          </a:solidFill>
                        </a:rPr>
                        <a:t>Automatically added to your project’s </a:t>
                      </a:r>
                      <a:r>
                        <a:rPr lang="en-US" sz="1300" dirty="0" err="1">
                          <a:solidFill>
                            <a:srgbClr val="745A00"/>
                          </a:solidFill>
                        </a:rPr>
                        <a:t>package.json</a:t>
                      </a:r>
                      <a:r>
                        <a:rPr lang="en-US" sz="1300" dirty="0">
                          <a:solidFill>
                            <a:srgbClr val="745A00"/>
                          </a:solidFill>
                        </a:rPr>
                        <a:t> file under dependencies or </a:t>
                      </a:r>
                      <a:r>
                        <a:rPr lang="en-US" sz="1300" dirty="0" err="1">
                          <a:solidFill>
                            <a:srgbClr val="745A00"/>
                          </a:solidFill>
                        </a:rPr>
                        <a:t>devDependencies</a:t>
                      </a:r>
                      <a:r>
                        <a:rPr lang="en-US" sz="1300" dirty="0">
                          <a:solidFill>
                            <a:srgbClr val="745A00"/>
                          </a:solidFill>
                        </a:rPr>
                        <a:t>, which tracks versioning and dependencies for other developers and environments.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2368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4754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FFF84C-B06D-CFFC-C8EA-B4B33D4F9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-point Star 4">
            <a:extLst>
              <a:ext uri="{FF2B5EF4-FFF2-40B4-BE49-F238E27FC236}">
                <a16:creationId xmlns:a16="http://schemas.microsoft.com/office/drawing/2014/main" id="{4C5C558C-FE7E-BF61-5BA5-0E22D4CC2E89}"/>
              </a:ext>
            </a:extLst>
          </p:cNvPr>
          <p:cNvSpPr/>
          <p:nvPr/>
        </p:nvSpPr>
        <p:spPr>
          <a:xfrm rot="2055929">
            <a:off x="619117" y="6250266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92A5ACAB-0921-B90E-613A-37B4842E49DD}"/>
              </a:ext>
            </a:extLst>
          </p:cNvPr>
          <p:cNvSpPr/>
          <p:nvPr/>
        </p:nvSpPr>
        <p:spPr>
          <a:xfrm rot="787370">
            <a:off x="8534862" y="164451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0C6D8099-7D07-7F86-3858-B71DF327E1FE}"/>
              </a:ext>
            </a:extLst>
          </p:cNvPr>
          <p:cNvSpPr/>
          <p:nvPr/>
        </p:nvSpPr>
        <p:spPr>
          <a:xfrm rot="20264836">
            <a:off x="11509310" y="4635490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A888C9-455E-763A-001E-9E9C40B415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5ADFBC3D-596B-DB7E-B7DE-42EA77E30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175" y="236"/>
            <a:ext cx="10125574" cy="867250"/>
          </a:xfrm>
        </p:spPr>
        <p:txBody>
          <a:bodyPr>
            <a:normAutofit/>
          </a:bodyPr>
          <a:lstStyle/>
          <a:p>
            <a:pPr algn="l">
              <a:lnSpc>
                <a:spcPts val="5020"/>
              </a:lnSpc>
            </a:pPr>
            <a:r>
              <a:rPr lang="en-US" sz="36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Important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npm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 Commands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E014B9-71EC-D9E9-9DB2-09061B13E3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1399032"/>
            <a:ext cx="7772400" cy="442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4518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59D3E2-5927-B2C4-B2B9-B07E9DE7A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-point Star 4">
            <a:extLst>
              <a:ext uri="{FF2B5EF4-FFF2-40B4-BE49-F238E27FC236}">
                <a16:creationId xmlns:a16="http://schemas.microsoft.com/office/drawing/2014/main" id="{FF09C2BA-1FDB-6960-14C6-EE3116AD719B}"/>
              </a:ext>
            </a:extLst>
          </p:cNvPr>
          <p:cNvSpPr/>
          <p:nvPr/>
        </p:nvSpPr>
        <p:spPr>
          <a:xfrm rot="2055929">
            <a:off x="551269" y="1119244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27523DE9-1733-F96E-05F3-0C4517557209}"/>
              </a:ext>
            </a:extLst>
          </p:cNvPr>
          <p:cNvSpPr/>
          <p:nvPr/>
        </p:nvSpPr>
        <p:spPr>
          <a:xfrm rot="787370">
            <a:off x="10402717" y="6268520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CB432034-6DFA-51DB-8DE7-407866DC5335}"/>
              </a:ext>
            </a:extLst>
          </p:cNvPr>
          <p:cNvSpPr/>
          <p:nvPr/>
        </p:nvSpPr>
        <p:spPr>
          <a:xfrm rot="20264836">
            <a:off x="870401" y="6071061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B52378-C5C2-BEF3-7B55-74A077DBEC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7C03123D-DF99-E486-252E-03EBC8E6A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175" y="236"/>
            <a:ext cx="10125574" cy="867250"/>
          </a:xfrm>
        </p:spPr>
        <p:txBody>
          <a:bodyPr>
            <a:normAutofit/>
          </a:bodyPr>
          <a:lstStyle/>
          <a:p>
            <a:pPr algn="l">
              <a:lnSpc>
                <a:spcPts val="5020"/>
              </a:lnSpc>
            </a:pPr>
            <a:r>
              <a:rPr lang="en-US" sz="36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Understanding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Semantic Versioning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7E5F43-6C66-E381-95E8-9A1D4AA7F6E0}"/>
              </a:ext>
            </a:extLst>
          </p:cNvPr>
          <p:cNvSpPr txBox="1"/>
          <p:nvPr/>
        </p:nvSpPr>
        <p:spPr>
          <a:xfrm>
            <a:off x="2580132" y="3657375"/>
            <a:ext cx="7178040" cy="1034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IN" sz="1400" b="1" dirty="0">
                <a:solidFill>
                  <a:srgbClr val="423300"/>
                </a:solidFill>
                <a:effectLst/>
                <a:latin typeface="Poppins SemiBold" pitchFamily="2" charset="77"/>
                <a:cs typeface="Poppins SemiBold" pitchFamily="2" charset="77"/>
              </a:rPr>
              <a:t>MAJOR</a:t>
            </a:r>
            <a:r>
              <a:rPr lang="en-IN" sz="1400" b="0" i="0" dirty="0">
                <a:solidFill>
                  <a:srgbClr val="423300"/>
                </a:solidFill>
                <a:effectLst/>
                <a:latin typeface="Poppins" pitchFamily="2" charset="77"/>
                <a:cs typeface="Poppins" pitchFamily="2" charset="77"/>
              </a:rPr>
              <a:t> version when you make incompatible API changes</a:t>
            </a:r>
          </a:p>
          <a:p>
            <a:pPr algn="l">
              <a:lnSpc>
                <a:spcPct val="150000"/>
              </a:lnSpc>
            </a:pPr>
            <a:r>
              <a:rPr lang="en-IN" sz="1400" b="1" dirty="0">
                <a:solidFill>
                  <a:srgbClr val="423300"/>
                </a:solidFill>
                <a:latin typeface="Poppins SemiBold" pitchFamily="2" charset="77"/>
                <a:cs typeface="Poppins SemiBold" pitchFamily="2" charset="77"/>
              </a:rPr>
              <a:t>MINOR</a:t>
            </a:r>
            <a:r>
              <a:rPr lang="en-IN" sz="1400" b="0" i="0" dirty="0">
                <a:solidFill>
                  <a:srgbClr val="423300"/>
                </a:solidFill>
                <a:effectLst/>
                <a:latin typeface="Poppins" pitchFamily="2" charset="77"/>
                <a:cs typeface="Poppins" pitchFamily="2" charset="77"/>
              </a:rPr>
              <a:t> version when you add functionality in a backward compatible manner</a:t>
            </a:r>
          </a:p>
          <a:p>
            <a:pPr algn="l">
              <a:lnSpc>
                <a:spcPct val="150000"/>
              </a:lnSpc>
            </a:pPr>
            <a:r>
              <a:rPr lang="en-IN" sz="1400" b="1" dirty="0">
                <a:solidFill>
                  <a:srgbClr val="423300"/>
                </a:solidFill>
                <a:latin typeface="Poppins SemiBold" pitchFamily="2" charset="77"/>
                <a:cs typeface="Poppins SemiBold" pitchFamily="2" charset="77"/>
              </a:rPr>
              <a:t>PATCH</a:t>
            </a:r>
            <a:r>
              <a:rPr lang="en-IN" sz="1400" b="0" i="0" dirty="0">
                <a:solidFill>
                  <a:srgbClr val="423300"/>
                </a:solidFill>
                <a:effectLst/>
                <a:latin typeface="Poppins" pitchFamily="2" charset="77"/>
                <a:cs typeface="Poppins" pitchFamily="2" charset="77"/>
              </a:rPr>
              <a:t> version when you make backward compatible bug fixes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C92D08-9958-3A08-9E88-2D3FD1448B8A}"/>
              </a:ext>
            </a:extLst>
          </p:cNvPr>
          <p:cNvSpPr txBox="1"/>
          <p:nvPr/>
        </p:nvSpPr>
        <p:spPr>
          <a:xfrm>
            <a:off x="3048762" y="2101558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i="0" dirty="0">
                <a:solidFill>
                  <a:schemeClr val="accent2">
                    <a:lumMod val="75000"/>
                  </a:schemeClr>
                </a:solidFill>
                <a:effectLst/>
                <a:latin typeface="Poppins" pitchFamily="2" charset="77"/>
                <a:cs typeface="Poppins" pitchFamily="2" charset="77"/>
              </a:rPr>
              <a:t>Version - 2.9.1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4DFDD9-BF5C-5DE9-1BA0-EF9B7F3C34AF}"/>
              </a:ext>
            </a:extLst>
          </p:cNvPr>
          <p:cNvSpPr txBox="1"/>
          <p:nvPr/>
        </p:nvSpPr>
        <p:spPr>
          <a:xfrm>
            <a:off x="2506980" y="2742975"/>
            <a:ext cx="7178040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1400" b="1" dirty="0">
                <a:solidFill>
                  <a:schemeClr val="accent2">
                    <a:lumMod val="75000"/>
                  </a:schemeClr>
                </a:solidFill>
                <a:effectLst/>
                <a:latin typeface="Poppins SemiBold" pitchFamily="2" charset="77"/>
                <a:cs typeface="Poppins SemiBold" pitchFamily="2" charset="77"/>
              </a:rPr>
              <a:t>MAJOR . MINOR . PATCH</a:t>
            </a:r>
            <a:endParaRPr lang="en-IN" sz="1400" b="0" i="0" dirty="0">
              <a:solidFill>
                <a:schemeClr val="accent2">
                  <a:lumMod val="75000"/>
                </a:schemeClr>
              </a:solidFill>
              <a:effectLst/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031692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629A40-5886-44E4-D85C-32DBE797C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-point Star 4">
            <a:extLst>
              <a:ext uri="{FF2B5EF4-FFF2-40B4-BE49-F238E27FC236}">
                <a16:creationId xmlns:a16="http://schemas.microsoft.com/office/drawing/2014/main" id="{B94F5B85-ED13-1D44-8225-E853A567D2FD}"/>
              </a:ext>
            </a:extLst>
          </p:cNvPr>
          <p:cNvSpPr/>
          <p:nvPr/>
        </p:nvSpPr>
        <p:spPr>
          <a:xfrm rot="2055929">
            <a:off x="619117" y="6250266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2867590C-5A97-82EA-F30B-2EAA1FA6DE3B}"/>
              </a:ext>
            </a:extLst>
          </p:cNvPr>
          <p:cNvSpPr/>
          <p:nvPr/>
        </p:nvSpPr>
        <p:spPr>
          <a:xfrm rot="787370">
            <a:off x="8534862" y="164451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F7780618-F012-B657-3AE2-E103B058C2A6}"/>
              </a:ext>
            </a:extLst>
          </p:cNvPr>
          <p:cNvSpPr/>
          <p:nvPr/>
        </p:nvSpPr>
        <p:spPr>
          <a:xfrm rot="20264836">
            <a:off x="11509310" y="4635490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524024-2D1D-2A67-832B-743FD64C6E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1E79F0FD-A60D-1E96-E9F8-5C5E97AC9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175" y="236"/>
            <a:ext cx="10125574" cy="867250"/>
          </a:xfrm>
        </p:spPr>
        <p:txBody>
          <a:bodyPr>
            <a:normAutofit/>
          </a:bodyPr>
          <a:lstStyle/>
          <a:p>
            <a:pPr algn="l">
              <a:lnSpc>
                <a:spcPts val="5020"/>
              </a:lnSpc>
            </a:pPr>
            <a:r>
              <a:rPr lang="en-US" sz="3600" b="1" dirty="0" err="1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npm</a:t>
            </a:r>
            <a:r>
              <a:rPr lang="en-US" sz="36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 respects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Semantic Versioning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6CDDA3-D2A1-7C7F-4C4B-DA0C769F52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0393" y="1206554"/>
            <a:ext cx="9175356" cy="4622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25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0E94F3-66B7-3D0F-24A6-8C0491FBB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-point Star 4">
            <a:extLst>
              <a:ext uri="{FF2B5EF4-FFF2-40B4-BE49-F238E27FC236}">
                <a16:creationId xmlns:a16="http://schemas.microsoft.com/office/drawing/2014/main" id="{44C221C9-F491-960D-2250-86547964AA7F}"/>
              </a:ext>
            </a:extLst>
          </p:cNvPr>
          <p:cNvSpPr/>
          <p:nvPr/>
        </p:nvSpPr>
        <p:spPr>
          <a:xfrm rot="2055929">
            <a:off x="551269" y="1119244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B28E482C-A5D4-E8B0-5A00-EAC1A60EF2DC}"/>
              </a:ext>
            </a:extLst>
          </p:cNvPr>
          <p:cNvSpPr/>
          <p:nvPr/>
        </p:nvSpPr>
        <p:spPr>
          <a:xfrm rot="787370">
            <a:off x="10402717" y="6268520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963F8AE5-F2E3-7067-66BB-A0A2BC08728F}"/>
              </a:ext>
            </a:extLst>
          </p:cNvPr>
          <p:cNvSpPr/>
          <p:nvPr/>
        </p:nvSpPr>
        <p:spPr>
          <a:xfrm rot="20264836">
            <a:off x="870401" y="6071061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4B87AB-7C2D-EE26-23E4-6025161901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EE7591CF-AC44-7BBB-B67F-4C0A4EFF4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175" y="236"/>
            <a:ext cx="10125574" cy="867250"/>
          </a:xfrm>
        </p:spPr>
        <p:txBody>
          <a:bodyPr>
            <a:normAutofit/>
          </a:bodyPr>
          <a:lstStyle/>
          <a:p>
            <a:pPr algn="l">
              <a:lnSpc>
                <a:spcPts val="5020"/>
              </a:lnSpc>
            </a:pPr>
            <a:r>
              <a:rPr lang="en-US" sz="36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Re-Installing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All Dependencies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1F0D712-7F8B-CE91-CE23-9AB664F996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6000" y="3728808"/>
            <a:ext cx="900000" cy="90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113923-5B77-3D3B-6764-0EC228ECE96B}"/>
              </a:ext>
            </a:extLst>
          </p:cNvPr>
          <p:cNvSpPr txBox="1"/>
          <p:nvPr/>
        </p:nvSpPr>
        <p:spPr>
          <a:xfrm>
            <a:off x="5010975" y="4628808"/>
            <a:ext cx="2170050" cy="388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400" b="1" dirty="0">
                <a:solidFill>
                  <a:srgbClr val="423300"/>
                </a:solidFill>
                <a:latin typeface="Poppins SemiBold" pitchFamily="2" charset="77"/>
                <a:cs typeface="Poppins SemiBold" pitchFamily="2" charset="77"/>
              </a:rPr>
              <a:t>p</a:t>
            </a:r>
            <a:r>
              <a:rPr kumimoji="0" lang="en-US" sz="1400" b="1" u="none" strike="noStrike" kern="1200" cap="none" spc="0" normalizeH="0" baseline="0" noProof="0" dirty="0" err="1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 SemiBold" pitchFamily="2" charset="77"/>
                <a:cs typeface="Poppins SemiBold" pitchFamily="2" charset="77"/>
              </a:rPr>
              <a:t>ackage.json</a:t>
            </a:r>
            <a:endParaRPr lang="en-US" sz="1400" dirty="0">
              <a:solidFill>
                <a:srgbClr val="745A00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FCF8CD0-EE5B-43E2-654E-79F401BCD0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8588" y="3548808"/>
            <a:ext cx="1080000" cy="1080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851108D-0215-FAAB-C2AF-D545E1476B99}"/>
              </a:ext>
            </a:extLst>
          </p:cNvPr>
          <p:cNvSpPr txBox="1"/>
          <p:nvPr/>
        </p:nvSpPr>
        <p:spPr>
          <a:xfrm>
            <a:off x="1123563" y="4628808"/>
            <a:ext cx="2170050" cy="388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400" b="1" dirty="0">
                <a:solidFill>
                  <a:srgbClr val="423300"/>
                </a:solidFill>
                <a:latin typeface="Poppins SemiBold" pitchFamily="2" charset="77"/>
                <a:cs typeface="Poppins SemiBold" pitchFamily="2" charset="77"/>
              </a:rPr>
              <a:t>Olivia</a:t>
            </a:r>
            <a:endParaRPr lang="en-US" sz="1400" dirty="0">
              <a:solidFill>
                <a:srgbClr val="745A00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5D12E93-FCC7-EDAC-6F4D-B0A7859189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5749" y="3548808"/>
            <a:ext cx="1080000" cy="1080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ABF1F9E-B85B-2832-8ABE-850742B0BAA6}"/>
              </a:ext>
            </a:extLst>
          </p:cNvPr>
          <p:cNvSpPr txBox="1"/>
          <p:nvPr/>
        </p:nvSpPr>
        <p:spPr>
          <a:xfrm>
            <a:off x="8990724" y="4628808"/>
            <a:ext cx="2170050" cy="388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400" b="1" dirty="0">
                <a:solidFill>
                  <a:srgbClr val="423300"/>
                </a:solidFill>
                <a:latin typeface="Poppins SemiBold" pitchFamily="2" charset="77"/>
                <a:cs typeface="Poppins SemiBold" pitchFamily="2" charset="77"/>
              </a:rPr>
              <a:t>Sophia</a:t>
            </a:r>
            <a:endParaRPr lang="en-US" sz="1400" dirty="0">
              <a:solidFill>
                <a:srgbClr val="745A00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1C10DB3-50F0-5439-E585-40CFE24CC5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2677" y="2003386"/>
            <a:ext cx="3946646" cy="963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7563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E0D9C7-0852-0C6D-F0F0-2768F24A6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-point Star 4">
            <a:extLst>
              <a:ext uri="{FF2B5EF4-FFF2-40B4-BE49-F238E27FC236}">
                <a16:creationId xmlns:a16="http://schemas.microsoft.com/office/drawing/2014/main" id="{B1B37137-976A-CA1B-616E-72B3D5A03CFA}"/>
              </a:ext>
            </a:extLst>
          </p:cNvPr>
          <p:cNvSpPr/>
          <p:nvPr/>
        </p:nvSpPr>
        <p:spPr>
          <a:xfrm rot="2055929">
            <a:off x="11392923" y="1229444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AC86602B-57A9-8BC0-74C1-D47A4F0E1779}"/>
              </a:ext>
            </a:extLst>
          </p:cNvPr>
          <p:cNvSpPr/>
          <p:nvPr/>
        </p:nvSpPr>
        <p:spPr>
          <a:xfrm rot="787370">
            <a:off x="11480856" y="4172865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E53069F1-381E-6935-13FD-3476EC9FDC02}"/>
              </a:ext>
            </a:extLst>
          </p:cNvPr>
          <p:cNvSpPr/>
          <p:nvPr/>
        </p:nvSpPr>
        <p:spPr>
          <a:xfrm rot="20264836">
            <a:off x="162454" y="4375362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6F484D-99F6-ED9C-908C-0372DDF82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DCC34F2F-551E-F3C9-B5E0-4E0E3F4CE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175" y="236"/>
            <a:ext cx="11361688" cy="867250"/>
          </a:xfrm>
        </p:spPr>
        <p:txBody>
          <a:bodyPr>
            <a:normAutofit/>
          </a:bodyPr>
          <a:lstStyle/>
          <a:p>
            <a:pPr algn="l">
              <a:lnSpc>
                <a:spcPts val="5020"/>
              </a:lnSpc>
            </a:pPr>
            <a:r>
              <a:rPr lang="en-US" sz="3600" b="1" dirty="0" err="1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node_modules</a:t>
            </a:r>
            <a:r>
              <a:rPr lang="en-US" sz="36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Dependencies of Dependencies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86D5DD-4F9B-DB2A-9820-695A525A2E40}"/>
              </a:ext>
            </a:extLst>
          </p:cNvPr>
          <p:cNvSpPr txBox="1"/>
          <p:nvPr/>
        </p:nvSpPr>
        <p:spPr>
          <a:xfrm>
            <a:off x="1260706" y="4833178"/>
            <a:ext cx="9735438" cy="1034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45A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In Node.js, the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45A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node_modules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45A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 directory houses all the packages your project depends on. Each package can have its own dependencies, which are also stored in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45A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node_modules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45A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 within their respective package directories, creating a nested structure of dependencies and sub-dependencies.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AA3901-0CFA-157F-10E7-A4E3FAE966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3816" y="1462965"/>
            <a:ext cx="3544368" cy="277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793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5965</TotalTime>
  <Words>431</Words>
  <Application>Microsoft Macintosh PowerPoint</Application>
  <PresentationFormat>Widescreen</PresentationFormat>
  <Paragraphs>53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Poppins</vt:lpstr>
      <vt:lpstr>Poppins SemiBold</vt:lpstr>
      <vt:lpstr>Office Theme</vt:lpstr>
      <vt:lpstr>Introducing Node Package Manager (npm)</vt:lpstr>
      <vt:lpstr>What is Node Package Manager (npm)</vt:lpstr>
      <vt:lpstr>Use Ready Packages</vt:lpstr>
      <vt:lpstr>Introducing package.json</vt:lpstr>
      <vt:lpstr>Scope Of npm Packages</vt:lpstr>
      <vt:lpstr>Important npm Commands</vt:lpstr>
      <vt:lpstr>Understanding Semantic Versioning</vt:lpstr>
      <vt:lpstr>npm respects Semantic Versioning</vt:lpstr>
      <vt:lpstr>Re-Installing All Dependencies</vt:lpstr>
      <vt:lpstr>node_modules Dependencies of Dependencies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NESTJS</dc:title>
  <dc:creator>Microsoft Office User</dc:creator>
  <cp:lastModifiedBy>Manik Bajaj</cp:lastModifiedBy>
  <cp:revision>585</cp:revision>
  <dcterms:created xsi:type="dcterms:W3CDTF">2024-02-28T11:24:07Z</dcterms:created>
  <dcterms:modified xsi:type="dcterms:W3CDTF">2024-10-02T07:37:44Z</dcterms:modified>
</cp:coreProperties>
</file>