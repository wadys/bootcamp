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345" r:id="rId3"/>
    <p:sldId id="353" r:id="rId4"/>
    <p:sldId id="349" r:id="rId5"/>
    <p:sldId id="350" r:id="rId6"/>
    <p:sldId id="35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23300"/>
    <a:srgbClr val="745A00"/>
    <a:srgbClr val="61456A"/>
    <a:srgbClr val="C55A11"/>
    <a:srgbClr val="AD6513"/>
    <a:srgbClr val="FCC613"/>
    <a:srgbClr val="FFDD6D"/>
    <a:srgbClr val="DD53F8"/>
    <a:srgbClr val="E100FF"/>
    <a:srgbClr val="E85E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75DCB02-9BB8-47FD-8907-85C794F793BA}" styleName="Themed Style 1 –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69C7853C-536D-4A76-A0AE-DD22124D55A5}" styleName="Themed Style 1 –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284E427A-3D55-4303-BF80-6455036E1DE7}" styleName="Themed Style 1 –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–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Medium Style 2 –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929F9F4-4A8F-4326-A1B4-22849713DDAB}" styleName="Dark Style 1 –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D083AE6-46FA-4A59-8FB0-9F97EB10719F}" styleName="Light Style 3 –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269D01E-BC32-4049-B463-5C60D7B0CCD2}" styleName="Themed Style 2 –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D27102A9-8310-4765-A935-A1911B00CA55}" styleName="Light Style 1 –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–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–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C4B1156A-380E-4F78-BDF5-A606A8083BF9}" styleName="Medium Style 4 –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018"/>
    <p:restoredTop sz="91126"/>
  </p:normalViewPr>
  <p:slideViewPr>
    <p:cSldViewPr snapToGrid="0" showGuides="1">
      <p:cViewPr varScale="1">
        <p:scale>
          <a:sx n="140" d="100"/>
          <a:sy n="140" d="100"/>
        </p:scale>
        <p:origin x="1032" y="20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CAFF5F-4593-4642-B263-46DC71846A50}" type="datetimeFigureOut">
              <a:rPr lang="en-US" smtClean="0"/>
              <a:t>10/5/24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ED73B4-3B7A-5C47-BA0A-325276D0DB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60010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C08086-3F50-6B21-F11D-D596A1B280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0F869C-0979-778C-E6F3-FA2616613A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F5CCF7-3D8B-35B5-4950-C203563F06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15F4C7-44EB-8560-3395-20BB16A1E7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0ED73B4-3B7A-5C47-BA0A-325276D0DB7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186445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F357E3-E61E-0BAC-E44D-2D12954A90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9CAD65-C26C-A81C-A262-06BB60E228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B1CFC8-BB47-54BA-4D9D-3A8BFFA862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06A4C3-68B2-5179-081E-2516D6FA42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0ED73B4-3B7A-5C47-BA0A-325276D0DB7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397521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2FDAE7-B6FA-4B99-82CD-5DA289726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9FA78F-D534-8EAD-6847-799F08E755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5E76D0-006F-E45D-789E-0D12879F3D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DA5600-8F52-B3A3-244C-D362523AC3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0ED73B4-3B7A-5C47-BA0A-325276D0DB7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4422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9C0E55-30B2-F589-A62D-1AA2EF3B8E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E3FCCC3-3491-69E3-1849-10DE785FD0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C5BAE28-16EC-86E6-6B16-E9B0392BD3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EC36A7-009A-2E86-99A2-8F830DF177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0ED73B4-3B7A-5C47-BA0A-325276D0DB7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050944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1AC5E4-22AB-8DDE-708A-0FF0C69043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FD6389-6AA2-51F3-CED5-39F071D130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266495-70FC-2CE9-4914-7C4BAE4F68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C5B8FA-1019-4EE5-0A32-968DF583DD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0ED73B4-3B7A-5C47-BA0A-325276D0DB7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533452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F914B0-5224-B0DF-7293-F406631750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48810A-B6B9-C0BD-1265-DFCF181465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519265-9BFA-1BC2-CDD6-47A3F947E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E7AAE-89D3-5444-979C-39A9910DDA2F}" type="datetimeFigureOut">
              <a:rPr lang="en-US" smtClean="0"/>
              <a:t>10/5/24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E74205-5F65-3747-0E48-5926F2DAE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549A60-B65A-047C-1901-9E58799F46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6BFF1-75E3-3D43-94C4-129BFF8AF2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19425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10753-60BE-D4E8-DF98-50EB8781B3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4FF022-9CC0-F395-2126-25FD48B7EA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C5A9DC-7053-2EC2-614A-ACE263E42A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E7AAE-89D3-5444-979C-39A9910DDA2F}" type="datetimeFigureOut">
              <a:rPr lang="en-US" smtClean="0"/>
              <a:t>10/5/24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487403-D3DF-EED7-AC4A-58DC6ACD60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4F9626-CF06-4327-1460-B41D736AD6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6BFF1-75E3-3D43-94C4-129BFF8AF2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24892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758E38-3DF8-0E50-B41F-24E2F9647C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DF70C4-F003-C288-3E3B-F320E8EDA2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AF0F96-1D0B-7BE6-0DA5-722FDD17D8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E7AAE-89D3-5444-979C-39A9910DDA2F}" type="datetimeFigureOut">
              <a:rPr lang="en-US" smtClean="0"/>
              <a:t>10/5/24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BFA99A-36B8-13EE-009B-F71B62B1EA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75676F-30E5-E5C7-0601-07574EB2D6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6BFF1-75E3-3D43-94C4-129BFF8AF2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15193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84B8B2-55D6-055B-5C09-E65DD8C95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5256CA-6EF2-B2E8-7D4B-52ECBC95853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456E81-36C0-EE8A-9E4E-8470ED18AA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4A4CF9-8A85-9602-5D37-E5036C3F74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E7AAE-89D3-5444-979C-39A9910DDA2F}" type="datetimeFigureOut">
              <a:rPr lang="en-US" smtClean="0"/>
              <a:t>10/5/24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A8346B-1F76-4AD0-4C90-AD72342822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A591F1-5E0B-7A68-8722-F157529877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6BFF1-75E3-3D43-94C4-129BFF8AF2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77457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EBFBBD-1722-4224-F9BB-8EBD1C001F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54CB22-1AE7-CA9A-D0DC-DC783753CB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55AA36-5AC2-7491-7C18-242609E9FE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0A99B3A-36E2-CFCE-6301-878B769EC13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1E6ABAF-F340-A78E-DFD6-A0867F846F7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FF998BD-30CD-7920-E753-C252CA2B2B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E7AAE-89D3-5444-979C-39A9910DDA2F}" type="datetimeFigureOut">
              <a:rPr lang="en-US" smtClean="0"/>
              <a:t>10/5/24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AA7ABC1-3752-46E5-F1AF-00F01D4BE0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82F4455-339C-F08F-C4CD-B3F2A79527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6BFF1-75E3-3D43-94C4-129BFF8AF2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42337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7AA960-22DE-E5A9-7830-63B79FA747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1E3637-07FD-41EA-C7DB-1E60FA8702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E7AAE-89D3-5444-979C-39A9910DDA2F}" type="datetimeFigureOut">
              <a:rPr lang="en-US" smtClean="0"/>
              <a:t>10/5/24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01F13C8-AE6B-EC91-149D-C4F99AB0D4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F6A696-6FF2-5CBD-6F28-EC15D5709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6BFF1-75E3-3D43-94C4-129BFF8AF2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0980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568334D-D93A-3844-6818-5266D3B3D6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E7AAE-89D3-5444-979C-39A9910DDA2F}" type="datetimeFigureOut">
              <a:rPr lang="en-US" smtClean="0"/>
              <a:t>10/5/24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FB9EED5-89A1-ACE4-55B7-3E9C29A579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EA3269-AD29-F734-147B-CF871F8F93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6BFF1-75E3-3D43-94C4-129BFF8AF2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34182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4EF10A-D478-0EAA-0D79-6B89626364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101B23-CF69-1895-9367-83A95BCF1C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200D4B-7EEA-3448-A4D6-3B78AD012E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856B4C-B757-9048-D019-358A416E56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E7AAE-89D3-5444-979C-39A9910DDA2F}" type="datetimeFigureOut">
              <a:rPr lang="en-US" smtClean="0"/>
              <a:t>10/5/24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FE17CD-B648-BBC6-40F2-86A87DD4A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55F0EB-2058-FC2E-EDCF-37CD7BC36E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6BFF1-75E3-3D43-94C4-129BFF8AF2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05567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6B20EC-5AFE-8DF7-F581-AEE45E4A99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869887F-796D-C2EF-5316-35FE57640F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76A06E-DDBD-D2B6-9290-9E50813A44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7558D9-110B-23FB-23FE-284059F219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E7AAE-89D3-5444-979C-39A9910DDA2F}" type="datetimeFigureOut">
              <a:rPr lang="en-US" smtClean="0"/>
              <a:t>10/5/24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28022B-6382-BE9C-A25F-0B02B02931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F23489-F0FC-18E2-45F1-463EFAAB24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6BFF1-75E3-3D43-94C4-129BFF8AF2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65106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F9BB7-6F7E-5B81-4F71-4BE777730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698EFD-6E2D-073D-2777-B8197B8AD9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FCEA36-4478-D24E-E2AB-CF9EEA3E9F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E7AAE-89D3-5444-979C-39A9910DDA2F}" type="datetimeFigureOut">
              <a:rPr lang="en-US" smtClean="0"/>
              <a:t>10/5/24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3BC77E-E47B-EBFA-D7E2-EB8CAFC4C6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C8DF2F-19EC-AA0F-C42C-20F34B9C70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6BFF1-75E3-3D43-94C4-129BFF8AF2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6524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EDB8503-2440-79EE-E716-072BE6DE3E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CF235D-189D-2752-0AD8-7B97748CAC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86B4F1-B968-C9DC-36A0-40D3A92496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E7AAE-89D3-5444-979C-39A9910DDA2F}" type="datetimeFigureOut">
              <a:rPr lang="en-US" smtClean="0"/>
              <a:t>10/5/24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E11C7E-F8C8-E7B1-5AE1-6C0FD2430B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B64DB4-9403-A5D1-815E-2C890E8D9E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6BFF1-75E3-3D43-94C4-129BFF8AF2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42336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1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D99037D-89B3-121A-2C40-3A64E3262F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6CA659-082C-0B10-3680-E2AAC011B6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A14A2A-5365-7A34-B293-F60F544841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CE7AAE-89D3-5444-979C-39A9910DDA2F}" type="datetimeFigureOut">
              <a:rPr lang="en-US" smtClean="0"/>
              <a:t>10/5/24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F3B83F-380E-CA22-46AF-AE6DC794FD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1D42CC-6023-539B-3E1C-4866E62C81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E6BFF1-75E3-3D43-94C4-129BFF8AF2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08927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2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2.e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4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11" Type="http://schemas.openxmlformats.org/officeDocument/2006/relationships/image" Target="../media/image13.svg"/><Relationship Id="rId5" Type="http://schemas.openxmlformats.org/officeDocument/2006/relationships/image" Target="../media/image9.png"/><Relationship Id="rId10" Type="http://schemas.openxmlformats.org/officeDocument/2006/relationships/image" Target="../media/image12.png"/><Relationship Id="rId4" Type="http://schemas.openxmlformats.org/officeDocument/2006/relationships/image" Target="../media/image2.emf"/><Relationship Id="rId9" Type="http://schemas.openxmlformats.org/officeDocument/2006/relationships/image" Target="../media/image11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2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2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0FDEFE-3BD7-6534-F0FE-3E6113B81D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3796" y="2189079"/>
            <a:ext cx="9144000" cy="2030550"/>
          </a:xfrm>
          <a:ln>
            <a:noFill/>
          </a:ln>
        </p:spPr>
        <p:txBody>
          <a:bodyPr>
            <a:normAutofit/>
          </a:bodyPr>
          <a:lstStyle/>
          <a:p>
            <a:pPr algn="l"/>
            <a:r>
              <a:rPr lang="en-US" sz="3800" b="1" dirty="0">
                <a:solidFill>
                  <a:srgbClr val="423300"/>
                </a:solidFill>
                <a:latin typeface="Poppins" pitchFamily="2" charset="77"/>
                <a:cs typeface="Poppins" pitchFamily="2" charset="77"/>
              </a:rPr>
              <a:t>Introduction To Databases</a:t>
            </a:r>
            <a:br>
              <a:rPr lang="en-US" sz="3800" b="1" dirty="0">
                <a:solidFill>
                  <a:srgbClr val="423300"/>
                </a:solidFill>
                <a:latin typeface="Poppins" pitchFamily="2" charset="77"/>
                <a:cs typeface="Poppins" pitchFamily="2" charset="77"/>
              </a:rPr>
            </a:br>
            <a:r>
              <a:rPr lang="en-US" sz="3800" b="1" dirty="0">
                <a:solidFill>
                  <a:schemeClr val="accent2">
                    <a:lumMod val="75000"/>
                  </a:schemeClr>
                </a:solidFill>
                <a:latin typeface="Poppins" pitchFamily="2" charset="77"/>
                <a:cs typeface="Poppins" pitchFamily="2" charset="77"/>
              </a:rPr>
              <a:t>SQL Vs. NoSQL</a:t>
            </a:r>
          </a:p>
        </p:txBody>
      </p:sp>
      <p:sp>
        <p:nvSpPr>
          <p:cNvPr id="5" name="4-point Star 4">
            <a:extLst>
              <a:ext uri="{FF2B5EF4-FFF2-40B4-BE49-F238E27FC236}">
                <a16:creationId xmlns:a16="http://schemas.microsoft.com/office/drawing/2014/main" id="{72042A47-18F1-19EA-DA4D-4B338208F7AB}"/>
              </a:ext>
            </a:extLst>
          </p:cNvPr>
          <p:cNvSpPr/>
          <p:nvPr/>
        </p:nvSpPr>
        <p:spPr>
          <a:xfrm rot="2055929">
            <a:off x="2050484" y="517788"/>
            <a:ext cx="397847" cy="339660"/>
          </a:xfrm>
          <a:prstGeom prst="star4">
            <a:avLst/>
          </a:prstGeom>
          <a:solidFill>
            <a:srgbClr val="FCC6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4-point Star 5">
            <a:extLst>
              <a:ext uri="{FF2B5EF4-FFF2-40B4-BE49-F238E27FC236}">
                <a16:creationId xmlns:a16="http://schemas.microsoft.com/office/drawing/2014/main" id="{567DD399-6D96-8282-2AF3-7548B8B8E838}"/>
              </a:ext>
            </a:extLst>
          </p:cNvPr>
          <p:cNvSpPr/>
          <p:nvPr/>
        </p:nvSpPr>
        <p:spPr>
          <a:xfrm rot="787370">
            <a:off x="6810715" y="5903344"/>
            <a:ext cx="338788" cy="322778"/>
          </a:xfrm>
          <a:prstGeom prst="star4">
            <a:avLst/>
          </a:prstGeom>
          <a:solidFill>
            <a:srgbClr val="FCC6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4-point Star 6">
            <a:extLst>
              <a:ext uri="{FF2B5EF4-FFF2-40B4-BE49-F238E27FC236}">
                <a16:creationId xmlns:a16="http://schemas.microsoft.com/office/drawing/2014/main" id="{0BFD952C-DB3A-88EE-1426-2396912F87A0}"/>
              </a:ext>
            </a:extLst>
          </p:cNvPr>
          <p:cNvSpPr/>
          <p:nvPr/>
        </p:nvSpPr>
        <p:spPr>
          <a:xfrm rot="20264836">
            <a:off x="675273" y="5875098"/>
            <a:ext cx="279617" cy="309052"/>
          </a:xfrm>
          <a:prstGeom prst="star4">
            <a:avLst/>
          </a:prstGeom>
          <a:solidFill>
            <a:srgbClr val="FCC6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F8D7621-FC0B-5370-77AC-A12637AA9E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7313" y="6029624"/>
            <a:ext cx="618386" cy="501804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C0976C4D-1AC5-50E3-8628-B479D40EB899}"/>
              </a:ext>
            </a:extLst>
          </p:cNvPr>
          <p:cNvSpPr txBox="1">
            <a:spLocks/>
          </p:cNvSpPr>
          <p:nvPr/>
        </p:nvSpPr>
        <p:spPr>
          <a:xfrm>
            <a:off x="723796" y="4219629"/>
            <a:ext cx="9144000" cy="39192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700" dirty="0">
                <a:solidFill>
                  <a:srgbClr val="745A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Full-Stack Web Development Bootcamp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D8468213-F66A-0661-AF69-9D384537A47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15081" y="2050247"/>
            <a:ext cx="2859232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65223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DE94F7-45A3-B780-1611-0989E2B605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-point Star 4">
            <a:extLst>
              <a:ext uri="{FF2B5EF4-FFF2-40B4-BE49-F238E27FC236}">
                <a16:creationId xmlns:a16="http://schemas.microsoft.com/office/drawing/2014/main" id="{5752B060-A796-CC02-A49A-46E15B9DB8A0}"/>
              </a:ext>
            </a:extLst>
          </p:cNvPr>
          <p:cNvSpPr/>
          <p:nvPr/>
        </p:nvSpPr>
        <p:spPr>
          <a:xfrm rot="2055929">
            <a:off x="619117" y="6250266"/>
            <a:ext cx="397847" cy="339660"/>
          </a:xfrm>
          <a:prstGeom prst="star4">
            <a:avLst/>
          </a:prstGeom>
          <a:solidFill>
            <a:srgbClr val="FCC6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4-point Star 5">
            <a:extLst>
              <a:ext uri="{FF2B5EF4-FFF2-40B4-BE49-F238E27FC236}">
                <a16:creationId xmlns:a16="http://schemas.microsoft.com/office/drawing/2014/main" id="{CB53628D-1E36-4B87-73AC-7F4503E2FE32}"/>
              </a:ext>
            </a:extLst>
          </p:cNvPr>
          <p:cNvSpPr/>
          <p:nvPr/>
        </p:nvSpPr>
        <p:spPr>
          <a:xfrm rot="787370">
            <a:off x="11032449" y="272472"/>
            <a:ext cx="338788" cy="322778"/>
          </a:xfrm>
          <a:prstGeom prst="star4">
            <a:avLst/>
          </a:prstGeom>
          <a:solidFill>
            <a:srgbClr val="FCC6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4-point Star 6">
            <a:extLst>
              <a:ext uri="{FF2B5EF4-FFF2-40B4-BE49-F238E27FC236}">
                <a16:creationId xmlns:a16="http://schemas.microsoft.com/office/drawing/2014/main" id="{138B1A9C-AA7D-DC51-EADD-1D9AE4C56F1F}"/>
              </a:ext>
            </a:extLst>
          </p:cNvPr>
          <p:cNvSpPr/>
          <p:nvPr/>
        </p:nvSpPr>
        <p:spPr>
          <a:xfrm rot="20264836">
            <a:off x="11509310" y="4635490"/>
            <a:ext cx="279617" cy="309052"/>
          </a:xfrm>
          <a:prstGeom prst="star4">
            <a:avLst/>
          </a:prstGeom>
          <a:solidFill>
            <a:srgbClr val="FCC6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7F2325D-9631-2624-B351-7C2D71A0D5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67313" y="6029624"/>
            <a:ext cx="618386" cy="501804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AF67CF8D-E1A7-9AE7-51FF-764F6F19DE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0175" y="236"/>
            <a:ext cx="10125574" cy="867250"/>
          </a:xfrm>
        </p:spPr>
        <p:txBody>
          <a:bodyPr>
            <a:normAutofit/>
          </a:bodyPr>
          <a:lstStyle/>
          <a:p>
            <a:pPr algn="l">
              <a:lnSpc>
                <a:spcPts val="5020"/>
              </a:lnSpc>
            </a:pPr>
            <a:r>
              <a:rPr lang="en-US" sz="3600" b="1" dirty="0">
                <a:solidFill>
                  <a:srgbClr val="423300"/>
                </a:solidFill>
                <a:latin typeface="Poppins" pitchFamily="2" charset="77"/>
                <a:cs typeface="Poppins" pitchFamily="2" charset="77"/>
              </a:rPr>
              <a:t>We Do Not Have </a:t>
            </a:r>
            <a: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Poppins" pitchFamily="2" charset="77"/>
                <a:cs typeface="Poppins" pitchFamily="2" charset="77"/>
              </a:rPr>
              <a:t>Data Persistence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23C20DB-B3C8-F6CB-C48A-38A57761FCEC}"/>
              </a:ext>
            </a:extLst>
          </p:cNvPr>
          <p:cNvSpPr txBox="1"/>
          <p:nvPr/>
        </p:nvSpPr>
        <p:spPr>
          <a:xfrm>
            <a:off x="1264794" y="4329917"/>
            <a:ext cx="9735438" cy="10348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1400" dirty="0">
                <a:solidFill>
                  <a:srgbClr val="745A00"/>
                </a:solidFill>
                <a:latin typeface="Poppins" pitchFamily="2" charset="77"/>
                <a:cs typeface="Poppins" pitchFamily="2" charset="77"/>
              </a:rPr>
              <a:t>Till now, a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745A00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ll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745A00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rPr>
              <a:t> data is stored temporarily in JavaScript files, meaning it resides in memory and lacks permanent storage. Without a database, this data isn't persisted across sessions or after server restarts, leading to data loss and limited data management capabilities.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423300"/>
              </a:solidFill>
              <a:effectLst/>
              <a:uLnTx/>
              <a:uFillTx/>
              <a:latin typeface="Poppins SemiBold" pitchFamily="2" charset="77"/>
              <a:ea typeface="+mn-ea"/>
              <a:cs typeface="Poppins SemiBold" pitchFamily="2" charset="77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A424BD5-E306-FB4F-C301-C0491C31355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82525" y="2536498"/>
            <a:ext cx="720000" cy="720000"/>
          </a:xfrm>
          <a:prstGeom prst="rect">
            <a:avLst/>
          </a:prstGeom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9271FDF-1401-2855-643B-65222600B6B3}"/>
              </a:ext>
            </a:extLst>
          </p:cNvPr>
          <p:cNvCxnSpPr>
            <a:cxnSpLocks/>
          </p:cNvCxnSpPr>
          <p:nvPr/>
        </p:nvCxnSpPr>
        <p:spPr>
          <a:xfrm>
            <a:off x="4045526" y="2598701"/>
            <a:ext cx="3928042" cy="0"/>
          </a:xfrm>
          <a:prstGeom prst="straightConnector1">
            <a:avLst/>
          </a:prstGeom>
          <a:ln w="19050">
            <a:solidFill>
              <a:schemeClr val="accent2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D21287B2-8C14-2D05-1D5B-1BB0F28113FB}"/>
              </a:ext>
            </a:extLst>
          </p:cNvPr>
          <p:cNvCxnSpPr>
            <a:cxnSpLocks/>
          </p:cNvCxnSpPr>
          <p:nvPr/>
        </p:nvCxnSpPr>
        <p:spPr>
          <a:xfrm flipH="1">
            <a:off x="4045526" y="3233605"/>
            <a:ext cx="3928042" cy="0"/>
          </a:xfrm>
          <a:prstGeom prst="straightConnector1">
            <a:avLst/>
          </a:prstGeom>
          <a:ln w="19050">
            <a:solidFill>
              <a:schemeClr val="accent2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E7626603-EC43-21C1-0B2F-6FA3B782F935}"/>
              </a:ext>
            </a:extLst>
          </p:cNvPr>
          <p:cNvSpPr txBox="1"/>
          <p:nvPr/>
        </p:nvSpPr>
        <p:spPr>
          <a:xfrm>
            <a:off x="2489022" y="3379665"/>
            <a:ext cx="1707006" cy="3462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algn="ctr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 sz="1200" b="1" i="0">
                <a:solidFill>
                  <a:srgbClr val="423300"/>
                </a:solidFill>
                <a:latin typeface="Poppins Medium" pitchFamily="2" charset="77"/>
                <a:cs typeface="Poppins Medium" pitchFamily="2" charset="77"/>
              </a:defRPr>
            </a:lvl1pPr>
          </a:lstStyle>
          <a:p>
            <a:r>
              <a:rPr lang="en-US"/>
              <a:t>Client</a:t>
            </a:r>
            <a:endParaRPr 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1E055CF-8238-AA85-8288-5535987CEE8B}"/>
              </a:ext>
            </a:extLst>
          </p:cNvPr>
          <p:cNvSpPr txBox="1"/>
          <p:nvPr/>
        </p:nvSpPr>
        <p:spPr>
          <a:xfrm>
            <a:off x="7913066" y="3379665"/>
            <a:ext cx="1707006" cy="3462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1200" b="1" i="0" dirty="0" err="1">
                <a:solidFill>
                  <a:srgbClr val="423300"/>
                </a:solidFill>
                <a:latin typeface="Poppins Medium" pitchFamily="2" charset="77"/>
                <a:ea typeface="+mn-ea"/>
                <a:cs typeface="Poppins Medium" pitchFamily="2" charset="77"/>
              </a:rPr>
              <a:t>tasksController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423300"/>
              </a:solidFill>
              <a:effectLst/>
              <a:uLnTx/>
              <a:uFillTx/>
              <a:latin typeface="Poppins SemiBold" pitchFamily="2" charset="77"/>
              <a:ea typeface="+mn-ea"/>
              <a:cs typeface="Poppins SemiBold" pitchFamily="2" charset="77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0B4143A-4BAD-AE7D-D71C-030C1379915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16569" y="2431762"/>
            <a:ext cx="900000" cy="9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99930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7F4A336-596C-68D9-9180-B4FA61A53C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-point Star 4">
            <a:extLst>
              <a:ext uri="{FF2B5EF4-FFF2-40B4-BE49-F238E27FC236}">
                <a16:creationId xmlns:a16="http://schemas.microsoft.com/office/drawing/2014/main" id="{3CE0B37B-93F2-26CD-FA5E-8F8CE9EFFD90}"/>
              </a:ext>
            </a:extLst>
          </p:cNvPr>
          <p:cNvSpPr/>
          <p:nvPr/>
        </p:nvSpPr>
        <p:spPr>
          <a:xfrm rot="2055929">
            <a:off x="551268" y="1279809"/>
            <a:ext cx="397847" cy="339660"/>
          </a:xfrm>
          <a:prstGeom prst="star4">
            <a:avLst/>
          </a:prstGeom>
          <a:solidFill>
            <a:srgbClr val="FCC6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4-point Star 5">
            <a:extLst>
              <a:ext uri="{FF2B5EF4-FFF2-40B4-BE49-F238E27FC236}">
                <a16:creationId xmlns:a16="http://schemas.microsoft.com/office/drawing/2014/main" id="{7A3924DD-A0FC-1A27-DE84-3F9E6FAF9F50}"/>
              </a:ext>
            </a:extLst>
          </p:cNvPr>
          <p:cNvSpPr/>
          <p:nvPr/>
        </p:nvSpPr>
        <p:spPr>
          <a:xfrm rot="787370">
            <a:off x="9743144" y="6227832"/>
            <a:ext cx="338788" cy="322778"/>
          </a:xfrm>
          <a:prstGeom prst="star4">
            <a:avLst/>
          </a:prstGeom>
          <a:solidFill>
            <a:srgbClr val="FCC6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4-point Star 6">
            <a:extLst>
              <a:ext uri="{FF2B5EF4-FFF2-40B4-BE49-F238E27FC236}">
                <a16:creationId xmlns:a16="http://schemas.microsoft.com/office/drawing/2014/main" id="{CCE7D11D-BACF-AB71-B452-7D5B31619730}"/>
              </a:ext>
            </a:extLst>
          </p:cNvPr>
          <p:cNvSpPr/>
          <p:nvPr/>
        </p:nvSpPr>
        <p:spPr>
          <a:xfrm rot="20264836">
            <a:off x="1478342" y="6038733"/>
            <a:ext cx="279617" cy="309052"/>
          </a:xfrm>
          <a:prstGeom prst="star4">
            <a:avLst/>
          </a:prstGeom>
          <a:solidFill>
            <a:srgbClr val="FCC6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A8F22C8-9DDB-C7C5-5BD9-BE5EDBC58A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67313" y="6029624"/>
            <a:ext cx="618386" cy="501804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5C9F0B92-FE74-A4C7-8EA3-2D59CC7A71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0175" y="236"/>
            <a:ext cx="10125574" cy="867250"/>
          </a:xfrm>
        </p:spPr>
        <p:txBody>
          <a:bodyPr>
            <a:normAutofit/>
          </a:bodyPr>
          <a:lstStyle/>
          <a:p>
            <a:pPr algn="l">
              <a:lnSpc>
                <a:spcPts val="5020"/>
              </a:lnSpc>
            </a:pPr>
            <a:r>
              <a:rPr lang="en-US" sz="3600" b="1" dirty="0">
                <a:solidFill>
                  <a:srgbClr val="423300"/>
                </a:solidFill>
                <a:latin typeface="Poppins" pitchFamily="2" charset="77"/>
                <a:cs typeface="Poppins" pitchFamily="2" charset="77"/>
              </a:rPr>
              <a:t>To Save Data We Use </a:t>
            </a:r>
            <a: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Poppins" pitchFamily="2" charset="77"/>
                <a:cs typeface="Poppins" pitchFamily="2" charset="77"/>
              </a:rPr>
              <a:t>Database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B463AE5-FC84-D86C-38A8-D4ED91CA1457}"/>
              </a:ext>
            </a:extLst>
          </p:cNvPr>
          <p:cNvSpPr txBox="1"/>
          <p:nvPr/>
        </p:nvSpPr>
        <p:spPr>
          <a:xfrm>
            <a:off x="1264794" y="4710886"/>
            <a:ext cx="9735438" cy="10348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1400" dirty="0">
                <a:solidFill>
                  <a:srgbClr val="745A00"/>
                </a:solidFill>
                <a:latin typeface="Poppins" pitchFamily="2" charset="77"/>
                <a:cs typeface="Poppins" pitchFamily="2" charset="77"/>
              </a:rPr>
              <a:t>A database is a structured system for storing, managing, and retrieving data efficiently. It supports operations such as insertion, deletion, and querying of data, facilitating organized data access for applications and users.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423300"/>
              </a:solidFill>
              <a:effectLst/>
              <a:uLnTx/>
              <a:uFillTx/>
              <a:latin typeface="Poppins SemiBold" pitchFamily="2" charset="77"/>
              <a:ea typeface="+mn-ea"/>
              <a:cs typeface="Poppins SemiBold" pitchFamily="2" charset="77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30A2A94-0391-5E4B-6C24-2392866B0E1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74933" y="2536498"/>
            <a:ext cx="720000" cy="720000"/>
          </a:xfrm>
          <a:prstGeom prst="rect">
            <a:avLst/>
          </a:prstGeom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AF957DE8-EB86-FBA6-2F5E-949DE170D193}"/>
              </a:ext>
            </a:extLst>
          </p:cNvPr>
          <p:cNvCxnSpPr>
            <a:cxnSpLocks/>
          </p:cNvCxnSpPr>
          <p:nvPr/>
        </p:nvCxnSpPr>
        <p:spPr>
          <a:xfrm>
            <a:off x="2683070" y="2598701"/>
            <a:ext cx="2629594" cy="0"/>
          </a:xfrm>
          <a:prstGeom prst="straightConnector1">
            <a:avLst/>
          </a:prstGeom>
          <a:ln w="19050">
            <a:solidFill>
              <a:schemeClr val="accent2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931C338F-2621-CDA7-2B96-FAC448FEFA2F}"/>
              </a:ext>
            </a:extLst>
          </p:cNvPr>
          <p:cNvCxnSpPr>
            <a:cxnSpLocks/>
          </p:cNvCxnSpPr>
          <p:nvPr/>
        </p:nvCxnSpPr>
        <p:spPr>
          <a:xfrm flipH="1">
            <a:off x="2683070" y="3233605"/>
            <a:ext cx="2629594" cy="0"/>
          </a:xfrm>
          <a:prstGeom prst="straightConnector1">
            <a:avLst/>
          </a:prstGeom>
          <a:ln w="19050">
            <a:solidFill>
              <a:schemeClr val="accent2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FC8390BE-E4BF-3A60-3949-002FAAD767FB}"/>
              </a:ext>
            </a:extLst>
          </p:cNvPr>
          <p:cNvSpPr txBox="1"/>
          <p:nvPr/>
        </p:nvSpPr>
        <p:spPr>
          <a:xfrm>
            <a:off x="5242497" y="3379665"/>
            <a:ext cx="1707006" cy="3462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1200" b="1" i="0" dirty="0" err="1">
                <a:solidFill>
                  <a:srgbClr val="423300"/>
                </a:solidFill>
                <a:latin typeface="Poppins Medium" pitchFamily="2" charset="77"/>
                <a:ea typeface="+mn-ea"/>
                <a:cs typeface="Poppins Medium" pitchFamily="2" charset="77"/>
              </a:rPr>
              <a:t>tasksController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423300"/>
              </a:solidFill>
              <a:effectLst/>
              <a:uLnTx/>
              <a:uFillTx/>
              <a:latin typeface="Poppins SemiBold" pitchFamily="2" charset="77"/>
              <a:ea typeface="+mn-ea"/>
              <a:cs typeface="Poppins SemiBold" pitchFamily="2" charset="77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A071D76-6288-D98A-4F42-49B74C57759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46000" y="2431762"/>
            <a:ext cx="900000" cy="900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B54C88B-A71D-0370-65EB-B43A1179ED9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23749" y="2500498"/>
            <a:ext cx="792000" cy="792000"/>
          </a:xfrm>
          <a:prstGeom prst="rect">
            <a:avLst/>
          </a:prstGeom>
        </p:spPr>
      </p:pic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4A3A731-08AE-14F5-4466-2DABE350D97B}"/>
              </a:ext>
            </a:extLst>
          </p:cNvPr>
          <p:cNvCxnSpPr>
            <a:cxnSpLocks/>
          </p:cNvCxnSpPr>
          <p:nvPr/>
        </p:nvCxnSpPr>
        <p:spPr>
          <a:xfrm>
            <a:off x="6843590" y="2598701"/>
            <a:ext cx="2629594" cy="0"/>
          </a:xfrm>
          <a:prstGeom prst="straightConnector1">
            <a:avLst/>
          </a:prstGeom>
          <a:ln w="19050">
            <a:solidFill>
              <a:schemeClr val="accent2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DAC5F96-144A-21B3-E45A-026A437FB44B}"/>
              </a:ext>
            </a:extLst>
          </p:cNvPr>
          <p:cNvCxnSpPr>
            <a:cxnSpLocks/>
          </p:cNvCxnSpPr>
          <p:nvPr/>
        </p:nvCxnSpPr>
        <p:spPr>
          <a:xfrm flipH="1">
            <a:off x="6843590" y="3233605"/>
            <a:ext cx="2629594" cy="0"/>
          </a:xfrm>
          <a:prstGeom prst="straightConnector1">
            <a:avLst/>
          </a:prstGeom>
          <a:ln w="19050">
            <a:solidFill>
              <a:schemeClr val="accent2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A0C0A777-8B9D-850C-3E0D-9DD07FBC7037}"/>
              </a:ext>
            </a:extLst>
          </p:cNvPr>
          <p:cNvSpPr txBox="1"/>
          <p:nvPr/>
        </p:nvSpPr>
        <p:spPr>
          <a:xfrm>
            <a:off x="9366441" y="3379665"/>
            <a:ext cx="1707006" cy="3462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1200" b="1" i="0" dirty="0">
                <a:solidFill>
                  <a:srgbClr val="423300"/>
                </a:solidFill>
                <a:latin typeface="Poppins Medium" pitchFamily="2" charset="77"/>
                <a:ea typeface="+mn-ea"/>
                <a:cs typeface="Poppins Medium" pitchFamily="2" charset="77"/>
              </a:rPr>
              <a:t>Database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423300"/>
              </a:solidFill>
              <a:effectLst/>
              <a:uLnTx/>
              <a:uFillTx/>
              <a:latin typeface="Poppins SemiBold" pitchFamily="2" charset="77"/>
              <a:ea typeface="+mn-ea"/>
              <a:cs typeface="Poppins SemiBold" pitchFamily="2" charset="7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9543741-22BB-B36E-7B7C-CAD1FA1E5683}"/>
              </a:ext>
            </a:extLst>
          </p:cNvPr>
          <p:cNvSpPr txBox="1"/>
          <p:nvPr/>
        </p:nvSpPr>
        <p:spPr>
          <a:xfrm>
            <a:off x="4794504" y="4384466"/>
            <a:ext cx="2602992" cy="3462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1200" b="1" i="0" dirty="0">
                <a:solidFill>
                  <a:srgbClr val="423300"/>
                </a:solidFill>
                <a:latin typeface="Poppins Medium" pitchFamily="2" charset="77"/>
                <a:ea typeface="+mn-ea"/>
                <a:cs typeface="Poppins Medium" pitchFamily="2" charset="77"/>
              </a:rPr>
              <a:t>What is a Database?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423300"/>
              </a:solidFill>
              <a:effectLst/>
              <a:uLnTx/>
              <a:uFillTx/>
              <a:latin typeface="Poppins SemiBold" pitchFamily="2" charset="77"/>
              <a:ea typeface="+mn-ea"/>
              <a:cs typeface="Poppins SemiBold" pitchFamily="2" charset="7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32404D7-42C9-1532-1998-89C08C7B7775}"/>
              </a:ext>
            </a:extLst>
          </p:cNvPr>
          <p:cNvSpPr txBox="1"/>
          <p:nvPr/>
        </p:nvSpPr>
        <p:spPr>
          <a:xfrm>
            <a:off x="1191705" y="3379665"/>
            <a:ext cx="1707006" cy="3462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1200" b="1" i="0" dirty="0">
                <a:solidFill>
                  <a:srgbClr val="423300"/>
                </a:solidFill>
                <a:latin typeface="Poppins Medium" pitchFamily="2" charset="77"/>
                <a:ea typeface="+mn-ea"/>
                <a:cs typeface="Poppins Medium" pitchFamily="2" charset="77"/>
              </a:rPr>
              <a:t>Client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423300"/>
              </a:solidFill>
              <a:effectLst/>
              <a:uLnTx/>
              <a:uFillTx/>
              <a:latin typeface="Poppins SemiBold" pitchFamily="2" charset="77"/>
              <a:ea typeface="+mn-ea"/>
              <a:cs typeface="Poppins SemiBold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30219564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E3889A5-D936-995E-3657-278170999E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-point Star 4">
            <a:extLst>
              <a:ext uri="{FF2B5EF4-FFF2-40B4-BE49-F238E27FC236}">
                <a16:creationId xmlns:a16="http://schemas.microsoft.com/office/drawing/2014/main" id="{4FBDFDB2-5229-2B1D-619B-1BC8E1BD051E}"/>
              </a:ext>
            </a:extLst>
          </p:cNvPr>
          <p:cNvSpPr/>
          <p:nvPr/>
        </p:nvSpPr>
        <p:spPr>
          <a:xfrm rot="2055929">
            <a:off x="551269" y="1058557"/>
            <a:ext cx="397847" cy="339660"/>
          </a:xfrm>
          <a:prstGeom prst="star4">
            <a:avLst/>
          </a:prstGeom>
          <a:solidFill>
            <a:srgbClr val="FCC6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4-point Star 5">
            <a:extLst>
              <a:ext uri="{FF2B5EF4-FFF2-40B4-BE49-F238E27FC236}">
                <a16:creationId xmlns:a16="http://schemas.microsoft.com/office/drawing/2014/main" id="{D239883B-6856-62C1-1FFE-25D0FC47F467}"/>
              </a:ext>
            </a:extLst>
          </p:cNvPr>
          <p:cNvSpPr/>
          <p:nvPr/>
        </p:nvSpPr>
        <p:spPr>
          <a:xfrm rot="787370">
            <a:off x="10090618" y="5923504"/>
            <a:ext cx="338788" cy="322778"/>
          </a:xfrm>
          <a:prstGeom prst="star4">
            <a:avLst/>
          </a:prstGeom>
          <a:solidFill>
            <a:srgbClr val="FCC6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4-point Star 6">
            <a:extLst>
              <a:ext uri="{FF2B5EF4-FFF2-40B4-BE49-F238E27FC236}">
                <a16:creationId xmlns:a16="http://schemas.microsoft.com/office/drawing/2014/main" id="{92224ACD-A792-8271-8F80-65390310F4DF}"/>
              </a:ext>
            </a:extLst>
          </p:cNvPr>
          <p:cNvSpPr/>
          <p:nvPr/>
        </p:nvSpPr>
        <p:spPr>
          <a:xfrm rot="20264836">
            <a:off x="1312900" y="6110639"/>
            <a:ext cx="279617" cy="309052"/>
          </a:xfrm>
          <a:prstGeom prst="star4">
            <a:avLst/>
          </a:prstGeom>
          <a:solidFill>
            <a:srgbClr val="FCC6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7DAFBB2-8BDD-3C3D-7110-E28D9A9DDF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67313" y="6029624"/>
            <a:ext cx="618386" cy="501804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F710CAE1-0886-10A1-9B82-7DFBF03078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0175" y="236"/>
            <a:ext cx="10125574" cy="867250"/>
          </a:xfrm>
        </p:spPr>
        <p:txBody>
          <a:bodyPr>
            <a:normAutofit/>
          </a:bodyPr>
          <a:lstStyle/>
          <a:p>
            <a:pPr algn="l">
              <a:lnSpc>
                <a:spcPts val="5020"/>
              </a:lnSpc>
            </a:pPr>
            <a:r>
              <a:rPr lang="en-US" sz="3600" b="1" dirty="0">
                <a:solidFill>
                  <a:srgbClr val="423300"/>
                </a:solidFill>
                <a:latin typeface="Poppins" pitchFamily="2" charset="77"/>
                <a:cs typeface="Poppins" pitchFamily="2" charset="77"/>
              </a:rPr>
              <a:t>Types of </a:t>
            </a:r>
            <a: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Poppins" pitchFamily="2" charset="77"/>
                <a:cs typeface="Poppins" pitchFamily="2" charset="77"/>
              </a:rPr>
              <a:t>Databases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7B2333B-F393-CE9E-B1C5-2D8E794F18F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14567" y="1843217"/>
            <a:ext cx="1749675" cy="116645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106CE8D8-E883-9F4A-A12D-C02719C0FF3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993236" y="2158217"/>
            <a:ext cx="2316077" cy="583225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3BD11135-57E7-AC6F-97C2-0B1A1DFE174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82687" y="1524551"/>
            <a:ext cx="1869864" cy="1869864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B96DA50C-83AD-2555-6C89-8C1FA6E3C9A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000756" y="1996568"/>
            <a:ext cx="1997964" cy="998982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EA7CE07A-AA34-2A81-BD1B-E04C851319A6}"/>
              </a:ext>
            </a:extLst>
          </p:cNvPr>
          <p:cNvSpPr txBox="1"/>
          <p:nvPr/>
        </p:nvSpPr>
        <p:spPr>
          <a:xfrm>
            <a:off x="1640623" y="3265100"/>
            <a:ext cx="2602992" cy="3462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1200" b="1" i="0" dirty="0">
                <a:solidFill>
                  <a:srgbClr val="423300"/>
                </a:solidFill>
                <a:latin typeface="Poppins Medium" pitchFamily="2" charset="77"/>
                <a:ea typeface="+mn-ea"/>
                <a:cs typeface="Poppins Medium" pitchFamily="2" charset="77"/>
              </a:rPr>
              <a:t>SQL Databases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423300"/>
              </a:solidFill>
              <a:effectLst/>
              <a:uLnTx/>
              <a:uFillTx/>
              <a:latin typeface="Poppins SemiBold" pitchFamily="2" charset="77"/>
              <a:ea typeface="+mn-ea"/>
              <a:cs typeface="Poppins SemiBold" pitchFamily="2" charset="7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A5136A7-E509-8028-5024-BECBB14855FB}"/>
              </a:ext>
            </a:extLst>
          </p:cNvPr>
          <p:cNvSpPr txBox="1"/>
          <p:nvPr/>
        </p:nvSpPr>
        <p:spPr>
          <a:xfrm>
            <a:off x="7693951" y="3265100"/>
            <a:ext cx="2602992" cy="3462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1200" b="1" i="0" dirty="0">
                <a:solidFill>
                  <a:srgbClr val="423300"/>
                </a:solidFill>
                <a:latin typeface="Poppins Medium" pitchFamily="2" charset="77"/>
                <a:ea typeface="+mn-ea"/>
                <a:cs typeface="Poppins Medium" pitchFamily="2" charset="77"/>
              </a:rPr>
              <a:t>NoSQL 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423300"/>
              </a:solidFill>
              <a:effectLst/>
              <a:uLnTx/>
              <a:uFillTx/>
              <a:latin typeface="Poppins SemiBold" pitchFamily="2" charset="77"/>
              <a:ea typeface="+mn-ea"/>
              <a:cs typeface="Poppins SemiBold" pitchFamily="2" charset="7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EA6E264-229C-CFA5-A045-DF22D3C43785}"/>
              </a:ext>
            </a:extLst>
          </p:cNvPr>
          <p:cNvSpPr txBox="1"/>
          <p:nvPr/>
        </p:nvSpPr>
        <p:spPr>
          <a:xfrm>
            <a:off x="620205" y="3711935"/>
            <a:ext cx="4761102" cy="16812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1400" dirty="0">
                <a:solidFill>
                  <a:srgbClr val="745A00"/>
                </a:solidFill>
                <a:latin typeface="Poppins" pitchFamily="2" charset="77"/>
                <a:cs typeface="Poppins" pitchFamily="2" charset="77"/>
              </a:rPr>
              <a:t>SQL databases, also known as relational databases, use </a:t>
            </a:r>
            <a:r>
              <a:rPr lang="en-US" sz="1400" b="1" dirty="0">
                <a:solidFill>
                  <a:srgbClr val="423300"/>
                </a:solidFill>
                <a:latin typeface="Poppins SemiBold" pitchFamily="2" charset="77"/>
                <a:cs typeface="Poppins SemiBold" pitchFamily="2" charset="77"/>
              </a:rPr>
              <a:t>Structured Query Language </a:t>
            </a:r>
            <a:r>
              <a:rPr lang="en-US" sz="1400" dirty="0">
                <a:solidFill>
                  <a:srgbClr val="745A00"/>
                </a:solidFill>
                <a:latin typeface="Poppins" pitchFamily="2" charset="77"/>
                <a:cs typeface="Poppins" pitchFamily="2" charset="77"/>
              </a:rPr>
              <a:t>(SQL) for defining and manipulating data, which is stored in tables and supports ACID properties to ensure reliable transactions.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423300"/>
              </a:solidFill>
              <a:effectLst/>
              <a:uLnTx/>
              <a:uFillTx/>
              <a:latin typeface="Poppins SemiBold" pitchFamily="2" charset="77"/>
              <a:ea typeface="+mn-ea"/>
              <a:cs typeface="Poppins SemiBold" pitchFamily="2" charset="7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A027BC5-BD16-49AA-7243-62C3579723A3}"/>
              </a:ext>
            </a:extLst>
          </p:cNvPr>
          <p:cNvSpPr txBox="1"/>
          <p:nvPr/>
        </p:nvSpPr>
        <p:spPr>
          <a:xfrm>
            <a:off x="6612685" y="3702262"/>
            <a:ext cx="4761102" cy="20043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1400" dirty="0">
                <a:solidFill>
                  <a:srgbClr val="745A00"/>
                </a:solidFill>
                <a:latin typeface="Poppins" pitchFamily="2" charset="77"/>
                <a:cs typeface="Poppins" pitchFamily="2" charset="77"/>
              </a:rPr>
              <a:t>NoSQL databases are designed to handle unstructured and semi-structured data with dynamic schemas, offering scalability and flexibility in data storage and retrieval across various data models such as document, key-value, graph, and columnar.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423300"/>
              </a:solidFill>
              <a:effectLst/>
              <a:uLnTx/>
              <a:uFillTx/>
              <a:latin typeface="Poppins SemiBold" pitchFamily="2" charset="77"/>
              <a:ea typeface="+mn-ea"/>
              <a:cs typeface="Poppins SemiBold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9812749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281EA6A-B9DC-8C76-A7D3-44F6280E8C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-point Star 4">
            <a:extLst>
              <a:ext uri="{FF2B5EF4-FFF2-40B4-BE49-F238E27FC236}">
                <a16:creationId xmlns:a16="http://schemas.microsoft.com/office/drawing/2014/main" id="{DC71F5CB-8147-1BDA-DCCA-F9B941A92667}"/>
              </a:ext>
            </a:extLst>
          </p:cNvPr>
          <p:cNvSpPr/>
          <p:nvPr/>
        </p:nvSpPr>
        <p:spPr>
          <a:xfrm rot="2055929">
            <a:off x="782787" y="5858342"/>
            <a:ext cx="397847" cy="339660"/>
          </a:xfrm>
          <a:prstGeom prst="star4">
            <a:avLst/>
          </a:prstGeom>
          <a:solidFill>
            <a:srgbClr val="FCC6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4-point Star 5">
            <a:extLst>
              <a:ext uri="{FF2B5EF4-FFF2-40B4-BE49-F238E27FC236}">
                <a16:creationId xmlns:a16="http://schemas.microsoft.com/office/drawing/2014/main" id="{43B7FDF9-6693-ED85-7D01-D8FC173AE0E4}"/>
              </a:ext>
            </a:extLst>
          </p:cNvPr>
          <p:cNvSpPr/>
          <p:nvPr/>
        </p:nvSpPr>
        <p:spPr>
          <a:xfrm rot="787370">
            <a:off x="10647967" y="330519"/>
            <a:ext cx="338788" cy="322778"/>
          </a:xfrm>
          <a:prstGeom prst="star4">
            <a:avLst/>
          </a:prstGeom>
          <a:solidFill>
            <a:srgbClr val="FCC6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4-point Star 6">
            <a:extLst>
              <a:ext uri="{FF2B5EF4-FFF2-40B4-BE49-F238E27FC236}">
                <a16:creationId xmlns:a16="http://schemas.microsoft.com/office/drawing/2014/main" id="{877AC38D-0458-502F-C6CC-6CB656DCA96F}"/>
              </a:ext>
            </a:extLst>
          </p:cNvPr>
          <p:cNvSpPr/>
          <p:nvPr/>
        </p:nvSpPr>
        <p:spPr>
          <a:xfrm rot="20264836">
            <a:off x="10820114" y="4853647"/>
            <a:ext cx="279617" cy="309052"/>
          </a:xfrm>
          <a:prstGeom prst="star4">
            <a:avLst/>
          </a:prstGeom>
          <a:solidFill>
            <a:srgbClr val="FCC6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4FDA8EE-25F7-7FB4-3AA0-9CCA0E3645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67313" y="6029624"/>
            <a:ext cx="618386" cy="501804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6B00BCA4-9107-09B7-8E1B-235867A787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0175" y="236"/>
            <a:ext cx="10125574" cy="867250"/>
          </a:xfrm>
        </p:spPr>
        <p:txBody>
          <a:bodyPr>
            <a:normAutofit/>
          </a:bodyPr>
          <a:lstStyle/>
          <a:p>
            <a:pPr algn="l">
              <a:lnSpc>
                <a:spcPts val="5020"/>
              </a:lnSpc>
            </a:pPr>
            <a:r>
              <a:rPr lang="en-US" sz="3600" b="1" dirty="0">
                <a:solidFill>
                  <a:srgbClr val="423300"/>
                </a:solidFill>
                <a:latin typeface="Poppins" pitchFamily="2" charset="77"/>
                <a:cs typeface="Poppins" pitchFamily="2" charset="77"/>
              </a:rPr>
              <a:t>How SQL Databases </a:t>
            </a:r>
            <a: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Poppins" pitchFamily="2" charset="77"/>
                <a:cs typeface="Poppins" pitchFamily="2" charset="77"/>
              </a:rPr>
              <a:t>Save Data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F760701-2637-041B-AC27-22FA84F9138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09800" y="1680476"/>
            <a:ext cx="7772400" cy="221742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BB28315-6AD5-658A-5F26-3E688C7E137E}"/>
              </a:ext>
            </a:extLst>
          </p:cNvPr>
          <p:cNvSpPr txBox="1"/>
          <p:nvPr/>
        </p:nvSpPr>
        <p:spPr>
          <a:xfrm>
            <a:off x="1264794" y="4710886"/>
            <a:ext cx="9735438" cy="10348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1400" dirty="0">
                <a:solidFill>
                  <a:srgbClr val="745A00"/>
                </a:solidFill>
                <a:latin typeface="Poppins" pitchFamily="2" charset="77"/>
                <a:cs typeface="Poppins" pitchFamily="2" charset="77"/>
              </a:rPr>
              <a:t>In SQL databases, data is stored in tables structured into rows and columns, where each table represents a specific entity and each row a unique record. Columns represent attributes of the entity, and data types are defined for each column to ensure data integrity and relational consistency.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423300"/>
              </a:solidFill>
              <a:effectLst/>
              <a:uLnTx/>
              <a:uFillTx/>
              <a:latin typeface="Poppins SemiBold" pitchFamily="2" charset="77"/>
              <a:ea typeface="+mn-ea"/>
              <a:cs typeface="Poppins SemiBold" pitchFamily="2" charset="7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940CDB9-AC43-ACF1-9652-F6A07156F431}"/>
              </a:ext>
            </a:extLst>
          </p:cNvPr>
          <p:cNvSpPr txBox="1"/>
          <p:nvPr/>
        </p:nvSpPr>
        <p:spPr>
          <a:xfrm>
            <a:off x="4794504" y="4384466"/>
            <a:ext cx="2602992" cy="3462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1200" b="1" i="0" dirty="0">
                <a:solidFill>
                  <a:srgbClr val="423300"/>
                </a:solidFill>
                <a:latin typeface="Poppins Medium" pitchFamily="2" charset="77"/>
                <a:ea typeface="+mn-ea"/>
                <a:cs typeface="Poppins Medium" pitchFamily="2" charset="77"/>
              </a:rPr>
              <a:t>Data in a SQL Database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423300"/>
              </a:solidFill>
              <a:effectLst/>
              <a:uLnTx/>
              <a:uFillTx/>
              <a:latin typeface="Poppins SemiBold" pitchFamily="2" charset="77"/>
              <a:ea typeface="+mn-ea"/>
              <a:cs typeface="Poppins SemiBold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914506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DEFDC7-8F36-EAB7-D7AA-6D36468B1E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-point Star 4">
            <a:extLst>
              <a:ext uri="{FF2B5EF4-FFF2-40B4-BE49-F238E27FC236}">
                <a16:creationId xmlns:a16="http://schemas.microsoft.com/office/drawing/2014/main" id="{338EA16F-0467-00D0-9447-063EE7C656D4}"/>
              </a:ext>
            </a:extLst>
          </p:cNvPr>
          <p:cNvSpPr/>
          <p:nvPr/>
        </p:nvSpPr>
        <p:spPr>
          <a:xfrm rot="2055929">
            <a:off x="551269" y="1058557"/>
            <a:ext cx="397847" cy="339660"/>
          </a:xfrm>
          <a:prstGeom prst="star4">
            <a:avLst/>
          </a:prstGeom>
          <a:solidFill>
            <a:srgbClr val="FCC6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4-point Star 5">
            <a:extLst>
              <a:ext uri="{FF2B5EF4-FFF2-40B4-BE49-F238E27FC236}">
                <a16:creationId xmlns:a16="http://schemas.microsoft.com/office/drawing/2014/main" id="{CE077CCD-8C00-0952-2A37-899A983A97D3}"/>
              </a:ext>
            </a:extLst>
          </p:cNvPr>
          <p:cNvSpPr/>
          <p:nvPr/>
        </p:nvSpPr>
        <p:spPr>
          <a:xfrm rot="787370">
            <a:off x="10090618" y="5923504"/>
            <a:ext cx="338788" cy="322778"/>
          </a:xfrm>
          <a:prstGeom prst="star4">
            <a:avLst/>
          </a:prstGeom>
          <a:solidFill>
            <a:srgbClr val="FCC6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4-point Star 6">
            <a:extLst>
              <a:ext uri="{FF2B5EF4-FFF2-40B4-BE49-F238E27FC236}">
                <a16:creationId xmlns:a16="http://schemas.microsoft.com/office/drawing/2014/main" id="{3A2BAB1B-CEE3-2E1E-BFC3-A4052D508BB5}"/>
              </a:ext>
            </a:extLst>
          </p:cNvPr>
          <p:cNvSpPr/>
          <p:nvPr/>
        </p:nvSpPr>
        <p:spPr>
          <a:xfrm rot="20264836">
            <a:off x="1312900" y="6110639"/>
            <a:ext cx="279617" cy="309052"/>
          </a:xfrm>
          <a:prstGeom prst="star4">
            <a:avLst/>
          </a:prstGeom>
          <a:solidFill>
            <a:srgbClr val="FCC6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7DF2551-A4F9-325B-8A6F-7A5BD5B6C1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67313" y="6029624"/>
            <a:ext cx="618386" cy="501804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B68C0B8C-7ADA-3233-E878-D103E5D411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0175" y="236"/>
            <a:ext cx="10125574" cy="867250"/>
          </a:xfrm>
        </p:spPr>
        <p:txBody>
          <a:bodyPr>
            <a:normAutofit/>
          </a:bodyPr>
          <a:lstStyle/>
          <a:p>
            <a:pPr algn="l">
              <a:lnSpc>
                <a:spcPts val="5020"/>
              </a:lnSpc>
            </a:pPr>
            <a:r>
              <a:rPr lang="en-US" sz="3600" b="1" dirty="0">
                <a:solidFill>
                  <a:srgbClr val="423300"/>
                </a:solidFill>
                <a:latin typeface="Poppins" pitchFamily="2" charset="77"/>
                <a:cs typeface="Poppins" pitchFamily="2" charset="77"/>
              </a:rPr>
              <a:t>How MongoDB Saves </a:t>
            </a:r>
            <a: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Poppins" pitchFamily="2" charset="77"/>
                <a:cs typeface="Poppins" pitchFamily="2" charset="77"/>
              </a:rPr>
              <a:t>Data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15015CB-DDB9-06AD-D5C9-ADE9D1D07D02}"/>
              </a:ext>
            </a:extLst>
          </p:cNvPr>
          <p:cNvSpPr txBox="1"/>
          <p:nvPr/>
        </p:nvSpPr>
        <p:spPr>
          <a:xfrm>
            <a:off x="1264794" y="4710886"/>
            <a:ext cx="9735438" cy="10348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1400" dirty="0">
                <a:solidFill>
                  <a:srgbClr val="745A00"/>
                </a:solidFill>
                <a:latin typeface="Poppins" pitchFamily="2" charset="77"/>
                <a:cs typeface="Poppins" pitchFamily="2" charset="77"/>
              </a:rPr>
              <a:t>MongoDB saves data in collections of documents, each document containing key-value pairs that are more flexible and can be nested for complex data structures, offering high flexibility and scalability without predefined schemas.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423300"/>
              </a:solidFill>
              <a:effectLst/>
              <a:uLnTx/>
              <a:uFillTx/>
              <a:latin typeface="Poppins SemiBold" pitchFamily="2" charset="77"/>
              <a:ea typeface="+mn-ea"/>
              <a:cs typeface="Poppins SemiBold" pitchFamily="2" charset="7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D91B8A9-8556-7C35-005E-FF63F3105A50}"/>
              </a:ext>
            </a:extLst>
          </p:cNvPr>
          <p:cNvSpPr txBox="1"/>
          <p:nvPr/>
        </p:nvSpPr>
        <p:spPr>
          <a:xfrm>
            <a:off x="4794504" y="4384466"/>
            <a:ext cx="2602992" cy="3462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1200" b="1" i="0" dirty="0">
                <a:solidFill>
                  <a:srgbClr val="423300"/>
                </a:solidFill>
                <a:latin typeface="Poppins Medium" pitchFamily="2" charset="77"/>
                <a:ea typeface="+mn-ea"/>
                <a:cs typeface="Poppins Medium" pitchFamily="2" charset="77"/>
              </a:rPr>
              <a:t>How MongoDB Stores Data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423300"/>
              </a:solidFill>
              <a:effectLst/>
              <a:uLnTx/>
              <a:uFillTx/>
              <a:latin typeface="Poppins SemiBold" pitchFamily="2" charset="77"/>
              <a:ea typeface="+mn-ea"/>
              <a:cs typeface="Poppins SemiBold" pitchFamily="2" charset="77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E69C73D-F7EF-603B-7E8F-7B0B65D48F4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4764" y="2032291"/>
            <a:ext cx="3600000" cy="167692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566F850-0B9F-6EB9-07C1-019830EA6EC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79392" y="2032290"/>
            <a:ext cx="3600000" cy="167692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77F38B4-5482-1B6C-FCD8-1AED5D63322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67236" y="2032290"/>
            <a:ext cx="3600000" cy="1676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93018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5942</TotalTime>
  <Words>310</Words>
  <Application>Microsoft Macintosh PowerPoint</Application>
  <PresentationFormat>Widescreen</PresentationFormat>
  <Paragraphs>28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Arial</vt:lpstr>
      <vt:lpstr>Calibri</vt:lpstr>
      <vt:lpstr>Calibri Light</vt:lpstr>
      <vt:lpstr>Poppins</vt:lpstr>
      <vt:lpstr>Poppins Medium</vt:lpstr>
      <vt:lpstr>Poppins SemiBold</vt:lpstr>
      <vt:lpstr>Office Theme</vt:lpstr>
      <vt:lpstr>Introduction To Databases SQL Vs. NoSQL</vt:lpstr>
      <vt:lpstr>We Do Not Have Data Persistence</vt:lpstr>
      <vt:lpstr>To Save Data We Use Database</vt:lpstr>
      <vt:lpstr>Types of Databases</vt:lpstr>
      <vt:lpstr>How SQL Databases Save Data</vt:lpstr>
      <vt:lpstr>How MongoDB Saves Data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NESTJS</dc:title>
  <dc:creator>Microsoft Office User</dc:creator>
  <cp:lastModifiedBy>Manik Bajaj</cp:lastModifiedBy>
  <cp:revision>662</cp:revision>
  <dcterms:created xsi:type="dcterms:W3CDTF">2024-02-28T11:24:07Z</dcterms:created>
  <dcterms:modified xsi:type="dcterms:W3CDTF">2024-10-05T06:27:41Z</dcterms:modified>
</cp:coreProperties>
</file>