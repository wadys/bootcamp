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339" r:id="rId3"/>
    <p:sldId id="332" r:id="rId4"/>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91126"/>
  </p:normalViewPr>
  <p:slideViewPr>
    <p:cSldViewPr snapToGrid="0" showGuides="1">
      <p:cViewPr varScale="1">
        <p:scale>
          <a:sx n="140" d="100"/>
          <a:sy n="140" d="100"/>
        </p:scale>
        <p:origin x="1032" y="200"/>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9/26/24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238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www.freecodecamp.org</a:t>
            </a:r>
            <a:r>
              <a:rPr lang="en-US" dirty="0"/>
              <a:t>/news/the-</a:t>
            </a:r>
            <a:r>
              <a:rPr lang="en-US" dirty="0" err="1"/>
              <a:t>javascript</a:t>
            </a:r>
            <a:r>
              <a:rPr lang="en-US" dirty="0"/>
              <a:t>-</a:t>
            </a:r>
            <a:r>
              <a:rPr lang="en-US" dirty="0" err="1"/>
              <a:t>dom</a:t>
            </a:r>
            <a:r>
              <a:rPr lang="en-US" dirty="0"/>
              <a:t>-manipulation-handbook/</a:t>
            </a:r>
            <a:br>
              <a:rPr lang="en-US" dirty="0"/>
            </a:br>
            <a:br>
              <a:rPr lang="en-US" dirty="0"/>
            </a:br>
            <a:br>
              <a:rPr lang="en-US" dirty="0"/>
            </a:br>
            <a:r>
              <a:rPr lang="en-US" dirty="0"/>
              <a:t>https://</a:t>
            </a:r>
            <a:r>
              <a:rPr lang="en-US" dirty="0" err="1"/>
              <a:t>github.com</a:t>
            </a:r>
            <a:r>
              <a:rPr lang="en-US" dirty="0"/>
              <a:t>/</a:t>
            </a:r>
            <a:r>
              <a:rPr lang="en-US" noProof="0" dirty="0"/>
              <a:t>john-</a:t>
            </a:r>
            <a:r>
              <a:rPr lang="en-US" noProof="0" dirty="0" err="1"/>
              <a:t>smilga</a:t>
            </a:r>
            <a:r>
              <a:rPr lang="en-US" dirty="0"/>
              <a:t>/</a:t>
            </a:r>
            <a:r>
              <a:rPr lang="en-US" dirty="0" err="1"/>
              <a:t>javascript</a:t>
            </a:r>
            <a:r>
              <a:rPr lang="en-US" dirty="0"/>
              <a:t>-basic-projects</a:t>
            </a:r>
          </a:p>
          <a:p>
            <a:r>
              <a:rPr lang="en-US" dirty="0"/>
              <a:t>https://</a:t>
            </a:r>
            <a:r>
              <a:rPr lang="en-US" dirty="0" err="1"/>
              <a:t>codepen.io</a:t>
            </a:r>
            <a:r>
              <a:rPr lang="en-US" dirty="0"/>
              <a:t>/</a:t>
            </a:r>
            <a:r>
              <a:rPr lang="en-US" dirty="0" err="1"/>
              <a:t>jacintodesign</a:t>
            </a:r>
            <a:r>
              <a:rPr lang="en-US" dirty="0"/>
              <a:t>/pen/</a:t>
            </a:r>
            <a:r>
              <a:rPr lang="en-US" dirty="0" err="1"/>
              <a:t>WNgLgRj</a:t>
            </a:r>
            <a:endParaRPr lang="en-US" dirty="0"/>
          </a:p>
          <a:p>
            <a:r>
              <a:rPr lang="en-US" dirty="0"/>
              <a:t>https://</a:t>
            </a:r>
            <a:r>
              <a:rPr lang="en-US" dirty="0" err="1"/>
              <a:t>zerotomastery.io</a:t>
            </a:r>
            <a:r>
              <a:rPr lang="en-US" dirty="0"/>
              <a:t>/blog/</a:t>
            </a:r>
            <a:r>
              <a:rPr lang="en-US" dirty="0" err="1"/>
              <a:t>javascript</a:t>
            </a:r>
            <a:r>
              <a:rPr lang="en-US" dirty="0"/>
              <a:t>-practice-projects/##2.-Create-a-calculator</a:t>
            </a:r>
          </a:p>
          <a:p>
            <a:endParaRPr lang="en-US" dirty="0"/>
          </a:p>
          <a:p>
            <a:endParaRPr lang="en-US" dirty="0"/>
          </a:p>
        </p:txBody>
      </p:sp>
      <p:sp>
        <p:nvSpPr>
          <p:cNvPr id="4" name="Slide Number Placeholder 3"/>
          <p:cNvSpPr>
            <a:spLocks noGrp="1"/>
          </p:cNvSpPr>
          <p:nvPr>
            <p:ph type="sldNum" sz="quarter" idx="5"/>
          </p:nvPr>
        </p:nvSpPr>
        <p:spPr/>
        <p:txBody>
          <a:bodyPr/>
          <a:lstStyle/>
          <a:p>
            <a:fld id="{80ED73B4-3B7A-5C47-BA0A-325276D0DB7E}" type="slidenum">
              <a:rPr lang="en-US" smtClean="0"/>
              <a:t>3</a:t>
            </a:fld>
            <a:endParaRPr lang="en-US"/>
          </a:p>
        </p:txBody>
      </p:sp>
    </p:spTree>
    <p:extLst>
      <p:ext uri="{BB962C8B-B14F-4D97-AF65-F5344CB8AC3E}">
        <p14:creationId xmlns:p14="http://schemas.microsoft.com/office/powerpoint/2010/main" val="3669966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AE442-627D-4F29-17F7-9F163A84A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5C3F1-FEC6-4745-303A-EF6382A7A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05DFB-49C9-33EC-D834-ABF60DCE5169}"/>
              </a:ext>
            </a:extLst>
          </p:cNvPr>
          <p:cNvSpPr>
            <a:spLocks noGrp="1"/>
          </p:cNvSpPr>
          <p:nvPr>
            <p:ph type="body" idx="1"/>
          </p:nvPr>
        </p:nvSpPr>
        <p:spPr/>
        <p:txBody>
          <a:bodyPr/>
          <a:lstStyle/>
          <a:p>
            <a:r>
              <a:rPr lang="en-US" dirty="0"/>
              <a:t>https://</a:t>
            </a:r>
            <a:r>
              <a:rPr lang="en-US" dirty="0" err="1"/>
              <a:t>www.freecodecamp.org</a:t>
            </a:r>
            <a:r>
              <a:rPr lang="en-US" dirty="0"/>
              <a:t>/news/the-</a:t>
            </a:r>
            <a:r>
              <a:rPr lang="en-US" dirty="0" err="1"/>
              <a:t>javascript</a:t>
            </a:r>
            <a:r>
              <a:rPr lang="en-US" dirty="0"/>
              <a:t>-</a:t>
            </a:r>
            <a:r>
              <a:rPr lang="en-US" dirty="0" err="1"/>
              <a:t>dom</a:t>
            </a:r>
            <a:r>
              <a:rPr lang="en-US" dirty="0"/>
              <a:t>-manipulation-handbook/</a:t>
            </a:r>
            <a:br>
              <a:rPr lang="en-US" dirty="0"/>
            </a:br>
            <a:br>
              <a:rPr lang="en-US" dirty="0"/>
            </a:br>
            <a:br>
              <a:rPr lang="en-US" dirty="0"/>
            </a:br>
            <a:r>
              <a:rPr lang="en-US" dirty="0"/>
              <a:t>https://</a:t>
            </a:r>
            <a:r>
              <a:rPr lang="en-US" dirty="0" err="1"/>
              <a:t>github.com</a:t>
            </a:r>
            <a:r>
              <a:rPr lang="en-US" dirty="0"/>
              <a:t>/</a:t>
            </a:r>
            <a:r>
              <a:rPr lang="en-US" noProof="0" dirty="0"/>
              <a:t>john-</a:t>
            </a:r>
            <a:r>
              <a:rPr lang="en-US" noProof="0" dirty="0" err="1"/>
              <a:t>smilga</a:t>
            </a:r>
            <a:r>
              <a:rPr lang="en-US" dirty="0"/>
              <a:t>/</a:t>
            </a:r>
            <a:r>
              <a:rPr lang="en-US" dirty="0" err="1"/>
              <a:t>javascript</a:t>
            </a:r>
            <a:r>
              <a:rPr lang="en-US" dirty="0"/>
              <a:t>-basic-projects</a:t>
            </a:r>
          </a:p>
          <a:p>
            <a:r>
              <a:rPr lang="en-US" dirty="0"/>
              <a:t>https://</a:t>
            </a:r>
            <a:r>
              <a:rPr lang="en-US" dirty="0" err="1"/>
              <a:t>codepen.io</a:t>
            </a:r>
            <a:r>
              <a:rPr lang="en-US" dirty="0"/>
              <a:t>/</a:t>
            </a:r>
            <a:r>
              <a:rPr lang="en-US" dirty="0" err="1"/>
              <a:t>jacintodesign</a:t>
            </a:r>
            <a:r>
              <a:rPr lang="en-US" dirty="0"/>
              <a:t>/pen/</a:t>
            </a:r>
            <a:r>
              <a:rPr lang="en-US" dirty="0" err="1"/>
              <a:t>WNgLgRj</a:t>
            </a:r>
            <a:endParaRPr lang="en-US" dirty="0"/>
          </a:p>
          <a:p>
            <a:r>
              <a:rPr lang="en-US" dirty="0"/>
              <a:t>https://</a:t>
            </a:r>
            <a:r>
              <a:rPr lang="en-US" dirty="0" err="1"/>
              <a:t>zerotomastery.io</a:t>
            </a:r>
            <a:r>
              <a:rPr lang="en-US" dirty="0"/>
              <a:t>/blog/</a:t>
            </a:r>
            <a:r>
              <a:rPr lang="en-US" dirty="0" err="1"/>
              <a:t>javascript</a:t>
            </a:r>
            <a:r>
              <a:rPr lang="en-US" dirty="0"/>
              <a:t>-practice-projects/##2.-Create-a-calculator</a:t>
            </a:r>
          </a:p>
          <a:p>
            <a:endParaRPr lang="en-US" dirty="0"/>
          </a:p>
          <a:p>
            <a:endParaRPr lang="en-US" dirty="0"/>
          </a:p>
        </p:txBody>
      </p:sp>
      <p:sp>
        <p:nvSpPr>
          <p:cNvPr id="4" name="Slide Number Placeholder 3">
            <a:extLst>
              <a:ext uri="{FF2B5EF4-FFF2-40B4-BE49-F238E27FC236}">
                <a16:creationId xmlns:a16="http://schemas.microsoft.com/office/drawing/2014/main" id="{D2C11208-07E2-7AEB-C26E-07EA4366D6C6}"/>
              </a:ext>
            </a:extLst>
          </p:cNvPr>
          <p:cNvSpPr>
            <a:spLocks noGrp="1"/>
          </p:cNvSpPr>
          <p:nvPr>
            <p:ph type="sldNum" sz="quarter" idx="5"/>
          </p:nvPr>
        </p:nvSpPr>
        <p:spPr/>
        <p:txBody>
          <a:bodyPr/>
          <a:lstStyle/>
          <a:p>
            <a:fld id="{80ED73B4-3B7A-5C47-BA0A-325276D0DB7E}" type="slidenum">
              <a:rPr lang="en-US" smtClean="0"/>
              <a:t>4</a:t>
            </a:fld>
            <a:endParaRPr lang="en-US"/>
          </a:p>
        </p:txBody>
      </p:sp>
    </p:spTree>
    <p:extLst>
      <p:ext uri="{BB962C8B-B14F-4D97-AF65-F5344CB8AC3E}">
        <p14:creationId xmlns:p14="http://schemas.microsoft.com/office/powerpoint/2010/main" val="837490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9/26/24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Introduction to the</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Browser Object Model (BOM)</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10" name="Graphic 9">
            <a:extLst>
              <a:ext uri="{FF2B5EF4-FFF2-40B4-BE49-F238E27FC236}">
                <a16:creationId xmlns:a16="http://schemas.microsoft.com/office/drawing/2014/main" id="{84C15FE4-8400-BA80-306C-5C9A01C81B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1940519"/>
            <a:ext cx="900000" cy="90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4-point Star 4">
            <a:extLst>
              <a:ext uri="{FF2B5EF4-FFF2-40B4-BE49-F238E27FC236}">
                <a16:creationId xmlns:a16="http://schemas.microsoft.com/office/drawing/2014/main" id="{72042A47-18F1-19EA-DA4D-4B338208F7AB}"/>
              </a:ext>
            </a:extLst>
          </p:cNvPr>
          <p:cNvSpPr/>
          <p:nvPr/>
        </p:nvSpPr>
        <p:spPr>
          <a:xfrm rot="2055929">
            <a:off x="11326759" y="445303"/>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567DD399-6D96-8282-2AF3-7548B8B8E838}"/>
              </a:ext>
            </a:extLst>
          </p:cNvPr>
          <p:cNvSpPr/>
          <p:nvPr/>
        </p:nvSpPr>
        <p:spPr>
          <a:xfrm rot="787370">
            <a:off x="522393" y="1400653"/>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1289643" y="618094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E962599-37BE-7875-19E0-45ED97D7B794}"/>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Components Of </a:t>
            </a:r>
            <a:r>
              <a:rPr lang="en-US" sz="3600" b="1" dirty="0">
                <a:solidFill>
                  <a:schemeClr val="accent2">
                    <a:lumMod val="75000"/>
                  </a:schemeClr>
                </a:solidFill>
                <a:latin typeface="Poppins" pitchFamily="2" charset="77"/>
                <a:cs typeface="Poppins" pitchFamily="2" charset="77"/>
              </a:rPr>
              <a:t>JavaScript in Browser</a:t>
            </a:r>
          </a:p>
        </p:txBody>
      </p:sp>
      <p:sp>
        <p:nvSpPr>
          <p:cNvPr id="10" name="TextBox 9">
            <a:extLst>
              <a:ext uri="{FF2B5EF4-FFF2-40B4-BE49-F238E27FC236}">
                <a16:creationId xmlns:a16="http://schemas.microsoft.com/office/drawing/2014/main" id="{80E4AFA1-ACB7-23B5-F916-9C7CAA3E93ED}"/>
              </a:ext>
            </a:extLst>
          </p:cNvPr>
          <p:cNvSpPr txBox="1"/>
          <p:nvPr/>
        </p:nvSpPr>
        <p:spPr>
          <a:xfrm>
            <a:off x="5694016" y="2154421"/>
            <a:ext cx="5782490" cy="2650726"/>
          </a:xfrm>
          <a:prstGeom prst="rect">
            <a:avLst/>
          </a:prstGeom>
          <a:noFill/>
        </p:spPr>
        <p:txBody>
          <a:bodyPr wrap="square" rtlCol="0">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rPr>
              <a:t>Core (ECMAScript):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Defines the language’s syntax, data types, statements, and operators.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rPr>
              <a:t>DOM (Document Object Model):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Represents the webpage as a tree structure, allowing JavaScript to manipulate HTML elements.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rPr>
              <a:t>BOM (Browser Object Model):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Provides access to browser features such as the window object, enabling JavaScript to control browser behavior outside of the webpage.</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4" name="Picture 3">
            <a:extLst>
              <a:ext uri="{FF2B5EF4-FFF2-40B4-BE49-F238E27FC236}">
                <a16:creationId xmlns:a16="http://schemas.microsoft.com/office/drawing/2014/main" id="{5C4B3804-66E2-1AD1-D09F-332CC1ED9B02}"/>
              </a:ext>
            </a:extLst>
          </p:cNvPr>
          <p:cNvPicPr>
            <a:picLocks noChangeAspect="1"/>
          </p:cNvPicPr>
          <p:nvPr/>
        </p:nvPicPr>
        <p:blipFill>
          <a:blip r:embed="rId5"/>
          <a:stretch>
            <a:fillRect/>
          </a:stretch>
        </p:blipFill>
        <p:spPr>
          <a:xfrm>
            <a:off x="1863635" y="2427514"/>
            <a:ext cx="1800000" cy="1800000"/>
          </a:xfrm>
          <a:prstGeom prst="rect">
            <a:avLst/>
          </a:prstGeom>
        </p:spPr>
      </p:pic>
      <p:sp>
        <p:nvSpPr>
          <p:cNvPr id="2" name="5-point Star 1">
            <a:extLst>
              <a:ext uri="{FF2B5EF4-FFF2-40B4-BE49-F238E27FC236}">
                <a16:creationId xmlns:a16="http://schemas.microsoft.com/office/drawing/2014/main" id="{46E962D4-5D82-FB3D-AACA-9CEF0EFB03A2}"/>
              </a:ext>
            </a:extLst>
          </p:cNvPr>
          <p:cNvSpPr/>
          <p:nvPr/>
        </p:nvSpPr>
        <p:spPr>
          <a:xfrm>
            <a:off x="5456903" y="3878399"/>
            <a:ext cx="237113" cy="224589"/>
          </a:xfrm>
          <a:prstGeom prst="star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D59AB7A-E70C-66D1-4F9F-DE42B0268785}"/>
              </a:ext>
            </a:extLst>
          </p:cNvPr>
          <p:cNvSpPr txBox="1"/>
          <p:nvPr/>
        </p:nvSpPr>
        <p:spPr>
          <a:xfrm>
            <a:off x="1316736" y="2121408"/>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0309939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4-point Star 4">
            <a:extLst>
              <a:ext uri="{FF2B5EF4-FFF2-40B4-BE49-F238E27FC236}">
                <a16:creationId xmlns:a16="http://schemas.microsoft.com/office/drawing/2014/main" id="{72042A47-18F1-19EA-DA4D-4B338208F7AB}"/>
              </a:ext>
            </a:extLst>
          </p:cNvPr>
          <p:cNvSpPr/>
          <p:nvPr/>
        </p:nvSpPr>
        <p:spPr>
          <a:xfrm rot="2055929">
            <a:off x="7745697" y="6363049"/>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11414693" y="563119"/>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162454" y="1775737"/>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E962599-37BE-7875-19E0-45ED97D7B794}"/>
              </a:ext>
            </a:extLst>
          </p:cNvPr>
          <p:cNvSpPr>
            <a:spLocks noGrp="1"/>
          </p:cNvSpPr>
          <p:nvPr>
            <p:ph type="ctrTitle"/>
          </p:nvPr>
        </p:nvSpPr>
        <p:spPr>
          <a:xfrm>
            <a:off x="490176" y="236"/>
            <a:ext cx="9144000"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Components Of </a:t>
            </a:r>
            <a:r>
              <a:rPr lang="en-US" sz="3600" b="1" dirty="0">
                <a:solidFill>
                  <a:schemeClr val="accent2">
                    <a:lumMod val="75000"/>
                  </a:schemeClr>
                </a:solidFill>
                <a:latin typeface="Poppins" pitchFamily="2" charset="77"/>
                <a:cs typeface="Poppins" pitchFamily="2" charset="77"/>
              </a:rPr>
              <a:t>BOM</a:t>
            </a:r>
          </a:p>
        </p:txBody>
      </p:sp>
      <p:sp>
        <p:nvSpPr>
          <p:cNvPr id="12" name="TextBox 11">
            <a:extLst>
              <a:ext uri="{FF2B5EF4-FFF2-40B4-BE49-F238E27FC236}">
                <a16:creationId xmlns:a16="http://schemas.microsoft.com/office/drawing/2014/main" id="{D16F0C4B-46FE-85F4-F31F-FBF261857770}"/>
              </a:ext>
            </a:extLst>
          </p:cNvPr>
          <p:cNvSpPr txBox="1"/>
          <p:nvPr/>
        </p:nvSpPr>
        <p:spPr>
          <a:xfrm>
            <a:off x="490176" y="942404"/>
            <a:ext cx="10089432" cy="623248"/>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Browser Object Model (BOM) consists of objects that provide interaction with the browser, allowing manipulation of everything outside the HTML document. There are no official standards for the Browser Object Model (BOM).</a:t>
            </a:r>
          </a:p>
        </p:txBody>
      </p:sp>
      <p:sp>
        <p:nvSpPr>
          <p:cNvPr id="4" name="TextBox 3">
            <a:extLst>
              <a:ext uri="{FF2B5EF4-FFF2-40B4-BE49-F238E27FC236}">
                <a16:creationId xmlns:a16="http://schemas.microsoft.com/office/drawing/2014/main" id="{B7098A10-5C9D-F32D-53A2-73495A3C56DB}"/>
              </a:ext>
            </a:extLst>
          </p:cNvPr>
          <p:cNvSpPr txBox="1"/>
          <p:nvPr/>
        </p:nvSpPr>
        <p:spPr>
          <a:xfrm>
            <a:off x="456940" y="3903953"/>
            <a:ext cx="2709772" cy="1731243"/>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global object that represents the browser window. It acts as the root level of the BOM and all global JavaScript objects, functions, and variables are part of it.</a:t>
            </a:r>
          </a:p>
        </p:txBody>
      </p:sp>
      <p:sp>
        <p:nvSpPr>
          <p:cNvPr id="9" name="TextBox 8">
            <a:extLst>
              <a:ext uri="{FF2B5EF4-FFF2-40B4-BE49-F238E27FC236}">
                <a16:creationId xmlns:a16="http://schemas.microsoft.com/office/drawing/2014/main" id="{39ACF9A1-84E0-E315-1AB6-6A5A8BFDC426}"/>
              </a:ext>
            </a:extLst>
          </p:cNvPr>
          <p:cNvSpPr txBox="1"/>
          <p:nvPr/>
        </p:nvSpPr>
        <p:spPr>
          <a:xfrm>
            <a:off x="557333"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Window Object</a:t>
            </a:r>
          </a:p>
        </p:txBody>
      </p:sp>
      <p:sp>
        <p:nvSpPr>
          <p:cNvPr id="11" name="TextBox 10">
            <a:extLst>
              <a:ext uri="{FF2B5EF4-FFF2-40B4-BE49-F238E27FC236}">
                <a16:creationId xmlns:a16="http://schemas.microsoft.com/office/drawing/2014/main" id="{0D6BEA5A-FAF0-447F-FC92-FAE5B626466C}"/>
              </a:ext>
            </a:extLst>
          </p:cNvPr>
          <p:cNvSpPr txBox="1"/>
          <p:nvPr/>
        </p:nvSpPr>
        <p:spPr>
          <a:xfrm>
            <a:off x="3248266" y="3903953"/>
            <a:ext cx="2709772" cy="1177245"/>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Provides information about the user's screen, such as its resolution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screen.width</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and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screen.height</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t>
            </a:r>
          </a:p>
        </p:txBody>
      </p:sp>
      <p:sp>
        <p:nvSpPr>
          <p:cNvPr id="13" name="TextBox 12">
            <a:extLst>
              <a:ext uri="{FF2B5EF4-FFF2-40B4-BE49-F238E27FC236}">
                <a16:creationId xmlns:a16="http://schemas.microsoft.com/office/drawing/2014/main" id="{CBC44280-3364-A689-6817-A26257BDC41F}"/>
              </a:ext>
            </a:extLst>
          </p:cNvPr>
          <p:cNvSpPr txBox="1"/>
          <p:nvPr/>
        </p:nvSpPr>
        <p:spPr>
          <a:xfrm>
            <a:off x="3348659"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Screen Object</a:t>
            </a:r>
          </a:p>
        </p:txBody>
      </p:sp>
      <p:sp>
        <p:nvSpPr>
          <p:cNvPr id="14" name="TextBox 13">
            <a:extLst>
              <a:ext uri="{FF2B5EF4-FFF2-40B4-BE49-F238E27FC236}">
                <a16:creationId xmlns:a16="http://schemas.microsoft.com/office/drawing/2014/main" id="{5685AEA5-7589-4E3E-0C1D-F9DC6E689872}"/>
              </a:ext>
            </a:extLst>
          </p:cNvPr>
          <p:cNvSpPr txBox="1"/>
          <p:nvPr/>
        </p:nvSpPr>
        <p:spPr>
          <a:xfrm>
            <a:off x="6106969" y="3903953"/>
            <a:ext cx="2709772" cy="145424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Allow web applications to store data locally within the user's browser and manage data that only lasts for the duration of the page session, respectively.</a:t>
            </a:r>
          </a:p>
        </p:txBody>
      </p:sp>
      <p:sp>
        <p:nvSpPr>
          <p:cNvPr id="15" name="TextBox 14">
            <a:extLst>
              <a:ext uri="{FF2B5EF4-FFF2-40B4-BE49-F238E27FC236}">
                <a16:creationId xmlns:a16="http://schemas.microsoft.com/office/drawing/2014/main" id="{2621363E-375A-6D17-9FE0-038DF13F3C86}"/>
              </a:ext>
            </a:extLst>
          </p:cNvPr>
          <p:cNvSpPr txBox="1"/>
          <p:nvPr/>
        </p:nvSpPr>
        <p:spPr>
          <a:xfrm>
            <a:off x="6207362"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Local Storage</a:t>
            </a:r>
          </a:p>
        </p:txBody>
      </p:sp>
      <p:sp>
        <p:nvSpPr>
          <p:cNvPr id="16" name="TextBox 15">
            <a:extLst>
              <a:ext uri="{FF2B5EF4-FFF2-40B4-BE49-F238E27FC236}">
                <a16:creationId xmlns:a16="http://schemas.microsoft.com/office/drawing/2014/main" id="{1914D5D8-0C3C-70C7-173F-99C1FC0FB448}"/>
              </a:ext>
            </a:extLst>
          </p:cNvPr>
          <p:cNvSpPr txBox="1"/>
          <p:nvPr/>
        </p:nvSpPr>
        <p:spPr>
          <a:xfrm>
            <a:off x="8869419" y="3903953"/>
            <a:ext cx="2709772" cy="900246"/>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Collections of global objects for frames, including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window.frames</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t>
            </a:r>
          </a:p>
        </p:txBody>
      </p:sp>
      <p:sp>
        <p:nvSpPr>
          <p:cNvPr id="17" name="TextBox 16">
            <a:extLst>
              <a:ext uri="{FF2B5EF4-FFF2-40B4-BE49-F238E27FC236}">
                <a16:creationId xmlns:a16="http://schemas.microsoft.com/office/drawing/2014/main" id="{5B0D11A2-B083-986C-0D22-B09C63C8C3EE}"/>
              </a:ext>
            </a:extLst>
          </p:cNvPr>
          <p:cNvSpPr txBox="1"/>
          <p:nvPr/>
        </p:nvSpPr>
        <p:spPr>
          <a:xfrm>
            <a:off x="8969812"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Frames</a:t>
            </a:r>
          </a:p>
        </p:txBody>
      </p:sp>
      <p:pic>
        <p:nvPicPr>
          <p:cNvPr id="23" name="Picture 22">
            <a:extLst>
              <a:ext uri="{FF2B5EF4-FFF2-40B4-BE49-F238E27FC236}">
                <a16:creationId xmlns:a16="http://schemas.microsoft.com/office/drawing/2014/main" id="{8576E4A0-C649-4BB2-ED55-AC6A99A5691A}"/>
              </a:ext>
            </a:extLst>
          </p:cNvPr>
          <p:cNvPicPr>
            <a:picLocks noChangeAspect="1"/>
          </p:cNvPicPr>
          <p:nvPr/>
        </p:nvPicPr>
        <p:blipFill>
          <a:blip r:embed="rId5"/>
          <a:stretch>
            <a:fillRect/>
          </a:stretch>
        </p:blipFill>
        <p:spPr>
          <a:xfrm>
            <a:off x="1451826" y="2463265"/>
            <a:ext cx="720000" cy="720000"/>
          </a:xfrm>
          <a:prstGeom prst="rect">
            <a:avLst/>
          </a:prstGeom>
        </p:spPr>
      </p:pic>
      <p:pic>
        <p:nvPicPr>
          <p:cNvPr id="25" name="Picture 24">
            <a:extLst>
              <a:ext uri="{FF2B5EF4-FFF2-40B4-BE49-F238E27FC236}">
                <a16:creationId xmlns:a16="http://schemas.microsoft.com/office/drawing/2014/main" id="{B337E329-3FF4-DB26-C2DA-957A57246884}"/>
              </a:ext>
            </a:extLst>
          </p:cNvPr>
          <p:cNvPicPr>
            <a:picLocks noChangeAspect="1"/>
          </p:cNvPicPr>
          <p:nvPr/>
        </p:nvPicPr>
        <p:blipFill>
          <a:blip r:embed="rId6"/>
          <a:stretch>
            <a:fillRect/>
          </a:stretch>
        </p:blipFill>
        <p:spPr>
          <a:xfrm>
            <a:off x="4243152" y="2463265"/>
            <a:ext cx="720000" cy="720000"/>
          </a:xfrm>
          <a:prstGeom prst="rect">
            <a:avLst/>
          </a:prstGeom>
        </p:spPr>
      </p:pic>
      <p:pic>
        <p:nvPicPr>
          <p:cNvPr id="27" name="Picture 26">
            <a:extLst>
              <a:ext uri="{FF2B5EF4-FFF2-40B4-BE49-F238E27FC236}">
                <a16:creationId xmlns:a16="http://schemas.microsoft.com/office/drawing/2014/main" id="{4FFADE15-FEAB-6A3A-D35F-5A266AF66A35}"/>
              </a:ext>
            </a:extLst>
          </p:cNvPr>
          <p:cNvPicPr>
            <a:picLocks noChangeAspect="1"/>
          </p:cNvPicPr>
          <p:nvPr/>
        </p:nvPicPr>
        <p:blipFill>
          <a:blip r:embed="rId7"/>
          <a:stretch>
            <a:fillRect/>
          </a:stretch>
        </p:blipFill>
        <p:spPr>
          <a:xfrm>
            <a:off x="7101855" y="2463265"/>
            <a:ext cx="720000" cy="720000"/>
          </a:xfrm>
          <a:prstGeom prst="rect">
            <a:avLst/>
          </a:prstGeom>
        </p:spPr>
      </p:pic>
      <p:pic>
        <p:nvPicPr>
          <p:cNvPr id="29" name="Picture 28">
            <a:extLst>
              <a:ext uri="{FF2B5EF4-FFF2-40B4-BE49-F238E27FC236}">
                <a16:creationId xmlns:a16="http://schemas.microsoft.com/office/drawing/2014/main" id="{91B65038-994F-4126-9FB5-3AB85A991141}"/>
              </a:ext>
            </a:extLst>
          </p:cNvPr>
          <p:cNvPicPr>
            <a:picLocks noChangeAspect="1"/>
          </p:cNvPicPr>
          <p:nvPr/>
        </p:nvPicPr>
        <p:blipFill>
          <a:blip r:embed="rId8"/>
          <a:stretch>
            <a:fillRect/>
          </a:stretch>
        </p:blipFill>
        <p:spPr>
          <a:xfrm>
            <a:off x="9864305" y="2463265"/>
            <a:ext cx="720000" cy="720000"/>
          </a:xfrm>
          <a:prstGeom prst="rect">
            <a:avLst/>
          </a:prstGeom>
        </p:spPr>
      </p:pic>
    </p:spTree>
    <p:extLst>
      <p:ext uri="{BB962C8B-B14F-4D97-AF65-F5344CB8AC3E}">
        <p14:creationId xmlns:p14="http://schemas.microsoft.com/office/powerpoint/2010/main" val="8219627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CC23918-A130-6DD7-7B69-0640831AB45B}"/>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BDEAE065-841A-DC18-BD74-77094CA582E9}"/>
              </a:ext>
            </a:extLst>
          </p:cNvPr>
          <p:cNvSpPr/>
          <p:nvPr/>
        </p:nvSpPr>
        <p:spPr>
          <a:xfrm rot="2055929">
            <a:off x="905985" y="6238391"/>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FD3893B-05E4-408B-E546-1D1A1D2F659C}"/>
              </a:ext>
            </a:extLst>
          </p:cNvPr>
          <p:cNvSpPr/>
          <p:nvPr/>
        </p:nvSpPr>
        <p:spPr>
          <a:xfrm rot="787370">
            <a:off x="11663260" y="354693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DA4D81F1-AF53-3932-A250-277CB1462BF6}"/>
              </a:ext>
            </a:extLst>
          </p:cNvPr>
          <p:cNvSpPr/>
          <p:nvPr/>
        </p:nvSpPr>
        <p:spPr>
          <a:xfrm rot="20264836">
            <a:off x="7732708" y="178387"/>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3F21486-217A-C545-80E5-4F038C6C1323}"/>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29C756A5-522B-4276-45B2-BD7EE87894E0}"/>
              </a:ext>
            </a:extLst>
          </p:cNvPr>
          <p:cNvSpPr>
            <a:spLocks noGrp="1"/>
          </p:cNvSpPr>
          <p:nvPr>
            <p:ph type="ctrTitle"/>
          </p:nvPr>
        </p:nvSpPr>
        <p:spPr>
          <a:xfrm>
            <a:off x="490176" y="236"/>
            <a:ext cx="9144000"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Components Of </a:t>
            </a:r>
            <a:r>
              <a:rPr lang="en-US" sz="3600" b="1" dirty="0">
                <a:solidFill>
                  <a:schemeClr val="accent2">
                    <a:lumMod val="75000"/>
                  </a:schemeClr>
                </a:solidFill>
                <a:latin typeface="Poppins" pitchFamily="2" charset="77"/>
                <a:cs typeface="Poppins" pitchFamily="2" charset="77"/>
              </a:rPr>
              <a:t>BOM</a:t>
            </a:r>
          </a:p>
        </p:txBody>
      </p:sp>
      <p:sp>
        <p:nvSpPr>
          <p:cNvPr id="12" name="TextBox 11">
            <a:extLst>
              <a:ext uri="{FF2B5EF4-FFF2-40B4-BE49-F238E27FC236}">
                <a16:creationId xmlns:a16="http://schemas.microsoft.com/office/drawing/2014/main" id="{E606F8EE-0A21-6AEB-F413-5C84DBD0D949}"/>
              </a:ext>
            </a:extLst>
          </p:cNvPr>
          <p:cNvSpPr txBox="1"/>
          <p:nvPr/>
        </p:nvSpPr>
        <p:spPr>
          <a:xfrm>
            <a:off x="490176" y="942404"/>
            <a:ext cx="10089432" cy="623248"/>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The Browser Object Model (BOM) consists of objects that provide interaction with the browser, allowing manipulation of everything outside the HTML document. There are no official standards for the Browser Object Model (BOM).</a:t>
            </a:r>
          </a:p>
        </p:txBody>
      </p:sp>
      <p:sp>
        <p:nvSpPr>
          <p:cNvPr id="4" name="TextBox 3">
            <a:extLst>
              <a:ext uri="{FF2B5EF4-FFF2-40B4-BE49-F238E27FC236}">
                <a16:creationId xmlns:a16="http://schemas.microsoft.com/office/drawing/2014/main" id="{E28633DC-FAF8-2799-6766-018715A0F25B}"/>
              </a:ext>
            </a:extLst>
          </p:cNvPr>
          <p:cNvSpPr txBox="1"/>
          <p:nvPr/>
        </p:nvSpPr>
        <p:spPr>
          <a:xfrm>
            <a:off x="1929124" y="3903953"/>
            <a:ext cx="2709772" cy="900246"/>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Functions to interact with the user via pop-ups, confirmations, and prompt dialogs.</a:t>
            </a:r>
          </a:p>
        </p:txBody>
      </p:sp>
      <p:sp>
        <p:nvSpPr>
          <p:cNvPr id="9" name="TextBox 8">
            <a:extLst>
              <a:ext uri="{FF2B5EF4-FFF2-40B4-BE49-F238E27FC236}">
                <a16:creationId xmlns:a16="http://schemas.microsoft.com/office/drawing/2014/main" id="{B0185CD4-CD40-148C-52FE-29DA81823325}"/>
              </a:ext>
            </a:extLst>
          </p:cNvPr>
          <p:cNvSpPr txBox="1"/>
          <p:nvPr/>
        </p:nvSpPr>
        <p:spPr>
          <a:xfrm>
            <a:off x="2029517"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Alert</a:t>
            </a:r>
          </a:p>
        </p:txBody>
      </p:sp>
      <p:sp>
        <p:nvSpPr>
          <p:cNvPr id="11" name="TextBox 10">
            <a:extLst>
              <a:ext uri="{FF2B5EF4-FFF2-40B4-BE49-F238E27FC236}">
                <a16:creationId xmlns:a16="http://schemas.microsoft.com/office/drawing/2014/main" id="{B34CCF57-2364-BFBA-E766-B9294437732A}"/>
              </a:ext>
            </a:extLst>
          </p:cNvPr>
          <p:cNvSpPr txBox="1"/>
          <p:nvPr/>
        </p:nvSpPr>
        <p:spPr>
          <a:xfrm>
            <a:off x="4720450" y="3903953"/>
            <a:ext cx="2709772" cy="1177245"/>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Methods like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setTimeout</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and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setInterval</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for setting timers that execute code after a specified interval.</a:t>
            </a:r>
          </a:p>
        </p:txBody>
      </p:sp>
      <p:sp>
        <p:nvSpPr>
          <p:cNvPr id="13" name="TextBox 12">
            <a:extLst>
              <a:ext uri="{FF2B5EF4-FFF2-40B4-BE49-F238E27FC236}">
                <a16:creationId xmlns:a16="http://schemas.microsoft.com/office/drawing/2014/main" id="{43145450-73CB-464F-8373-A2E393CE8AD8}"/>
              </a:ext>
            </a:extLst>
          </p:cNvPr>
          <p:cNvSpPr txBox="1"/>
          <p:nvPr/>
        </p:nvSpPr>
        <p:spPr>
          <a:xfrm>
            <a:off x="4820843"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Timers</a:t>
            </a:r>
          </a:p>
        </p:txBody>
      </p:sp>
      <p:sp>
        <p:nvSpPr>
          <p:cNvPr id="14" name="TextBox 13">
            <a:extLst>
              <a:ext uri="{FF2B5EF4-FFF2-40B4-BE49-F238E27FC236}">
                <a16:creationId xmlns:a16="http://schemas.microsoft.com/office/drawing/2014/main" id="{FB536A48-134F-E9A1-4CD5-CA53A6A2F13E}"/>
              </a:ext>
            </a:extLst>
          </p:cNvPr>
          <p:cNvSpPr txBox="1"/>
          <p:nvPr/>
        </p:nvSpPr>
        <p:spPr>
          <a:xfrm>
            <a:off x="7579153" y="3903953"/>
            <a:ext cx="2709772" cy="145424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Although technically part of the HTTP protocol, cookies can be accessed and manipulated using </a:t>
            </a:r>
            <a:r>
              <a:rPr kumimoji="0" lang="en-US" sz="1200" b="0" i="0" u="none" strike="noStrike" kern="1200" cap="none" spc="0" normalizeH="0" baseline="0" noProof="0" dirty="0" err="1">
                <a:ln>
                  <a:noFill/>
                </a:ln>
                <a:solidFill>
                  <a:srgbClr val="745A00"/>
                </a:solidFill>
                <a:effectLst/>
                <a:uLnTx/>
                <a:uFillTx/>
                <a:latin typeface="Poppins" pitchFamily="2" charset="77"/>
                <a:ea typeface="+mn-ea"/>
                <a:cs typeface="Poppins" pitchFamily="2" charset="77"/>
              </a:rPr>
              <a:t>document.cookie</a:t>
            </a:r>
            <a:r>
              <a:rPr kumimoji="0" lang="en-US" sz="12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 through the BOM.</a:t>
            </a:r>
          </a:p>
        </p:txBody>
      </p:sp>
      <p:sp>
        <p:nvSpPr>
          <p:cNvPr id="15" name="TextBox 14">
            <a:extLst>
              <a:ext uri="{FF2B5EF4-FFF2-40B4-BE49-F238E27FC236}">
                <a16:creationId xmlns:a16="http://schemas.microsoft.com/office/drawing/2014/main" id="{320A1E07-5339-32BD-7FA3-C67B679B9BEC}"/>
              </a:ext>
            </a:extLst>
          </p:cNvPr>
          <p:cNvSpPr txBox="1"/>
          <p:nvPr/>
        </p:nvSpPr>
        <p:spPr>
          <a:xfrm>
            <a:off x="7679546" y="3429000"/>
            <a:ext cx="250898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pitchFamily="2" charset="77"/>
                <a:cs typeface="Poppins" pitchFamily="2" charset="77"/>
              </a:rPr>
              <a:t>Cookies</a:t>
            </a:r>
          </a:p>
        </p:txBody>
      </p:sp>
      <p:pic>
        <p:nvPicPr>
          <p:cNvPr id="23" name="Picture 22">
            <a:extLst>
              <a:ext uri="{FF2B5EF4-FFF2-40B4-BE49-F238E27FC236}">
                <a16:creationId xmlns:a16="http://schemas.microsoft.com/office/drawing/2014/main" id="{C8CA1319-D19A-8A16-9309-6E7959190C39}"/>
              </a:ext>
            </a:extLst>
          </p:cNvPr>
          <p:cNvPicPr>
            <a:picLocks noChangeAspect="1"/>
          </p:cNvPicPr>
          <p:nvPr/>
        </p:nvPicPr>
        <p:blipFill>
          <a:blip r:embed="rId5"/>
          <a:stretch>
            <a:fillRect/>
          </a:stretch>
        </p:blipFill>
        <p:spPr>
          <a:xfrm>
            <a:off x="2924010" y="2463265"/>
            <a:ext cx="720000" cy="720000"/>
          </a:xfrm>
          <a:prstGeom prst="rect">
            <a:avLst/>
          </a:prstGeom>
        </p:spPr>
      </p:pic>
      <p:pic>
        <p:nvPicPr>
          <p:cNvPr id="25" name="Picture 24">
            <a:extLst>
              <a:ext uri="{FF2B5EF4-FFF2-40B4-BE49-F238E27FC236}">
                <a16:creationId xmlns:a16="http://schemas.microsoft.com/office/drawing/2014/main" id="{3CDF6EB6-B3F6-738D-1C11-C7A9EB2326C7}"/>
              </a:ext>
            </a:extLst>
          </p:cNvPr>
          <p:cNvPicPr>
            <a:picLocks noChangeAspect="1"/>
          </p:cNvPicPr>
          <p:nvPr/>
        </p:nvPicPr>
        <p:blipFill>
          <a:blip r:embed="rId6"/>
          <a:stretch>
            <a:fillRect/>
          </a:stretch>
        </p:blipFill>
        <p:spPr>
          <a:xfrm>
            <a:off x="5715336" y="2463265"/>
            <a:ext cx="720000" cy="720000"/>
          </a:xfrm>
          <a:prstGeom prst="rect">
            <a:avLst/>
          </a:prstGeom>
        </p:spPr>
      </p:pic>
      <p:pic>
        <p:nvPicPr>
          <p:cNvPr id="27" name="Picture 26">
            <a:extLst>
              <a:ext uri="{FF2B5EF4-FFF2-40B4-BE49-F238E27FC236}">
                <a16:creationId xmlns:a16="http://schemas.microsoft.com/office/drawing/2014/main" id="{CE0AA56F-98F3-0F44-ABB6-183CB868186F}"/>
              </a:ext>
            </a:extLst>
          </p:cNvPr>
          <p:cNvPicPr>
            <a:picLocks noChangeAspect="1"/>
          </p:cNvPicPr>
          <p:nvPr/>
        </p:nvPicPr>
        <p:blipFill>
          <a:blip r:embed="rId7"/>
          <a:stretch>
            <a:fillRect/>
          </a:stretch>
        </p:blipFill>
        <p:spPr>
          <a:xfrm>
            <a:off x="8574039" y="2463265"/>
            <a:ext cx="720000" cy="720000"/>
          </a:xfrm>
          <a:prstGeom prst="rect">
            <a:avLst/>
          </a:prstGeom>
        </p:spPr>
      </p:pic>
    </p:spTree>
    <p:extLst>
      <p:ext uri="{BB962C8B-B14F-4D97-AF65-F5344CB8AC3E}">
        <p14:creationId xmlns:p14="http://schemas.microsoft.com/office/powerpoint/2010/main" val="427015463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5129</TotalTime>
  <Words>425</Words>
  <Application>Microsoft Macintosh PowerPoint</Application>
  <PresentationFormat>Widescreen</PresentationFormat>
  <Paragraphs>33</Paragraphs>
  <Slides>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Poppins</vt:lpstr>
      <vt:lpstr>Poppins SemiBold</vt:lpstr>
      <vt:lpstr>Office Theme</vt:lpstr>
      <vt:lpstr>Introduction to the Browser Object Model (BOM)</vt:lpstr>
      <vt:lpstr>Components Of JavaScript in Browser</vt:lpstr>
      <vt:lpstr>Components Of BOM</vt:lpstr>
      <vt:lpstr>Components Of BOM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518</cp:revision>
  <dcterms:created xsi:type="dcterms:W3CDTF">2024-02-28T11:24:07Z</dcterms:created>
  <dcterms:modified xsi:type="dcterms:W3CDTF">2024-09-26T05:50:15Z</dcterms:modified>
</cp:coreProperties>
</file>