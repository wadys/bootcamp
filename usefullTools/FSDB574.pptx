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345" r:id="rId3"/>
    <p:sldId id="348" r:id="rId4"/>
    <p:sldId id="346" r:id="rId5"/>
    <p:sldId id="34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3300"/>
    <a:srgbClr val="745A00"/>
    <a:srgbClr val="61456A"/>
    <a:srgbClr val="C55A11"/>
    <a:srgbClr val="AD6513"/>
    <a:srgbClr val="FCC613"/>
    <a:srgbClr val="FFDD6D"/>
    <a:srgbClr val="DD53F8"/>
    <a:srgbClr val="E100FF"/>
    <a:srgbClr val="E85E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015"/>
    <p:restoredTop sz="91126"/>
  </p:normalViewPr>
  <p:slideViewPr>
    <p:cSldViewPr snapToGrid="0" showGuides="1">
      <p:cViewPr varScale="1">
        <p:scale>
          <a:sx n="140" d="100"/>
          <a:sy n="140" d="100"/>
        </p:scale>
        <p:origin x="1032" y="2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CAFF5F-4593-4642-B263-46DC71846A50}" type="datetimeFigureOut">
              <a:rPr lang="en-US" smtClean="0"/>
              <a:t>10/4/24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D73B4-3B7A-5C47-BA0A-325276D0DB7E}" type="slidenum">
              <a:rPr lang="en-US" smtClean="0"/>
              <a:t>‹#›</a:t>
            </a:fld>
            <a:endParaRPr lang="en-US"/>
          </a:p>
        </p:txBody>
      </p:sp>
    </p:spTree>
    <p:extLst>
      <p:ext uri="{BB962C8B-B14F-4D97-AF65-F5344CB8AC3E}">
        <p14:creationId xmlns:p14="http://schemas.microsoft.com/office/powerpoint/2010/main" val="30360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08086-3F50-6B21-F11D-D596A1B28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F869C-0979-778C-E6F3-FA2616613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5CCF7-3D8B-35B5-4950-C203563F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5F4C7-44EB-8560-3395-20BB16A1E7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64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FA016-DA54-D64F-EAA0-7E270810D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CD797-04F9-CD35-9C94-964EA58E6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E5781-0792-EC73-1857-4F05F44711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C1F787-AFF0-E769-23C6-E53605ADAA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080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44007-BDD1-DFA4-D192-166206717F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AB8DF-333D-C4B5-2351-1AC1B9143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99249-0652-CF42-137F-D2AA26E122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346EC0-AE88-AFAF-59C8-8D57FC98D1E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5669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0E160-B741-9A6F-0626-C6A9E480AF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57C44-03F7-B2C8-720C-C1E0307B4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9FD04-FE7E-6DB8-B140-E3F45E1DB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06E421-64FE-F0DF-AC09-E939B5BF57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0ED73B4-3B7A-5C47-BA0A-325276D0DB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2758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14B0-5224-B0DF-7293-F406631750C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48810A-B6B9-C0BD-1265-DFCF181465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8519265-9BFA-1BC2-CDD6-47A3F947ED64}"/>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3CE74205-5F65-3747-0E48-5926F2DAE2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549A60-B65A-047C-1901-9E58799F46D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041942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10753-60BE-D4E8-DF98-50EB8781B3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64FF022-9CC0-F395-2126-25FD48B7EA0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5A9DC-7053-2EC2-614A-ACE263E42A17}"/>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2A487403-D3DF-EED7-AC4A-58DC6ACD6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F9626-CF06-4327-1460-B41D736AD62E}"/>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72489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8E38-3DF8-0E50-B41F-24E2F9647C5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0DF70C4-F003-C288-3E3B-F320E8EDA2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9AF0F96-1D0B-7BE6-0DA5-722FDD17D8A8}"/>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8FBFA99A-36B8-13EE-009B-F71B62B1E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5676F-30E5-E5C7-0601-07574EB2D6D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391519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4B8B2-55D6-055B-5C09-E65DD8C951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5256CA-6EF2-B2E8-7D4B-52ECBC95853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D456E81-36C0-EE8A-9E4E-8470ED18AAD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4A4CF9-8A85-9602-5D37-E5036C3F74B5}"/>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6" name="Footer Placeholder 5">
            <a:extLst>
              <a:ext uri="{FF2B5EF4-FFF2-40B4-BE49-F238E27FC236}">
                <a16:creationId xmlns:a16="http://schemas.microsoft.com/office/drawing/2014/main" id="{E3A8346B-1F76-4AD0-4C90-AD7234282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91F1-5E0B-7A68-8722-F1575298775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927745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BFBBD-1722-4224-F9BB-8EBD1C001F3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54CB22-1AE7-CA9A-D0DC-DC783753C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E55AA36-5AC2-7491-7C18-242609E9FE6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0A99B3A-36E2-CFCE-6301-878B769EC1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E6ABAF-F340-A78E-DFD6-A0867F846F7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FF998BD-30CD-7920-E753-C252CA2B2BBA}"/>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8" name="Footer Placeholder 7">
            <a:extLst>
              <a:ext uri="{FF2B5EF4-FFF2-40B4-BE49-F238E27FC236}">
                <a16:creationId xmlns:a16="http://schemas.microsoft.com/office/drawing/2014/main" id="{3AA7ABC1-3752-46E5-F1AF-00F01D4BE0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2F4455-339C-F08F-C4CD-B3F2A7952737}"/>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504233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AA960-22DE-E5A9-7830-63B79FA7472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1E3637-07FD-41EA-C7DB-1E60FA870257}"/>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4" name="Footer Placeholder 3">
            <a:extLst>
              <a:ext uri="{FF2B5EF4-FFF2-40B4-BE49-F238E27FC236}">
                <a16:creationId xmlns:a16="http://schemas.microsoft.com/office/drawing/2014/main" id="{201F13C8-AE6B-EC91-149D-C4F99AB0D4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6A696-6FF2-5CBD-6F28-EC15D5709D21}"/>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568098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8334D-D93A-3844-6818-5266D3B3D6E9}"/>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3" name="Footer Placeholder 2">
            <a:extLst>
              <a:ext uri="{FF2B5EF4-FFF2-40B4-BE49-F238E27FC236}">
                <a16:creationId xmlns:a16="http://schemas.microsoft.com/office/drawing/2014/main" id="{5FB9EED5-89A1-ACE4-55B7-3E9C29A57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A3269-AD29-F734-147B-CF871F8F93D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293418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EF10A-D478-0EAA-0D79-6B89626364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0101B23-CF69-1895-9367-83A95BCF1C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E200D4B-7EEA-3448-A4D6-3B78AD012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A856B4C-B757-9048-D019-358A416E5641}"/>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6" name="Footer Placeholder 5">
            <a:extLst>
              <a:ext uri="{FF2B5EF4-FFF2-40B4-BE49-F238E27FC236}">
                <a16:creationId xmlns:a16="http://schemas.microsoft.com/office/drawing/2014/main" id="{CFFE17CD-B648-BBC6-40F2-86A87DD4A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55F0EB-2058-FC2E-EDCF-37CD7BC36E7B}"/>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60055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B20EC-5AFE-8DF7-F581-AEE45E4A993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869887F-796D-C2EF-5316-35FE57640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76A06E-DDBD-D2B6-9290-9E50813A44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7558D9-110B-23FB-23FE-284059F2192C}"/>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6" name="Footer Placeholder 5">
            <a:extLst>
              <a:ext uri="{FF2B5EF4-FFF2-40B4-BE49-F238E27FC236}">
                <a16:creationId xmlns:a16="http://schemas.microsoft.com/office/drawing/2014/main" id="{B628022B-6382-BE9C-A25F-0B02B02931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3489-F0FC-18E2-45F1-463EFAAB24AC}"/>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3356510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F9BB7-6F7E-5B81-4F71-4BE777730CA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2698EFD-6E2D-073D-2777-B8197B8AD90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FCEA36-4478-D24E-E2AB-CF9EEA3E9F2A}"/>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A63BC77E-E47B-EBFA-D7E2-EB8CAFC4C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8DF2F-19EC-AA0F-C42C-20F34B9C706A}"/>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1170652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DB8503-2440-79EE-E716-072BE6DE3E8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8CF235D-189D-2752-0AD8-7B97748CAC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86B4F1-B968-C9DC-36A0-40D3A9249691}"/>
              </a:ext>
            </a:extLst>
          </p:cNvPr>
          <p:cNvSpPr>
            <a:spLocks noGrp="1"/>
          </p:cNvSpPr>
          <p:nvPr>
            <p:ph type="dt" sz="half" idx="10"/>
          </p:nvPr>
        </p:nvSpPr>
        <p:spPr/>
        <p:txBody>
          <a:body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5FE11C7E-F8C8-E7B1-5AE1-6C0FD2430B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64DB4-9403-A5D1-815E-2C890E8D9E38}"/>
              </a:ext>
            </a:extLst>
          </p:cNvPr>
          <p:cNvSpPr>
            <a:spLocks noGrp="1"/>
          </p:cNvSpPr>
          <p:nvPr>
            <p:ph type="sldNum" sz="quarter" idx="12"/>
          </p:nvPr>
        </p:nvSpPr>
        <p:spPr/>
        <p:txBody>
          <a:bodyPr/>
          <a:lstStyle/>
          <a:p>
            <a:fld id="{C9E6BFF1-75E3-3D43-94C4-129BFF8AF248}" type="slidenum">
              <a:rPr lang="en-US" smtClean="0"/>
              <a:t>‹#›</a:t>
            </a:fld>
            <a:endParaRPr lang="en-US"/>
          </a:p>
        </p:txBody>
      </p:sp>
    </p:spTree>
    <p:extLst>
      <p:ext uri="{BB962C8B-B14F-4D97-AF65-F5344CB8AC3E}">
        <p14:creationId xmlns:p14="http://schemas.microsoft.com/office/powerpoint/2010/main" val="2304233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2012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9037D-89B3-121A-2C40-3A64E3262F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6CA659-082C-0B10-3680-E2AAC011B6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A14A2A-5365-7A34-B293-F60F544841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CE7AAE-89D3-5444-979C-39A9910DDA2F}" type="datetimeFigureOut">
              <a:rPr lang="en-US" smtClean="0"/>
              <a:t>10/4/24</a:t>
            </a:fld>
            <a:endParaRPr lang="en-US"/>
          </a:p>
        </p:txBody>
      </p:sp>
      <p:sp>
        <p:nvSpPr>
          <p:cNvPr id="5" name="Footer Placeholder 4">
            <a:extLst>
              <a:ext uri="{FF2B5EF4-FFF2-40B4-BE49-F238E27FC236}">
                <a16:creationId xmlns:a16="http://schemas.microsoft.com/office/drawing/2014/main" id="{EDF3B83F-380E-CA22-46AF-AE6DC794FD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1D42CC-6023-539B-3E1C-4866E62C81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6BFF1-75E3-3D43-94C4-129BFF8AF248}" type="slidenum">
              <a:rPr lang="en-US" smtClean="0"/>
              <a:t>‹#›</a:t>
            </a:fld>
            <a:endParaRPr lang="en-US"/>
          </a:p>
        </p:txBody>
      </p:sp>
    </p:spTree>
    <p:extLst>
      <p:ext uri="{BB962C8B-B14F-4D97-AF65-F5344CB8AC3E}">
        <p14:creationId xmlns:p14="http://schemas.microsoft.com/office/powerpoint/2010/main" val="1240892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e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DEFE-3BD7-6534-F0FE-3E6113B81D72}"/>
              </a:ext>
            </a:extLst>
          </p:cNvPr>
          <p:cNvSpPr>
            <a:spLocks noGrp="1"/>
          </p:cNvSpPr>
          <p:nvPr>
            <p:ph type="ctrTitle"/>
          </p:nvPr>
        </p:nvSpPr>
        <p:spPr>
          <a:xfrm>
            <a:off x="723796" y="2189079"/>
            <a:ext cx="9144000" cy="2030550"/>
          </a:xfrm>
          <a:ln>
            <a:noFill/>
          </a:ln>
        </p:spPr>
        <p:txBody>
          <a:bodyPr>
            <a:normAutofit/>
          </a:bodyPr>
          <a:lstStyle/>
          <a:p>
            <a:pPr algn="l"/>
            <a:r>
              <a:rPr lang="en-US" sz="3800" b="1" dirty="0">
                <a:solidFill>
                  <a:srgbClr val="423300"/>
                </a:solidFill>
                <a:latin typeface="Poppins" pitchFamily="2" charset="77"/>
                <a:cs typeface="Poppins" pitchFamily="2" charset="77"/>
              </a:rPr>
              <a:t>Understanding (CORS) </a:t>
            </a:r>
            <a:br>
              <a:rPr lang="en-US" sz="3800" b="1" dirty="0">
                <a:solidFill>
                  <a:srgbClr val="423300"/>
                </a:solidFill>
                <a:latin typeface="Poppins" pitchFamily="2" charset="77"/>
                <a:cs typeface="Poppins" pitchFamily="2" charset="77"/>
              </a:rPr>
            </a:br>
            <a:r>
              <a:rPr lang="en-US" sz="3800" b="1" dirty="0">
                <a:solidFill>
                  <a:schemeClr val="accent2">
                    <a:lumMod val="75000"/>
                  </a:schemeClr>
                </a:solidFill>
                <a:latin typeface="Poppins" pitchFamily="2" charset="77"/>
                <a:cs typeface="Poppins" pitchFamily="2" charset="77"/>
              </a:rPr>
              <a:t>Cross Origin Resource Sharing</a:t>
            </a:r>
          </a:p>
        </p:txBody>
      </p:sp>
      <p:sp>
        <p:nvSpPr>
          <p:cNvPr id="5" name="4-point Star 4">
            <a:extLst>
              <a:ext uri="{FF2B5EF4-FFF2-40B4-BE49-F238E27FC236}">
                <a16:creationId xmlns:a16="http://schemas.microsoft.com/office/drawing/2014/main" id="{72042A47-18F1-19EA-DA4D-4B338208F7AB}"/>
              </a:ext>
            </a:extLst>
          </p:cNvPr>
          <p:cNvSpPr/>
          <p:nvPr/>
        </p:nvSpPr>
        <p:spPr>
          <a:xfrm rot="2055929">
            <a:off x="2050484" y="51778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4-point Star 5">
            <a:extLst>
              <a:ext uri="{FF2B5EF4-FFF2-40B4-BE49-F238E27FC236}">
                <a16:creationId xmlns:a16="http://schemas.microsoft.com/office/drawing/2014/main" id="{567DD399-6D96-8282-2AF3-7548B8B8E838}"/>
              </a:ext>
            </a:extLst>
          </p:cNvPr>
          <p:cNvSpPr/>
          <p:nvPr/>
        </p:nvSpPr>
        <p:spPr>
          <a:xfrm rot="787370">
            <a:off x="6810715" y="5903344"/>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4-point Star 6">
            <a:extLst>
              <a:ext uri="{FF2B5EF4-FFF2-40B4-BE49-F238E27FC236}">
                <a16:creationId xmlns:a16="http://schemas.microsoft.com/office/drawing/2014/main" id="{0BFD952C-DB3A-88EE-1426-2396912F87A0}"/>
              </a:ext>
            </a:extLst>
          </p:cNvPr>
          <p:cNvSpPr/>
          <p:nvPr/>
        </p:nvSpPr>
        <p:spPr>
          <a:xfrm rot="20264836">
            <a:off x="675273"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F8D7621-FC0B-5370-77AC-A12637AA9E62}"/>
              </a:ext>
            </a:extLst>
          </p:cNvPr>
          <p:cNvPicPr>
            <a:picLocks noChangeAspect="1"/>
          </p:cNvPicPr>
          <p:nvPr/>
        </p:nvPicPr>
        <p:blipFill>
          <a:blip r:embed="rId3"/>
          <a:stretch>
            <a:fillRect/>
          </a:stretch>
        </p:blipFill>
        <p:spPr>
          <a:xfrm>
            <a:off x="11167313" y="6029624"/>
            <a:ext cx="618386" cy="501804"/>
          </a:xfrm>
          <a:prstGeom prst="rect">
            <a:avLst/>
          </a:prstGeom>
        </p:spPr>
      </p:pic>
      <p:sp>
        <p:nvSpPr>
          <p:cNvPr id="9" name="Title 1">
            <a:extLst>
              <a:ext uri="{FF2B5EF4-FFF2-40B4-BE49-F238E27FC236}">
                <a16:creationId xmlns:a16="http://schemas.microsoft.com/office/drawing/2014/main" id="{C0976C4D-1AC5-50E3-8628-B479D40EB899}"/>
              </a:ext>
            </a:extLst>
          </p:cNvPr>
          <p:cNvSpPr txBox="1">
            <a:spLocks/>
          </p:cNvSpPr>
          <p:nvPr/>
        </p:nvSpPr>
        <p:spPr>
          <a:xfrm>
            <a:off x="723796" y="4219629"/>
            <a:ext cx="9144000" cy="391925"/>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700" dirty="0">
                <a:solidFill>
                  <a:srgbClr val="745A00"/>
                </a:solidFill>
                <a:latin typeface="Arial" panose="020B0604020202020204" pitchFamily="34" charset="0"/>
                <a:cs typeface="Arial" panose="020B0604020202020204" pitchFamily="34" charset="0"/>
              </a:rPr>
              <a:t>Full-Stack Web Development Bootcamp</a:t>
            </a:r>
          </a:p>
        </p:txBody>
      </p:sp>
      <p:pic>
        <p:nvPicPr>
          <p:cNvPr id="10" name="Graphic 9">
            <a:extLst>
              <a:ext uri="{FF2B5EF4-FFF2-40B4-BE49-F238E27FC236}">
                <a16:creationId xmlns:a16="http://schemas.microsoft.com/office/drawing/2014/main" id="{BBC947DD-51D9-8B42-CFD6-9990EEEA7CD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5081" y="2050247"/>
            <a:ext cx="2665532" cy="720000"/>
          </a:xfrm>
          <a:prstGeom prst="rect">
            <a:avLst/>
          </a:prstGeom>
        </p:spPr>
      </p:pic>
    </p:spTree>
    <p:extLst>
      <p:ext uri="{BB962C8B-B14F-4D97-AF65-F5344CB8AC3E}">
        <p14:creationId xmlns:p14="http://schemas.microsoft.com/office/powerpoint/2010/main" val="38265223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DE94F7-45A3-B780-1611-0989E2B6055A}"/>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752B060-A796-CC02-A49A-46E15B9DB8A0}"/>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CB53628D-1E36-4B87-73AC-7F4503E2FE32}"/>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138B1A9C-AA7D-DC51-EADD-1D9AE4C56F1F}"/>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17F2325D-9631-2624-B351-7C2D71A0D555}"/>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AF67CF8D-E1A7-9AE7-51FF-764F6F19DE20}"/>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t>
            </a:r>
            <a:r>
              <a:rPr lang="en-US" sz="3600" b="1" dirty="0">
                <a:solidFill>
                  <a:schemeClr val="accent2">
                    <a:lumMod val="75000"/>
                  </a:schemeClr>
                </a:solidFill>
                <a:latin typeface="Poppins" pitchFamily="2" charset="77"/>
                <a:cs typeface="Poppins" pitchFamily="2" charset="77"/>
              </a:rPr>
              <a:t>Cross Origin Resource Sharing</a:t>
            </a:r>
          </a:p>
        </p:txBody>
      </p:sp>
      <p:sp>
        <p:nvSpPr>
          <p:cNvPr id="13" name="TextBox 12">
            <a:extLst>
              <a:ext uri="{FF2B5EF4-FFF2-40B4-BE49-F238E27FC236}">
                <a16:creationId xmlns:a16="http://schemas.microsoft.com/office/drawing/2014/main" id="{423C20DB-B3C8-F6CB-C48A-38A57761FCEC}"/>
              </a:ext>
            </a:extLst>
          </p:cNvPr>
          <p:cNvSpPr txBox="1"/>
          <p:nvPr/>
        </p:nvSpPr>
        <p:spPr>
          <a:xfrm>
            <a:off x="1264794" y="4329917"/>
            <a:ext cx="9735438"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a:ln>
                  <a:noFill/>
                </a:ln>
                <a:solidFill>
                  <a:srgbClr val="423300"/>
                </a:solidFill>
                <a:effectLst/>
                <a:uLnTx/>
                <a:uFillTx/>
                <a:latin typeface="Poppins Medium" pitchFamily="2" charset="77"/>
                <a:cs typeface="Poppins Medium" pitchFamily="2" charset="77"/>
              </a:rPr>
              <a:t>CORS (Cross-Origin Resource Sharing)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is a security feature implemented by web browsers to control how resources on a web server can be requested from another domain. It allows servers to specify who can access their resources and under what conditions, enhancing web security by preventing unwanted cross-origin interactions.</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 name="Rounded Rectangle 1">
            <a:extLst>
              <a:ext uri="{FF2B5EF4-FFF2-40B4-BE49-F238E27FC236}">
                <a16:creationId xmlns:a16="http://schemas.microsoft.com/office/drawing/2014/main" id="{AD7AE89A-F705-A11D-8E03-BB0321F94D6F}"/>
              </a:ext>
            </a:extLst>
          </p:cNvPr>
          <p:cNvSpPr/>
          <p:nvPr/>
        </p:nvSpPr>
        <p:spPr>
          <a:xfrm>
            <a:off x="5104125" y="2420352"/>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Request</a:t>
            </a:r>
          </a:p>
        </p:txBody>
      </p:sp>
      <p:sp>
        <p:nvSpPr>
          <p:cNvPr id="4" name="Rounded Rectangle 3">
            <a:extLst>
              <a:ext uri="{FF2B5EF4-FFF2-40B4-BE49-F238E27FC236}">
                <a16:creationId xmlns:a16="http://schemas.microsoft.com/office/drawing/2014/main" id="{AE544649-5178-699F-C920-71956B77096A}"/>
              </a:ext>
            </a:extLst>
          </p:cNvPr>
          <p:cNvSpPr/>
          <p:nvPr/>
        </p:nvSpPr>
        <p:spPr>
          <a:xfrm>
            <a:off x="5104125" y="3033000"/>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Response</a:t>
            </a:r>
          </a:p>
        </p:txBody>
      </p:sp>
      <p:pic>
        <p:nvPicPr>
          <p:cNvPr id="11" name="Picture 10">
            <a:extLst>
              <a:ext uri="{FF2B5EF4-FFF2-40B4-BE49-F238E27FC236}">
                <a16:creationId xmlns:a16="http://schemas.microsoft.com/office/drawing/2014/main" id="{9A424BD5-E306-FB4F-C301-C0491C313553}"/>
              </a:ext>
            </a:extLst>
          </p:cNvPr>
          <p:cNvPicPr>
            <a:picLocks noChangeAspect="1"/>
          </p:cNvPicPr>
          <p:nvPr/>
        </p:nvPicPr>
        <p:blipFill>
          <a:blip r:embed="rId5"/>
          <a:stretch>
            <a:fillRect/>
          </a:stretch>
        </p:blipFill>
        <p:spPr>
          <a:xfrm>
            <a:off x="2881941" y="2509637"/>
            <a:ext cx="720000" cy="720000"/>
          </a:xfrm>
          <a:prstGeom prst="rect">
            <a:avLst/>
          </a:prstGeom>
        </p:spPr>
      </p:pic>
      <p:cxnSp>
        <p:nvCxnSpPr>
          <p:cNvPr id="14" name="Straight Arrow Connector 13">
            <a:extLst>
              <a:ext uri="{FF2B5EF4-FFF2-40B4-BE49-F238E27FC236}">
                <a16:creationId xmlns:a16="http://schemas.microsoft.com/office/drawing/2014/main" id="{59271FDF-1401-2855-643B-65222600B6B3}"/>
              </a:ext>
            </a:extLst>
          </p:cNvPr>
          <p:cNvCxnSpPr>
            <a:cxnSpLocks/>
          </p:cNvCxnSpPr>
          <p:nvPr/>
        </p:nvCxnSpPr>
        <p:spPr>
          <a:xfrm>
            <a:off x="3944942"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9DC5ABE-F53A-8B37-A820-8F3AC4D05B56}"/>
              </a:ext>
            </a:extLst>
          </p:cNvPr>
          <p:cNvCxnSpPr>
            <a:cxnSpLocks/>
          </p:cNvCxnSpPr>
          <p:nvPr/>
        </p:nvCxnSpPr>
        <p:spPr>
          <a:xfrm flipH="1">
            <a:off x="3917510"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CC5379E7-D29D-5DC6-1A08-6CB44902C08F}"/>
              </a:ext>
            </a:extLst>
          </p:cNvPr>
          <p:cNvPicPr>
            <a:picLocks noChangeAspect="1"/>
          </p:cNvPicPr>
          <p:nvPr/>
        </p:nvPicPr>
        <p:blipFill>
          <a:blip r:embed="rId6"/>
          <a:stretch>
            <a:fillRect/>
          </a:stretch>
        </p:blipFill>
        <p:spPr>
          <a:xfrm>
            <a:off x="8607912" y="2448811"/>
            <a:ext cx="900000" cy="900000"/>
          </a:xfrm>
          <a:prstGeom prst="rect">
            <a:avLst/>
          </a:prstGeom>
        </p:spPr>
      </p:pic>
      <p:cxnSp>
        <p:nvCxnSpPr>
          <p:cNvPr id="32" name="Straight Arrow Connector 31">
            <a:extLst>
              <a:ext uri="{FF2B5EF4-FFF2-40B4-BE49-F238E27FC236}">
                <a16:creationId xmlns:a16="http://schemas.microsoft.com/office/drawing/2014/main" id="{2D44F0AD-6627-B6EC-24BC-234C40E47D62}"/>
              </a:ext>
            </a:extLst>
          </p:cNvPr>
          <p:cNvCxnSpPr>
            <a:cxnSpLocks/>
          </p:cNvCxnSpPr>
          <p:nvPr/>
        </p:nvCxnSpPr>
        <p:spPr>
          <a:xfrm>
            <a:off x="7421405"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21287B2-8C14-2D05-1D5B-1BB0F28113FB}"/>
              </a:ext>
            </a:extLst>
          </p:cNvPr>
          <p:cNvCxnSpPr>
            <a:cxnSpLocks/>
          </p:cNvCxnSpPr>
          <p:nvPr/>
        </p:nvCxnSpPr>
        <p:spPr>
          <a:xfrm flipH="1">
            <a:off x="7393973"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59FB80C-E2DA-D89B-69D4-F62076BB0FC4}"/>
              </a:ext>
            </a:extLst>
          </p:cNvPr>
          <p:cNvSpPr txBox="1"/>
          <p:nvPr/>
        </p:nvSpPr>
        <p:spPr>
          <a:xfrm>
            <a:off x="2388438" y="3636621"/>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F8B7E180-382A-2766-7741-7BBB5B87F9F9}"/>
              </a:ext>
            </a:extLst>
          </p:cNvPr>
          <p:cNvSpPr txBox="1"/>
          <p:nvPr/>
        </p:nvSpPr>
        <p:spPr>
          <a:xfrm>
            <a:off x="7919490" y="3636621"/>
            <a:ext cx="2276070"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423300"/>
                </a:solidFill>
                <a:latin typeface="Poppins Medium" pitchFamily="2" charset="77"/>
                <a:cs typeface="Poppins Medium" pitchFamily="2" charset="77"/>
              </a:rPr>
              <a:t>a</a:t>
            </a: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pi.example.com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6" name="TextBox 15">
            <a:extLst>
              <a:ext uri="{FF2B5EF4-FFF2-40B4-BE49-F238E27FC236}">
                <a16:creationId xmlns:a16="http://schemas.microsoft.com/office/drawing/2014/main" id="{655FF51B-2B0D-F776-A3EC-BC3011409F4F}"/>
              </a:ext>
            </a:extLst>
          </p:cNvPr>
          <p:cNvSpPr txBox="1"/>
          <p:nvPr/>
        </p:nvSpPr>
        <p:spPr>
          <a:xfrm>
            <a:off x="2388438" y="1619624"/>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TextBox 17">
            <a:extLst>
              <a:ext uri="{FF2B5EF4-FFF2-40B4-BE49-F238E27FC236}">
                <a16:creationId xmlns:a16="http://schemas.microsoft.com/office/drawing/2014/main" id="{85DAF231-E104-66E1-8692-7FA80EE280A8}"/>
              </a:ext>
            </a:extLst>
          </p:cNvPr>
          <p:cNvSpPr txBox="1"/>
          <p:nvPr/>
        </p:nvSpPr>
        <p:spPr>
          <a:xfrm>
            <a:off x="8204022" y="1619624"/>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22" name="Picture 21">
            <a:extLst>
              <a:ext uri="{FF2B5EF4-FFF2-40B4-BE49-F238E27FC236}">
                <a16:creationId xmlns:a16="http://schemas.microsoft.com/office/drawing/2014/main" id="{2CEFAA6F-5BD1-BFCA-805D-3111132C2779}"/>
              </a:ext>
            </a:extLst>
          </p:cNvPr>
          <p:cNvPicPr>
            <a:picLocks noChangeAspect="1"/>
          </p:cNvPicPr>
          <p:nvPr/>
        </p:nvPicPr>
        <p:blipFill>
          <a:blip r:embed="rId7"/>
          <a:stretch>
            <a:fillRect/>
          </a:stretch>
        </p:blipFill>
        <p:spPr>
          <a:xfrm>
            <a:off x="5876507" y="3645648"/>
            <a:ext cx="360000" cy="360000"/>
          </a:xfrm>
          <a:prstGeom prst="rect">
            <a:avLst/>
          </a:prstGeom>
        </p:spPr>
      </p:pic>
      <p:pic>
        <p:nvPicPr>
          <p:cNvPr id="24" name="Picture 23">
            <a:extLst>
              <a:ext uri="{FF2B5EF4-FFF2-40B4-BE49-F238E27FC236}">
                <a16:creationId xmlns:a16="http://schemas.microsoft.com/office/drawing/2014/main" id="{8B37E38E-1C09-30AB-6C46-C0B32E0355E1}"/>
              </a:ext>
            </a:extLst>
          </p:cNvPr>
          <p:cNvPicPr>
            <a:picLocks noChangeAspect="1"/>
          </p:cNvPicPr>
          <p:nvPr/>
        </p:nvPicPr>
        <p:blipFill>
          <a:blip r:embed="rId8"/>
          <a:stretch>
            <a:fillRect/>
          </a:stretch>
        </p:blipFill>
        <p:spPr>
          <a:xfrm>
            <a:off x="5876507" y="1608784"/>
            <a:ext cx="450000" cy="450000"/>
          </a:xfrm>
          <a:prstGeom prst="rect">
            <a:avLst/>
          </a:prstGeom>
        </p:spPr>
      </p:pic>
    </p:spTree>
    <p:extLst>
      <p:ext uri="{BB962C8B-B14F-4D97-AF65-F5344CB8AC3E}">
        <p14:creationId xmlns:p14="http://schemas.microsoft.com/office/powerpoint/2010/main" val="223999309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5952AA5-005F-151F-4C74-C37B1AA525D6}"/>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70598F20-E453-1168-9CD7-A0235D1B2B7D}"/>
              </a:ext>
            </a:extLst>
          </p:cNvPr>
          <p:cNvSpPr/>
          <p:nvPr/>
        </p:nvSpPr>
        <p:spPr>
          <a:xfrm rot="2055929">
            <a:off x="551268" y="2176518"/>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75DEEC9C-0492-588A-5A78-EE6BC68F6907}"/>
              </a:ext>
            </a:extLst>
          </p:cNvPr>
          <p:cNvSpPr/>
          <p:nvPr/>
        </p:nvSpPr>
        <p:spPr>
          <a:xfrm rot="787370">
            <a:off x="3673224" y="6160210"/>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8055D254-EA30-991D-EC88-4438CEBC20F4}"/>
              </a:ext>
            </a:extLst>
          </p:cNvPr>
          <p:cNvSpPr/>
          <p:nvPr/>
        </p:nvSpPr>
        <p:spPr>
          <a:xfrm rot="20264836">
            <a:off x="9556017" y="587509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9F2DC92-8618-AB44-7B36-A4545ED1DD7B}"/>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2C2D5F58-3379-8161-A209-2C6F86BA615D}"/>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What is </a:t>
            </a:r>
            <a:r>
              <a:rPr lang="en-US" sz="3600" b="1" dirty="0">
                <a:solidFill>
                  <a:schemeClr val="accent2">
                    <a:lumMod val="75000"/>
                  </a:schemeClr>
                </a:solidFill>
                <a:latin typeface="Poppins" pitchFamily="2" charset="77"/>
                <a:cs typeface="Poppins" pitchFamily="2" charset="77"/>
              </a:rPr>
              <a:t>Cross Origin Resource Sharing</a:t>
            </a:r>
          </a:p>
        </p:txBody>
      </p:sp>
      <p:sp>
        <p:nvSpPr>
          <p:cNvPr id="13" name="TextBox 12">
            <a:extLst>
              <a:ext uri="{FF2B5EF4-FFF2-40B4-BE49-F238E27FC236}">
                <a16:creationId xmlns:a16="http://schemas.microsoft.com/office/drawing/2014/main" id="{A180B197-53D4-F6F5-B8C1-F0F817807E14}"/>
              </a:ext>
            </a:extLst>
          </p:cNvPr>
          <p:cNvSpPr txBox="1"/>
          <p:nvPr/>
        </p:nvSpPr>
        <p:spPr>
          <a:xfrm>
            <a:off x="1264794" y="3845876"/>
            <a:ext cx="9735438" cy="2650726"/>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b="1" dirty="0">
                <a:solidFill>
                  <a:srgbClr val="423300"/>
                </a:solidFill>
                <a:latin typeface="Poppins SemiBold" pitchFamily="2" charset="77"/>
                <a:cs typeface="Poppins SemiBold" pitchFamily="2" charset="77"/>
              </a:rPr>
              <a:t>CORS (Cross-Origin Resource Sharing)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is needed to enhance web security by allowing servers to specify who can access their resources across different domains. </a:t>
            </a:r>
          </a:p>
          <a:p>
            <a:pPr marR="0" lvl="0" algn="ctr" defTabSz="914400" rtl="0" eaLnBrk="1" fontAlgn="auto" latinLnBrk="0" hangingPunct="1">
              <a:lnSpc>
                <a:spcPct val="150000"/>
              </a:lnSpc>
              <a:spcBef>
                <a:spcPts val="0"/>
              </a:spcBef>
              <a:spcAft>
                <a:spcPts val="0"/>
              </a:spcAft>
              <a:buClrTx/>
              <a:buSzTx/>
              <a:tabLst/>
              <a:defRPr/>
            </a:pP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CSRF (Cross-Site Request Forgery):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An attack that tricks a user's browser into executing unwanted actions on a web application where they're authenticated. </a:t>
            </a:r>
          </a:p>
          <a:p>
            <a:pPr marR="0" lvl="0" algn="ctr" defTabSz="914400" rtl="0" eaLnBrk="1" fontAlgn="auto" latinLnBrk="0" hangingPunct="1">
              <a:lnSpc>
                <a:spcPct val="150000"/>
              </a:lnSpc>
              <a:spcBef>
                <a:spcPts val="0"/>
              </a:spcBef>
              <a:spcAft>
                <a:spcPts val="0"/>
              </a:spcAft>
              <a:buClrTx/>
              <a:buSzTx/>
              <a:tabLst/>
              <a:defRPr/>
            </a:pPr>
            <a:r>
              <a:rPr lang="en-US" sz="1400" b="1" dirty="0">
                <a:solidFill>
                  <a:srgbClr val="423300"/>
                </a:solidFill>
                <a:latin typeface="Poppins SemiBold" pitchFamily="2" charset="77"/>
                <a:cs typeface="Poppins SemiBold" pitchFamily="2" charset="77"/>
              </a:rPr>
              <a:t>XSS (Cross-Site Scripting):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A vulnerability allowing attackers to inject malicious scripts into webpages viewed by other users, compromising interactions and data.</a:t>
            </a:r>
            <a:b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br>
            <a:endPar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endParaRPr>
          </a:p>
          <a:p>
            <a:pPr marR="0" lvl="0" algn="ctr" defTabSz="914400" rtl="0" eaLnBrk="1" fontAlgn="auto" latinLnBrk="0" hangingPunct="1">
              <a:lnSpc>
                <a:spcPct val="150000"/>
              </a:lnSpc>
              <a:spcBef>
                <a:spcPts val="0"/>
              </a:spcBef>
              <a:spcAft>
                <a:spcPts val="0"/>
              </a:spcAft>
              <a:buClrTx/>
              <a:buSzTx/>
              <a:tabLst/>
              <a:defRPr/>
            </a:pP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1" name="Picture 10">
            <a:extLst>
              <a:ext uri="{FF2B5EF4-FFF2-40B4-BE49-F238E27FC236}">
                <a16:creationId xmlns:a16="http://schemas.microsoft.com/office/drawing/2014/main" id="{D4417D9D-0860-3F61-071C-2464774725F9}"/>
              </a:ext>
            </a:extLst>
          </p:cNvPr>
          <p:cNvPicPr>
            <a:picLocks noChangeAspect="1"/>
          </p:cNvPicPr>
          <p:nvPr/>
        </p:nvPicPr>
        <p:blipFill>
          <a:blip r:embed="rId5"/>
          <a:stretch>
            <a:fillRect/>
          </a:stretch>
        </p:blipFill>
        <p:spPr>
          <a:xfrm>
            <a:off x="2881941" y="1871338"/>
            <a:ext cx="720000" cy="720000"/>
          </a:xfrm>
          <a:prstGeom prst="rect">
            <a:avLst/>
          </a:prstGeom>
        </p:spPr>
      </p:pic>
      <p:pic>
        <p:nvPicPr>
          <p:cNvPr id="31" name="Picture 30">
            <a:extLst>
              <a:ext uri="{FF2B5EF4-FFF2-40B4-BE49-F238E27FC236}">
                <a16:creationId xmlns:a16="http://schemas.microsoft.com/office/drawing/2014/main" id="{C2CECEDA-FFD5-797D-CF9A-E571C8602B3F}"/>
              </a:ext>
            </a:extLst>
          </p:cNvPr>
          <p:cNvPicPr>
            <a:picLocks noChangeAspect="1"/>
          </p:cNvPicPr>
          <p:nvPr/>
        </p:nvPicPr>
        <p:blipFill>
          <a:blip r:embed="rId6"/>
          <a:stretch>
            <a:fillRect/>
          </a:stretch>
        </p:blipFill>
        <p:spPr>
          <a:xfrm>
            <a:off x="8607912" y="1810512"/>
            <a:ext cx="900000" cy="900000"/>
          </a:xfrm>
          <a:prstGeom prst="rect">
            <a:avLst/>
          </a:prstGeom>
        </p:spPr>
      </p:pic>
      <p:sp>
        <p:nvSpPr>
          <p:cNvPr id="12" name="TextBox 11">
            <a:extLst>
              <a:ext uri="{FF2B5EF4-FFF2-40B4-BE49-F238E27FC236}">
                <a16:creationId xmlns:a16="http://schemas.microsoft.com/office/drawing/2014/main" id="{1C1E2E54-09FA-B5BE-1F00-922A4B9EEBC5}"/>
              </a:ext>
            </a:extLst>
          </p:cNvPr>
          <p:cNvSpPr txBox="1"/>
          <p:nvPr/>
        </p:nvSpPr>
        <p:spPr>
          <a:xfrm>
            <a:off x="2388438" y="2998322"/>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attacker.com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835B268B-2199-EBBD-636C-E83428F438D0}"/>
              </a:ext>
            </a:extLst>
          </p:cNvPr>
          <p:cNvSpPr txBox="1"/>
          <p:nvPr/>
        </p:nvSpPr>
        <p:spPr>
          <a:xfrm>
            <a:off x="7919490" y="2998322"/>
            <a:ext cx="2276070"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423300"/>
                </a:solidFill>
                <a:latin typeface="Poppins Medium" pitchFamily="2" charset="77"/>
                <a:cs typeface="Poppins Medium" pitchFamily="2" charset="77"/>
              </a:rPr>
              <a:t>a</a:t>
            </a: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pi.example.com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10" name="Picture 9">
            <a:extLst>
              <a:ext uri="{FF2B5EF4-FFF2-40B4-BE49-F238E27FC236}">
                <a16:creationId xmlns:a16="http://schemas.microsoft.com/office/drawing/2014/main" id="{3EE19250-FF83-8FFB-446C-E80F1AD146EE}"/>
              </a:ext>
            </a:extLst>
          </p:cNvPr>
          <p:cNvPicPr>
            <a:picLocks noChangeAspect="1"/>
          </p:cNvPicPr>
          <p:nvPr/>
        </p:nvPicPr>
        <p:blipFill>
          <a:blip r:embed="rId7"/>
          <a:stretch>
            <a:fillRect/>
          </a:stretch>
        </p:blipFill>
        <p:spPr>
          <a:xfrm>
            <a:off x="5669280" y="1960403"/>
            <a:ext cx="1080000" cy="1080000"/>
          </a:xfrm>
          <a:prstGeom prst="rect">
            <a:avLst/>
          </a:prstGeom>
        </p:spPr>
      </p:pic>
    </p:spTree>
    <p:extLst>
      <p:ext uri="{BB962C8B-B14F-4D97-AF65-F5344CB8AC3E}">
        <p14:creationId xmlns:p14="http://schemas.microsoft.com/office/powerpoint/2010/main" val="105502932"/>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8785301-C40C-1AA7-7B57-9C74A916AF12}"/>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73220E1A-7C9A-450D-8624-010FAA1DE96B}"/>
              </a:ext>
            </a:extLst>
          </p:cNvPr>
          <p:cNvSpPr/>
          <p:nvPr/>
        </p:nvSpPr>
        <p:spPr>
          <a:xfrm rot="2055929">
            <a:off x="637406" y="1515900"/>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B3DFB758-5BA3-7FDF-C7C4-C9D3A23F83E8}"/>
              </a:ext>
            </a:extLst>
          </p:cNvPr>
          <p:cNvSpPr/>
          <p:nvPr/>
        </p:nvSpPr>
        <p:spPr>
          <a:xfrm rot="787370">
            <a:off x="11426327" y="3648626"/>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AEB15152-7EDD-B90E-238F-5135601BB063}"/>
              </a:ext>
            </a:extLst>
          </p:cNvPr>
          <p:cNvSpPr/>
          <p:nvPr/>
        </p:nvSpPr>
        <p:spPr>
          <a:xfrm rot="20264836">
            <a:off x="4857066" y="6193808"/>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76DF277-9E36-0907-E0E4-6745ACCEDC1E}"/>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2336914E-0F3C-CB76-8AC8-90CA12B35C39}"/>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How Browser </a:t>
            </a:r>
            <a:r>
              <a:rPr lang="en-US" sz="3600" b="1" dirty="0">
                <a:solidFill>
                  <a:schemeClr val="accent2">
                    <a:lumMod val="75000"/>
                  </a:schemeClr>
                </a:solidFill>
                <a:latin typeface="Poppins" pitchFamily="2" charset="77"/>
                <a:cs typeface="Poppins" pitchFamily="2" charset="77"/>
              </a:rPr>
              <a:t>Checks CORS (Preflight)</a:t>
            </a:r>
          </a:p>
        </p:txBody>
      </p:sp>
      <p:sp>
        <p:nvSpPr>
          <p:cNvPr id="13" name="TextBox 12">
            <a:extLst>
              <a:ext uri="{FF2B5EF4-FFF2-40B4-BE49-F238E27FC236}">
                <a16:creationId xmlns:a16="http://schemas.microsoft.com/office/drawing/2014/main" id="{49EF2342-2EF2-3FA4-AF19-A27F801BA08F}"/>
              </a:ext>
            </a:extLst>
          </p:cNvPr>
          <p:cNvSpPr txBox="1"/>
          <p:nvPr/>
        </p:nvSpPr>
        <p:spPr>
          <a:xfrm>
            <a:off x="1264794" y="4669312"/>
            <a:ext cx="9735438" cy="1034899"/>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a:ln>
                  <a:noFill/>
                </a:ln>
                <a:solidFill>
                  <a:srgbClr val="745A00"/>
                </a:solidFill>
                <a:effectLst/>
                <a:uLnTx/>
                <a:uFillTx/>
                <a:latin typeface="Poppins" pitchFamily="2" charset="77"/>
                <a:cs typeface="Poppins" pitchFamily="2" charset="77"/>
              </a:rPr>
              <a:t>A preflight request in the context of CORS (Cross-Origin Resource Sharing) is a type of HTTP request that browsers automatically send to the server hosting the cross-origin resource to determine whether the actual request is safe to send.</a:t>
            </a:r>
          </a:p>
        </p:txBody>
      </p:sp>
      <p:pic>
        <p:nvPicPr>
          <p:cNvPr id="11" name="Picture 10">
            <a:extLst>
              <a:ext uri="{FF2B5EF4-FFF2-40B4-BE49-F238E27FC236}">
                <a16:creationId xmlns:a16="http://schemas.microsoft.com/office/drawing/2014/main" id="{9E1CE66F-7580-31A7-3F52-0DC0DD083D11}"/>
              </a:ext>
            </a:extLst>
          </p:cNvPr>
          <p:cNvPicPr>
            <a:picLocks noChangeAspect="1"/>
          </p:cNvPicPr>
          <p:nvPr/>
        </p:nvPicPr>
        <p:blipFill>
          <a:blip r:embed="rId5"/>
          <a:stretch>
            <a:fillRect/>
          </a:stretch>
        </p:blipFill>
        <p:spPr>
          <a:xfrm>
            <a:off x="2881941" y="2509637"/>
            <a:ext cx="720000" cy="720000"/>
          </a:xfrm>
          <a:prstGeom prst="rect">
            <a:avLst/>
          </a:prstGeom>
        </p:spPr>
      </p:pic>
      <p:cxnSp>
        <p:nvCxnSpPr>
          <p:cNvPr id="14" name="Straight Arrow Connector 13">
            <a:extLst>
              <a:ext uri="{FF2B5EF4-FFF2-40B4-BE49-F238E27FC236}">
                <a16:creationId xmlns:a16="http://schemas.microsoft.com/office/drawing/2014/main" id="{AC2BE19B-4C1B-EEF0-7340-4D31C61295BF}"/>
              </a:ext>
            </a:extLst>
          </p:cNvPr>
          <p:cNvCxnSpPr>
            <a:cxnSpLocks/>
          </p:cNvCxnSpPr>
          <p:nvPr/>
        </p:nvCxnSpPr>
        <p:spPr>
          <a:xfrm>
            <a:off x="3944942" y="1993416"/>
            <a:ext cx="4266370"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987C2AEB-BCE1-27C0-02D1-829EB9932491}"/>
              </a:ext>
            </a:extLst>
          </p:cNvPr>
          <p:cNvPicPr>
            <a:picLocks noChangeAspect="1"/>
          </p:cNvPicPr>
          <p:nvPr/>
        </p:nvPicPr>
        <p:blipFill>
          <a:blip r:embed="rId6"/>
          <a:stretch>
            <a:fillRect/>
          </a:stretch>
        </p:blipFill>
        <p:spPr>
          <a:xfrm>
            <a:off x="8607912" y="2448811"/>
            <a:ext cx="900000" cy="900000"/>
          </a:xfrm>
          <a:prstGeom prst="rect">
            <a:avLst/>
          </a:prstGeom>
        </p:spPr>
      </p:pic>
      <p:sp>
        <p:nvSpPr>
          <p:cNvPr id="12" name="TextBox 11">
            <a:extLst>
              <a:ext uri="{FF2B5EF4-FFF2-40B4-BE49-F238E27FC236}">
                <a16:creationId xmlns:a16="http://schemas.microsoft.com/office/drawing/2014/main" id="{6DE06275-2BD2-603A-E8DE-B56DF0DFACE0}"/>
              </a:ext>
            </a:extLst>
          </p:cNvPr>
          <p:cNvSpPr txBox="1"/>
          <p:nvPr/>
        </p:nvSpPr>
        <p:spPr>
          <a:xfrm>
            <a:off x="2388438" y="3636621"/>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39344AA2-3A08-7292-1781-391B959B85BF}"/>
              </a:ext>
            </a:extLst>
          </p:cNvPr>
          <p:cNvSpPr txBox="1"/>
          <p:nvPr/>
        </p:nvSpPr>
        <p:spPr>
          <a:xfrm>
            <a:off x="7919490" y="3636621"/>
            <a:ext cx="2276070"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423300"/>
                </a:solidFill>
                <a:latin typeface="Poppins Medium" pitchFamily="2" charset="77"/>
                <a:cs typeface="Poppins Medium" pitchFamily="2" charset="77"/>
              </a:rPr>
              <a:t>a</a:t>
            </a: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pi.example.com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22" name="Picture 21">
            <a:extLst>
              <a:ext uri="{FF2B5EF4-FFF2-40B4-BE49-F238E27FC236}">
                <a16:creationId xmlns:a16="http://schemas.microsoft.com/office/drawing/2014/main" id="{9DEA4BDF-A76D-0632-8F54-2FD8FB23A056}"/>
              </a:ext>
            </a:extLst>
          </p:cNvPr>
          <p:cNvPicPr>
            <a:picLocks noChangeAspect="1"/>
          </p:cNvPicPr>
          <p:nvPr/>
        </p:nvPicPr>
        <p:blipFill>
          <a:blip r:embed="rId7"/>
          <a:stretch>
            <a:fillRect/>
          </a:stretch>
        </p:blipFill>
        <p:spPr>
          <a:xfrm>
            <a:off x="5876507" y="3645648"/>
            <a:ext cx="360000" cy="360000"/>
          </a:xfrm>
          <a:prstGeom prst="rect">
            <a:avLst/>
          </a:prstGeom>
        </p:spPr>
      </p:pic>
      <p:cxnSp>
        <p:nvCxnSpPr>
          <p:cNvPr id="10" name="Straight Arrow Connector 9">
            <a:extLst>
              <a:ext uri="{FF2B5EF4-FFF2-40B4-BE49-F238E27FC236}">
                <a16:creationId xmlns:a16="http://schemas.microsoft.com/office/drawing/2014/main" id="{4A4C369C-E05D-3A6D-3C9A-EE092487C0FE}"/>
              </a:ext>
            </a:extLst>
          </p:cNvPr>
          <p:cNvCxnSpPr>
            <a:cxnSpLocks/>
          </p:cNvCxnSpPr>
          <p:nvPr/>
        </p:nvCxnSpPr>
        <p:spPr>
          <a:xfrm>
            <a:off x="3944942" y="2878178"/>
            <a:ext cx="4266370"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231BF8-E172-A58E-D98B-4F6B6F56DD07}"/>
              </a:ext>
            </a:extLst>
          </p:cNvPr>
          <p:cNvCxnSpPr>
            <a:cxnSpLocks/>
          </p:cNvCxnSpPr>
          <p:nvPr/>
        </p:nvCxnSpPr>
        <p:spPr>
          <a:xfrm flipH="1">
            <a:off x="3944942" y="2417626"/>
            <a:ext cx="4266370" cy="0"/>
          </a:xfrm>
          <a:prstGeom prst="straightConnector1">
            <a:avLst/>
          </a:prstGeom>
          <a:ln w="19050">
            <a:solidFill>
              <a:srgbClr val="4233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36E1EC8-6B9A-A16B-FF80-9443EA706F96}"/>
              </a:ext>
            </a:extLst>
          </p:cNvPr>
          <p:cNvCxnSpPr>
            <a:cxnSpLocks/>
          </p:cNvCxnSpPr>
          <p:nvPr/>
        </p:nvCxnSpPr>
        <p:spPr>
          <a:xfrm flipH="1">
            <a:off x="3944942" y="3334106"/>
            <a:ext cx="4266370" cy="0"/>
          </a:xfrm>
          <a:prstGeom prst="straightConnector1">
            <a:avLst/>
          </a:prstGeom>
          <a:ln w="19050">
            <a:solidFill>
              <a:srgbClr val="4233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451ECC5-AA45-9B26-2BD8-F66345C8731B}"/>
              </a:ext>
            </a:extLst>
          </p:cNvPr>
          <p:cNvSpPr txBox="1"/>
          <p:nvPr/>
        </p:nvSpPr>
        <p:spPr>
          <a:xfrm>
            <a:off x="3849624" y="1688688"/>
            <a:ext cx="2186817" cy="276999"/>
          </a:xfrm>
          <a:prstGeom prst="rect">
            <a:avLst/>
          </a:prstGeom>
          <a:noFill/>
        </p:spPr>
        <p:txBody>
          <a:bodyPr wrap="none" rtlCol="0">
            <a:spAutoFit/>
          </a:bodyPr>
          <a:lstStyle/>
          <a:p>
            <a:r>
              <a:rPr lang="en-US" sz="1200" dirty="0">
                <a:solidFill>
                  <a:schemeClr val="accent2">
                    <a:lumMod val="75000"/>
                  </a:schemeClr>
                </a:solidFill>
              </a:rPr>
              <a:t>preflight request (Headers Only)</a:t>
            </a:r>
          </a:p>
        </p:txBody>
      </p:sp>
      <p:sp>
        <p:nvSpPr>
          <p:cNvPr id="25" name="TextBox 24">
            <a:extLst>
              <a:ext uri="{FF2B5EF4-FFF2-40B4-BE49-F238E27FC236}">
                <a16:creationId xmlns:a16="http://schemas.microsoft.com/office/drawing/2014/main" id="{37DB187A-62E3-FC7D-54B8-D2300DBC2600}"/>
              </a:ext>
            </a:extLst>
          </p:cNvPr>
          <p:cNvSpPr txBox="1"/>
          <p:nvPr/>
        </p:nvSpPr>
        <p:spPr>
          <a:xfrm>
            <a:off x="3849624" y="2579008"/>
            <a:ext cx="932243" cy="276999"/>
          </a:xfrm>
          <a:prstGeom prst="rect">
            <a:avLst/>
          </a:prstGeom>
          <a:noFill/>
        </p:spPr>
        <p:txBody>
          <a:bodyPr wrap="none" rtlCol="0">
            <a:spAutoFit/>
          </a:bodyPr>
          <a:lstStyle/>
          <a:p>
            <a:r>
              <a:rPr lang="en-US" sz="1200" dirty="0">
                <a:solidFill>
                  <a:schemeClr val="accent2">
                    <a:lumMod val="75000"/>
                  </a:schemeClr>
                </a:solidFill>
              </a:rPr>
              <a:t>real request</a:t>
            </a:r>
          </a:p>
        </p:txBody>
      </p:sp>
      <p:sp>
        <p:nvSpPr>
          <p:cNvPr id="26" name="TextBox 25">
            <a:extLst>
              <a:ext uri="{FF2B5EF4-FFF2-40B4-BE49-F238E27FC236}">
                <a16:creationId xmlns:a16="http://schemas.microsoft.com/office/drawing/2014/main" id="{06448573-D17A-2C9C-6B7F-3AB5D3563BA8}"/>
              </a:ext>
            </a:extLst>
          </p:cNvPr>
          <p:cNvSpPr txBox="1"/>
          <p:nvPr/>
        </p:nvSpPr>
        <p:spPr>
          <a:xfrm>
            <a:off x="6896978" y="2127943"/>
            <a:ext cx="1314334" cy="276999"/>
          </a:xfrm>
          <a:prstGeom prst="rect">
            <a:avLst/>
          </a:prstGeom>
          <a:noFill/>
        </p:spPr>
        <p:txBody>
          <a:bodyPr wrap="none" rtlCol="0">
            <a:spAutoFit/>
          </a:bodyPr>
          <a:lstStyle/>
          <a:p>
            <a:pPr algn="r"/>
            <a:r>
              <a:rPr lang="en-US" sz="1200" dirty="0">
                <a:solidFill>
                  <a:schemeClr val="accent2">
                    <a:lumMod val="75000"/>
                  </a:schemeClr>
                </a:solidFill>
              </a:rPr>
              <a:t>preflight response</a:t>
            </a:r>
          </a:p>
        </p:txBody>
      </p:sp>
      <p:sp>
        <p:nvSpPr>
          <p:cNvPr id="27" name="TextBox 26">
            <a:extLst>
              <a:ext uri="{FF2B5EF4-FFF2-40B4-BE49-F238E27FC236}">
                <a16:creationId xmlns:a16="http://schemas.microsoft.com/office/drawing/2014/main" id="{E9830F49-AED8-A1CB-8C7D-06C4DA344C14}"/>
              </a:ext>
            </a:extLst>
          </p:cNvPr>
          <p:cNvSpPr txBox="1"/>
          <p:nvPr/>
        </p:nvSpPr>
        <p:spPr>
          <a:xfrm>
            <a:off x="7185967" y="3008682"/>
            <a:ext cx="1025345" cy="276999"/>
          </a:xfrm>
          <a:prstGeom prst="rect">
            <a:avLst/>
          </a:prstGeom>
          <a:noFill/>
        </p:spPr>
        <p:txBody>
          <a:bodyPr wrap="none" rtlCol="0">
            <a:spAutoFit/>
          </a:bodyPr>
          <a:lstStyle/>
          <a:p>
            <a:pPr algn="r"/>
            <a:r>
              <a:rPr lang="en-US" sz="1200" dirty="0">
                <a:solidFill>
                  <a:schemeClr val="accent2">
                    <a:lumMod val="75000"/>
                  </a:schemeClr>
                </a:solidFill>
              </a:rPr>
              <a:t>real response</a:t>
            </a:r>
          </a:p>
        </p:txBody>
      </p:sp>
    </p:spTree>
    <p:extLst>
      <p:ext uri="{BB962C8B-B14F-4D97-AF65-F5344CB8AC3E}">
        <p14:creationId xmlns:p14="http://schemas.microsoft.com/office/powerpoint/2010/main" val="438798867"/>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4792BB3-04A6-A21E-6B92-5CEAC622AFB3}"/>
            </a:ext>
          </a:extLst>
        </p:cNvPr>
        <p:cNvGrpSpPr/>
        <p:nvPr/>
      </p:nvGrpSpPr>
      <p:grpSpPr>
        <a:xfrm>
          <a:off x="0" y="0"/>
          <a:ext cx="0" cy="0"/>
          <a:chOff x="0" y="0"/>
          <a:chExt cx="0" cy="0"/>
        </a:xfrm>
      </p:grpSpPr>
      <p:sp>
        <p:nvSpPr>
          <p:cNvPr id="5" name="4-point Star 4">
            <a:extLst>
              <a:ext uri="{FF2B5EF4-FFF2-40B4-BE49-F238E27FC236}">
                <a16:creationId xmlns:a16="http://schemas.microsoft.com/office/drawing/2014/main" id="{554A0CF4-DD72-8FD8-8D08-CE0F1D963397}"/>
              </a:ext>
            </a:extLst>
          </p:cNvPr>
          <p:cNvSpPr/>
          <p:nvPr/>
        </p:nvSpPr>
        <p:spPr>
          <a:xfrm rot="2055929">
            <a:off x="619117" y="6250266"/>
            <a:ext cx="397847" cy="339660"/>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4-point Star 5">
            <a:extLst>
              <a:ext uri="{FF2B5EF4-FFF2-40B4-BE49-F238E27FC236}">
                <a16:creationId xmlns:a16="http://schemas.microsoft.com/office/drawing/2014/main" id="{3211726E-3B4C-79F4-D603-D2263B759BDE}"/>
              </a:ext>
            </a:extLst>
          </p:cNvPr>
          <p:cNvSpPr/>
          <p:nvPr/>
        </p:nvSpPr>
        <p:spPr>
          <a:xfrm rot="787370">
            <a:off x="11032449" y="272472"/>
            <a:ext cx="338788" cy="322778"/>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4-point Star 6">
            <a:extLst>
              <a:ext uri="{FF2B5EF4-FFF2-40B4-BE49-F238E27FC236}">
                <a16:creationId xmlns:a16="http://schemas.microsoft.com/office/drawing/2014/main" id="{FBCDB67B-36CA-DF28-BE23-D69840B97442}"/>
              </a:ext>
            </a:extLst>
          </p:cNvPr>
          <p:cNvSpPr/>
          <p:nvPr/>
        </p:nvSpPr>
        <p:spPr>
          <a:xfrm rot="20264836">
            <a:off x="11509310" y="4635490"/>
            <a:ext cx="279617" cy="309052"/>
          </a:xfrm>
          <a:prstGeom prst="star4">
            <a:avLst/>
          </a:prstGeom>
          <a:solidFill>
            <a:srgbClr val="FCC6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DFAA39FA-77CC-CC3D-80BC-16E744430DC2}"/>
              </a:ext>
            </a:extLst>
          </p:cNvPr>
          <p:cNvPicPr>
            <a:picLocks noChangeAspect="1"/>
          </p:cNvPicPr>
          <p:nvPr/>
        </p:nvPicPr>
        <p:blipFill>
          <a:blip r:embed="rId4"/>
          <a:stretch>
            <a:fillRect/>
          </a:stretch>
        </p:blipFill>
        <p:spPr>
          <a:xfrm>
            <a:off x="11167313" y="6029624"/>
            <a:ext cx="618386" cy="501804"/>
          </a:xfrm>
          <a:prstGeom prst="rect">
            <a:avLst/>
          </a:prstGeom>
        </p:spPr>
      </p:pic>
      <p:sp>
        <p:nvSpPr>
          <p:cNvPr id="8" name="Title 7">
            <a:extLst>
              <a:ext uri="{FF2B5EF4-FFF2-40B4-BE49-F238E27FC236}">
                <a16:creationId xmlns:a16="http://schemas.microsoft.com/office/drawing/2014/main" id="{6C2CF030-2E06-E3CB-A071-64C9094B6423}"/>
              </a:ext>
            </a:extLst>
          </p:cNvPr>
          <p:cNvSpPr>
            <a:spLocks noGrp="1"/>
          </p:cNvSpPr>
          <p:nvPr>
            <p:ph type="ctrTitle"/>
          </p:nvPr>
        </p:nvSpPr>
        <p:spPr>
          <a:xfrm>
            <a:off x="490175" y="236"/>
            <a:ext cx="10125574" cy="867250"/>
          </a:xfrm>
        </p:spPr>
        <p:txBody>
          <a:bodyPr>
            <a:normAutofit/>
          </a:bodyPr>
          <a:lstStyle/>
          <a:p>
            <a:pPr algn="l">
              <a:lnSpc>
                <a:spcPts val="5020"/>
              </a:lnSpc>
            </a:pPr>
            <a:r>
              <a:rPr lang="en-US" sz="3600" b="1" dirty="0">
                <a:solidFill>
                  <a:srgbClr val="423300"/>
                </a:solidFill>
                <a:latin typeface="Poppins" pitchFamily="2" charset="77"/>
                <a:cs typeface="Poppins" pitchFamily="2" charset="77"/>
              </a:rPr>
              <a:t>Allow </a:t>
            </a:r>
            <a:r>
              <a:rPr lang="en-US" sz="3600" b="1" dirty="0">
                <a:solidFill>
                  <a:schemeClr val="accent2">
                    <a:lumMod val="75000"/>
                  </a:schemeClr>
                </a:solidFill>
                <a:latin typeface="Poppins" pitchFamily="2" charset="77"/>
                <a:cs typeface="Poppins" pitchFamily="2" charset="77"/>
              </a:rPr>
              <a:t>Cross Origin Resource Sharing</a:t>
            </a:r>
          </a:p>
        </p:txBody>
      </p:sp>
      <p:sp>
        <p:nvSpPr>
          <p:cNvPr id="13" name="TextBox 12">
            <a:extLst>
              <a:ext uri="{FF2B5EF4-FFF2-40B4-BE49-F238E27FC236}">
                <a16:creationId xmlns:a16="http://schemas.microsoft.com/office/drawing/2014/main" id="{651F8DC2-0C00-0FE9-8807-46BAC14FCD2B}"/>
              </a:ext>
            </a:extLst>
          </p:cNvPr>
          <p:cNvSpPr txBox="1"/>
          <p:nvPr/>
        </p:nvSpPr>
        <p:spPr>
          <a:xfrm>
            <a:off x="1264794" y="4329917"/>
            <a:ext cx="9735438" cy="1358064"/>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To share resources across different origins in Node.js, </a:t>
            </a:r>
            <a:r>
              <a:rPr kumimoji="0" lang="en-US" sz="1400" b="1" u="none" strike="noStrike" kern="1200" cap="none" spc="0" normalizeH="0" baseline="0" noProof="0" dirty="0">
                <a:ln>
                  <a:noFill/>
                </a:ln>
                <a:solidFill>
                  <a:srgbClr val="423300"/>
                </a:solidFill>
                <a:effectLst/>
                <a:uLnTx/>
                <a:uFillTx/>
                <a:latin typeface="Poppins SemiBold" pitchFamily="2" charset="77"/>
                <a:cs typeface="Poppins SemiBold" pitchFamily="2" charset="77"/>
              </a:rPr>
              <a:t>CORS (Cross-Origin Resource Sharing) must be explicitly enabled </a:t>
            </a:r>
            <a:r>
              <a:rPr kumimoji="0" lang="en-US" sz="1400" b="0" i="0" u="none" strike="noStrike" kern="1200" cap="none" spc="0" normalizeH="0" baseline="0" noProof="0" dirty="0">
                <a:ln>
                  <a:noFill/>
                </a:ln>
                <a:solidFill>
                  <a:srgbClr val="745A00"/>
                </a:solidFill>
                <a:effectLst/>
                <a:uLnTx/>
                <a:uFillTx/>
                <a:latin typeface="Poppins" pitchFamily="2" charset="77"/>
                <a:ea typeface="+mn-ea"/>
                <a:cs typeface="Poppins" pitchFamily="2" charset="77"/>
              </a:rPr>
              <a:t>on the server. This involves configuring the server to send specific headers that tell the browser which origins, methods, and headers are permitted. This setup ensures that browsers allow web applications to safely request resources from a server hosted on a different domain.</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2" name="Rounded Rectangle 1">
            <a:extLst>
              <a:ext uri="{FF2B5EF4-FFF2-40B4-BE49-F238E27FC236}">
                <a16:creationId xmlns:a16="http://schemas.microsoft.com/office/drawing/2014/main" id="{ABCF4D5A-A35D-FFB2-2BAF-95082642A0F8}"/>
              </a:ext>
            </a:extLst>
          </p:cNvPr>
          <p:cNvSpPr/>
          <p:nvPr/>
        </p:nvSpPr>
        <p:spPr>
          <a:xfrm>
            <a:off x="5104125" y="2420352"/>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Request</a:t>
            </a:r>
          </a:p>
        </p:txBody>
      </p:sp>
      <p:sp>
        <p:nvSpPr>
          <p:cNvPr id="4" name="Rounded Rectangle 3">
            <a:extLst>
              <a:ext uri="{FF2B5EF4-FFF2-40B4-BE49-F238E27FC236}">
                <a16:creationId xmlns:a16="http://schemas.microsoft.com/office/drawing/2014/main" id="{57C693B2-F290-31CF-A6A2-63D042163FB4}"/>
              </a:ext>
            </a:extLst>
          </p:cNvPr>
          <p:cNvSpPr/>
          <p:nvPr/>
        </p:nvSpPr>
        <p:spPr>
          <a:xfrm>
            <a:off x="5104125" y="3033000"/>
            <a:ext cx="1983750" cy="396000"/>
          </a:xfrm>
          <a:prstGeom prst="roundRect">
            <a:avLst/>
          </a:prstGeom>
          <a:solidFill>
            <a:srgbClr val="423300"/>
          </a:solidFill>
          <a:ln w="381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Response</a:t>
            </a:r>
          </a:p>
        </p:txBody>
      </p:sp>
      <p:pic>
        <p:nvPicPr>
          <p:cNvPr id="11" name="Picture 10">
            <a:extLst>
              <a:ext uri="{FF2B5EF4-FFF2-40B4-BE49-F238E27FC236}">
                <a16:creationId xmlns:a16="http://schemas.microsoft.com/office/drawing/2014/main" id="{D1D5C747-EFB6-7BB8-D4A1-FC8F087BEC3A}"/>
              </a:ext>
            </a:extLst>
          </p:cNvPr>
          <p:cNvPicPr>
            <a:picLocks noChangeAspect="1"/>
          </p:cNvPicPr>
          <p:nvPr/>
        </p:nvPicPr>
        <p:blipFill>
          <a:blip r:embed="rId5"/>
          <a:stretch>
            <a:fillRect/>
          </a:stretch>
        </p:blipFill>
        <p:spPr>
          <a:xfrm>
            <a:off x="2881941" y="2509637"/>
            <a:ext cx="720000" cy="720000"/>
          </a:xfrm>
          <a:prstGeom prst="rect">
            <a:avLst/>
          </a:prstGeom>
        </p:spPr>
      </p:pic>
      <p:cxnSp>
        <p:nvCxnSpPr>
          <p:cNvPr id="14" name="Straight Arrow Connector 13">
            <a:extLst>
              <a:ext uri="{FF2B5EF4-FFF2-40B4-BE49-F238E27FC236}">
                <a16:creationId xmlns:a16="http://schemas.microsoft.com/office/drawing/2014/main" id="{6C69B682-A9C0-5BCB-FC7F-326B5E49B3AD}"/>
              </a:ext>
            </a:extLst>
          </p:cNvPr>
          <p:cNvCxnSpPr>
            <a:cxnSpLocks/>
          </p:cNvCxnSpPr>
          <p:nvPr/>
        </p:nvCxnSpPr>
        <p:spPr>
          <a:xfrm>
            <a:off x="3944942"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93314A2-2E54-80E1-3D29-4AFF026F31D2}"/>
              </a:ext>
            </a:extLst>
          </p:cNvPr>
          <p:cNvCxnSpPr>
            <a:cxnSpLocks/>
          </p:cNvCxnSpPr>
          <p:nvPr/>
        </p:nvCxnSpPr>
        <p:spPr>
          <a:xfrm flipH="1">
            <a:off x="3917510"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AC4B2DF2-9D58-217C-E3C6-36633D03E766}"/>
              </a:ext>
            </a:extLst>
          </p:cNvPr>
          <p:cNvPicPr>
            <a:picLocks noChangeAspect="1"/>
          </p:cNvPicPr>
          <p:nvPr/>
        </p:nvPicPr>
        <p:blipFill>
          <a:blip r:embed="rId6"/>
          <a:stretch>
            <a:fillRect/>
          </a:stretch>
        </p:blipFill>
        <p:spPr>
          <a:xfrm>
            <a:off x="8607912" y="2448811"/>
            <a:ext cx="900000" cy="900000"/>
          </a:xfrm>
          <a:prstGeom prst="rect">
            <a:avLst/>
          </a:prstGeom>
        </p:spPr>
      </p:pic>
      <p:cxnSp>
        <p:nvCxnSpPr>
          <p:cNvPr id="32" name="Straight Arrow Connector 31">
            <a:extLst>
              <a:ext uri="{FF2B5EF4-FFF2-40B4-BE49-F238E27FC236}">
                <a16:creationId xmlns:a16="http://schemas.microsoft.com/office/drawing/2014/main" id="{2D37B07F-4302-1812-34C2-86ACC0205859}"/>
              </a:ext>
            </a:extLst>
          </p:cNvPr>
          <p:cNvCxnSpPr>
            <a:cxnSpLocks/>
          </p:cNvCxnSpPr>
          <p:nvPr/>
        </p:nvCxnSpPr>
        <p:spPr>
          <a:xfrm>
            <a:off x="7421405" y="2598701"/>
            <a:ext cx="702253"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AE1D95DF-FAE4-32FF-ED74-FF35AF3C1CD9}"/>
              </a:ext>
            </a:extLst>
          </p:cNvPr>
          <p:cNvCxnSpPr>
            <a:cxnSpLocks/>
          </p:cNvCxnSpPr>
          <p:nvPr/>
        </p:nvCxnSpPr>
        <p:spPr>
          <a:xfrm flipH="1">
            <a:off x="7393973" y="3233605"/>
            <a:ext cx="665677" cy="0"/>
          </a:xfrm>
          <a:prstGeom prst="straightConnector1">
            <a:avLst/>
          </a:prstGeom>
          <a:ln w="19050">
            <a:solidFill>
              <a:schemeClr val="accent2">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1AACC61-4BCC-1757-2477-4B406915BBBC}"/>
              </a:ext>
            </a:extLst>
          </p:cNvPr>
          <p:cNvSpPr txBox="1"/>
          <p:nvPr/>
        </p:nvSpPr>
        <p:spPr>
          <a:xfrm>
            <a:off x="2388438" y="3636621"/>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5" name="TextBox 14">
            <a:extLst>
              <a:ext uri="{FF2B5EF4-FFF2-40B4-BE49-F238E27FC236}">
                <a16:creationId xmlns:a16="http://schemas.microsoft.com/office/drawing/2014/main" id="{781E84D8-5B84-7CBF-2971-DA4F8CD5BDD9}"/>
              </a:ext>
            </a:extLst>
          </p:cNvPr>
          <p:cNvSpPr txBox="1"/>
          <p:nvPr/>
        </p:nvSpPr>
        <p:spPr>
          <a:xfrm>
            <a:off x="7919490" y="3313456"/>
            <a:ext cx="2276070" cy="711733"/>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lang="en-US" sz="1400" dirty="0">
                <a:solidFill>
                  <a:srgbClr val="423300"/>
                </a:solidFill>
                <a:latin typeface="Poppins Medium" pitchFamily="2" charset="77"/>
                <a:cs typeface="Poppins Medium" pitchFamily="2" charset="77"/>
              </a:rPr>
              <a:t>Allow CORS in Node.js</a:t>
            </a:r>
            <a:br>
              <a:rPr lang="en-US" sz="1400" dirty="0">
                <a:solidFill>
                  <a:srgbClr val="423300"/>
                </a:solidFill>
                <a:latin typeface="Poppins Medium" pitchFamily="2" charset="77"/>
                <a:cs typeface="Poppins Medium" pitchFamily="2" charset="77"/>
              </a:rPr>
            </a:br>
            <a:r>
              <a:rPr lang="en-US" sz="1400" dirty="0">
                <a:solidFill>
                  <a:srgbClr val="423300"/>
                </a:solidFill>
                <a:latin typeface="Poppins Medium" pitchFamily="2" charset="77"/>
                <a:cs typeface="Poppins Medium" pitchFamily="2" charset="77"/>
              </a:rPr>
              <a:t>a</a:t>
            </a: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pi.example.com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6" name="TextBox 15">
            <a:extLst>
              <a:ext uri="{FF2B5EF4-FFF2-40B4-BE49-F238E27FC236}">
                <a16:creationId xmlns:a16="http://schemas.microsoft.com/office/drawing/2014/main" id="{0D40E96A-21A3-50B4-83FD-5EC518CD6A68}"/>
              </a:ext>
            </a:extLst>
          </p:cNvPr>
          <p:cNvSpPr txBox="1"/>
          <p:nvPr/>
        </p:nvSpPr>
        <p:spPr>
          <a:xfrm>
            <a:off x="2388438" y="1619624"/>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sp>
        <p:nvSpPr>
          <p:cNvPr id="18" name="TextBox 17">
            <a:extLst>
              <a:ext uri="{FF2B5EF4-FFF2-40B4-BE49-F238E27FC236}">
                <a16:creationId xmlns:a16="http://schemas.microsoft.com/office/drawing/2014/main" id="{1509F1D1-80B1-41B8-BD02-CBD95D069E85}"/>
              </a:ext>
            </a:extLst>
          </p:cNvPr>
          <p:cNvSpPr txBox="1"/>
          <p:nvPr/>
        </p:nvSpPr>
        <p:spPr>
          <a:xfrm>
            <a:off x="8204022" y="1619624"/>
            <a:ext cx="1707006" cy="388568"/>
          </a:xfrm>
          <a:prstGeom prst="rect">
            <a:avLst/>
          </a:prstGeom>
          <a:noFill/>
        </p:spPr>
        <p:txBody>
          <a:bodyPr wrap="square" rtlCol="0">
            <a:spAutoFit/>
          </a:bodyPr>
          <a:lstStyle/>
          <a:p>
            <a:pPr marR="0" lvl="0" algn="ctr" defTabSz="914400" rtl="0" eaLnBrk="1" fontAlgn="auto" latinLnBrk="0" hangingPunct="1">
              <a:lnSpc>
                <a:spcPct val="150000"/>
              </a:lnSpc>
              <a:spcBef>
                <a:spcPts val="0"/>
              </a:spcBef>
              <a:spcAft>
                <a:spcPts val="0"/>
              </a:spcAft>
              <a:buClrTx/>
              <a:buSzTx/>
              <a:tabLst/>
              <a:defRPr/>
            </a:pPr>
            <a:r>
              <a:rPr kumimoji="0" lang="en-US" sz="1400" u="none" strike="noStrike" kern="1200" cap="none" spc="0" normalizeH="0" baseline="0" noProof="0" dirty="0" err="1">
                <a:ln>
                  <a:noFill/>
                </a:ln>
                <a:solidFill>
                  <a:srgbClr val="423300"/>
                </a:solidFill>
                <a:effectLst/>
                <a:uLnTx/>
                <a:uFillTx/>
                <a:latin typeface="Poppins Medium" pitchFamily="2" charset="77"/>
                <a:cs typeface="Poppins Medium" pitchFamily="2" charset="77"/>
              </a:rPr>
              <a:t>example.com</a:t>
            </a:r>
            <a:endParaRPr kumimoji="0" lang="en-US" sz="1400" b="1" i="0" u="none" strike="noStrike" kern="1200" cap="none" spc="0" normalizeH="0" baseline="0" noProof="0" dirty="0">
              <a:ln>
                <a:noFill/>
              </a:ln>
              <a:solidFill>
                <a:srgbClr val="423300"/>
              </a:solidFill>
              <a:effectLst/>
              <a:uLnTx/>
              <a:uFillTx/>
              <a:latin typeface="Poppins SemiBold" pitchFamily="2" charset="77"/>
              <a:ea typeface="+mn-ea"/>
              <a:cs typeface="Poppins SemiBold" pitchFamily="2" charset="77"/>
            </a:endParaRPr>
          </a:p>
        </p:txBody>
      </p:sp>
      <p:pic>
        <p:nvPicPr>
          <p:cNvPr id="24" name="Picture 23">
            <a:extLst>
              <a:ext uri="{FF2B5EF4-FFF2-40B4-BE49-F238E27FC236}">
                <a16:creationId xmlns:a16="http://schemas.microsoft.com/office/drawing/2014/main" id="{2F7361DA-E1CE-CEA2-A6D7-228C2B6111E9}"/>
              </a:ext>
            </a:extLst>
          </p:cNvPr>
          <p:cNvPicPr>
            <a:picLocks noChangeAspect="1"/>
          </p:cNvPicPr>
          <p:nvPr/>
        </p:nvPicPr>
        <p:blipFill>
          <a:blip r:embed="rId7"/>
          <a:stretch>
            <a:fillRect/>
          </a:stretch>
        </p:blipFill>
        <p:spPr>
          <a:xfrm>
            <a:off x="5876507" y="1608784"/>
            <a:ext cx="450000" cy="450000"/>
          </a:xfrm>
          <a:prstGeom prst="rect">
            <a:avLst/>
          </a:prstGeom>
        </p:spPr>
      </p:pic>
      <p:pic>
        <p:nvPicPr>
          <p:cNvPr id="9" name="Picture 8">
            <a:extLst>
              <a:ext uri="{FF2B5EF4-FFF2-40B4-BE49-F238E27FC236}">
                <a16:creationId xmlns:a16="http://schemas.microsoft.com/office/drawing/2014/main" id="{CB230BEF-867C-CDD1-82FB-883E91613E7F}"/>
              </a:ext>
            </a:extLst>
          </p:cNvPr>
          <p:cNvPicPr>
            <a:picLocks noChangeAspect="1"/>
          </p:cNvPicPr>
          <p:nvPr/>
        </p:nvPicPr>
        <p:blipFill>
          <a:blip r:embed="rId7"/>
          <a:stretch>
            <a:fillRect/>
          </a:stretch>
        </p:blipFill>
        <p:spPr>
          <a:xfrm>
            <a:off x="5876507" y="3602176"/>
            <a:ext cx="450000" cy="450000"/>
          </a:xfrm>
          <a:prstGeom prst="rect">
            <a:avLst/>
          </a:prstGeom>
        </p:spPr>
      </p:pic>
    </p:spTree>
    <p:extLst>
      <p:ext uri="{BB962C8B-B14F-4D97-AF65-F5344CB8AC3E}">
        <p14:creationId xmlns:p14="http://schemas.microsoft.com/office/powerpoint/2010/main" val="218565440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5803</TotalTime>
  <Words>348</Words>
  <Application>Microsoft Macintosh PowerPoint</Application>
  <PresentationFormat>Widescreen</PresentationFormat>
  <Paragraphs>36</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Arial</vt:lpstr>
      <vt:lpstr>Calibri</vt:lpstr>
      <vt:lpstr>Calibri Light</vt:lpstr>
      <vt:lpstr>Poppins</vt:lpstr>
      <vt:lpstr>Poppins Medium</vt:lpstr>
      <vt:lpstr>Poppins SemiBold</vt:lpstr>
      <vt:lpstr>Office Theme</vt:lpstr>
      <vt:lpstr>Understanding (CORS)  Cross Origin Resource Sharing</vt:lpstr>
      <vt:lpstr>What is Cross Origin Resource Sharing</vt:lpstr>
      <vt:lpstr>What is Cross Origin Resource Sharing</vt:lpstr>
      <vt:lpstr>How Browser Checks CORS (Preflight)</vt:lpstr>
      <vt:lpstr>Allow Cross Origin Resource Sharing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NESTJS</dc:title>
  <dc:creator>Microsoft Office User</dc:creator>
  <cp:lastModifiedBy>Manik Bajaj</cp:lastModifiedBy>
  <cp:revision>627</cp:revision>
  <dcterms:created xsi:type="dcterms:W3CDTF">2024-02-28T11:24:07Z</dcterms:created>
  <dcterms:modified xsi:type="dcterms:W3CDTF">2024-10-04T08:18:53Z</dcterms:modified>
</cp:coreProperties>
</file>