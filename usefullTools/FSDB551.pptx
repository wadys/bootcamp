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345" r:id="rId3"/>
    <p:sldId id="346" r:id="rId4"/>
    <p:sldId id="347" r:id="rId5"/>
    <p:sldId id="348" r:id="rId6"/>
    <p:sldId id="349" r:id="rId7"/>
    <p:sldId id="350" r:id="rId8"/>
    <p:sldId id="351" r:id="rId9"/>
    <p:sldId id="352" r:id="rId10"/>
    <p:sldId id="353" r:id="rId11"/>
    <p:sldId id="354" r:id="rId12"/>
    <p:sldId id="355" r:id="rId13"/>
    <p:sldId id="35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3300"/>
    <a:srgbClr val="745A00"/>
    <a:srgbClr val="61456A"/>
    <a:srgbClr val="C55A11"/>
    <a:srgbClr val="AD6513"/>
    <a:srgbClr val="FCC613"/>
    <a:srgbClr val="FFDD6D"/>
    <a:srgbClr val="DD53F8"/>
    <a:srgbClr val="E100FF"/>
    <a:srgbClr val="E85E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018"/>
    <p:restoredTop sz="91126"/>
  </p:normalViewPr>
  <p:slideViewPr>
    <p:cSldViewPr snapToGrid="0" showGuides="1">
      <p:cViewPr varScale="1">
        <p:scale>
          <a:sx n="140" d="100"/>
          <a:sy n="140" d="100"/>
        </p:scale>
        <p:origin x="1032" y="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CAFF5F-4593-4642-B263-46DC71846A50}" type="datetimeFigureOut">
              <a:rPr lang="en-US" smtClean="0"/>
              <a:t>10/1/24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ED73B4-3B7A-5C47-BA0A-325276D0DB7E}" type="slidenum">
              <a:rPr lang="en-US" smtClean="0"/>
              <a:t>‹#›</a:t>
            </a:fld>
            <a:endParaRPr lang="en-US"/>
          </a:p>
        </p:txBody>
      </p:sp>
    </p:spTree>
    <p:extLst>
      <p:ext uri="{BB962C8B-B14F-4D97-AF65-F5344CB8AC3E}">
        <p14:creationId xmlns:p14="http://schemas.microsoft.com/office/powerpoint/2010/main" val="3036001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08086-3F50-6B21-F11D-D596A1B280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F869C-0979-778C-E6F3-FA2616613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5CCF7-3D8B-35B5-4950-C203563F06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15F4C7-44EB-8560-3395-20BB16A1E7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8644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1AEAE-06F2-23C1-F8D7-4598A2717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3A332-32D7-DA9F-FB4E-3CB3709A2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CC895E-A84D-ECD8-B60A-09F38B537C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CA06C6-C7ED-7A82-5CE4-B5E3AA8D66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5065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497DF-53EA-0B0A-487B-EF5B063FA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49AA7-791A-AB7C-FE35-03837C3E15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4C3797-8E93-372A-D17D-8615E13ABA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885860-6A3D-74C6-ACB6-633F23F313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4828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A11BB-A32D-BD4A-F18C-D1D1B5DC8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4C163D-8AAD-4476-B8CE-E67DC1F91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FE9A2-7DEB-E6A5-CEE8-381213F2FA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E5B9D8-ABF1-BA9C-EDCC-8D8D505ECE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7094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FE040-EB28-B002-766A-1FA69E103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1FF3E-D487-F497-4D85-B1C1F57D3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090C0C-D4F6-FE65-777A-5CB7CA3F68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B72DAF-9219-D57A-A1BC-6134E4FB1B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5425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31B2E-FE68-BFE3-270F-783A80BDD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05E82-1325-6C53-F35F-063A57453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00644-1850-A152-83CB-DE1DE945A9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789567-4784-FBE1-E96A-BCCE72B661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4344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68EE0-7A89-FF60-74E6-CA37E79E0E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D1E0B-C450-841A-5CD8-97C782FD9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C4D094-D116-F74D-2EEB-6DD7BABF87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A76C5D-2E30-BA30-104C-ECA8A1544D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9575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9878D-4EAB-6398-810D-0A5849F06C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40A53-6061-07AB-24B8-8880D809F9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16C40F-58F8-AB99-81D2-E7966697DA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8FCA66-583E-58DD-1FA7-15C21DD254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4429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1DF2C-545D-08A0-926C-C6669CD49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EF056-A7E3-C411-D032-CD3709099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0CC1F-3C93-292D-FB97-B9D684D6BC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D75EE8-5793-E937-E515-0ECA771611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10061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E2000-569C-F68D-DE20-88DF38FE4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9F108-5AEF-426D-2922-718B9D6BCF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6E3422-FA3D-24DA-BC63-1D65011B82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4E5433-C84E-7B48-79A8-405CA2DD3F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2361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7C113-D001-2966-97B8-64AF838B2F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58C80E-C2CC-7921-43B3-8072DBD777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8749D-B33C-D0D5-31F6-EC850FB096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46B082-7F67-6FC4-9DF0-0948CCFB41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6448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D95C9-0389-F619-7056-204F1B1E5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FF70E-7C1D-E6AA-4666-E82A1850C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01FA8E-2D79-3A20-C290-718EA1BCA3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DFAA47-6A9D-F26A-644E-41AEDD2F6E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9659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914B0-5224-B0DF-7293-F406631750C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F48810A-B6B9-C0BD-1265-DFCF181465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8519265-9BFA-1BC2-CDD6-47A3F947ED64}"/>
              </a:ext>
            </a:extLst>
          </p:cNvPr>
          <p:cNvSpPr>
            <a:spLocks noGrp="1"/>
          </p:cNvSpPr>
          <p:nvPr>
            <p:ph type="dt" sz="half" idx="10"/>
          </p:nvPr>
        </p:nvSpPr>
        <p:spPr/>
        <p:txBody>
          <a:bodyPr/>
          <a:lstStyle/>
          <a:p>
            <a:fld id="{A0CE7AAE-89D3-5444-979C-39A9910DDA2F}" type="datetimeFigureOut">
              <a:rPr lang="en-US" smtClean="0"/>
              <a:t>10/1/24</a:t>
            </a:fld>
            <a:endParaRPr lang="en-US"/>
          </a:p>
        </p:txBody>
      </p:sp>
      <p:sp>
        <p:nvSpPr>
          <p:cNvPr id="5" name="Footer Placeholder 4">
            <a:extLst>
              <a:ext uri="{FF2B5EF4-FFF2-40B4-BE49-F238E27FC236}">
                <a16:creationId xmlns:a16="http://schemas.microsoft.com/office/drawing/2014/main" id="{3CE74205-5F65-3747-0E48-5926F2DAE2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549A60-B65A-047C-1901-9E58799F46D8}"/>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041942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10753-60BE-D4E8-DF98-50EB8781B32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64FF022-9CC0-F395-2126-25FD48B7EA0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C5A9DC-7053-2EC2-614A-ACE263E42A17}"/>
              </a:ext>
            </a:extLst>
          </p:cNvPr>
          <p:cNvSpPr>
            <a:spLocks noGrp="1"/>
          </p:cNvSpPr>
          <p:nvPr>
            <p:ph type="dt" sz="half" idx="10"/>
          </p:nvPr>
        </p:nvSpPr>
        <p:spPr/>
        <p:txBody>
          <a:bodyPr/>
          <a:lstStyle/>
          <a:p>
            <a:fld id="{A0CE7AAE-89D3-5444-979C-39A9910DDA2F}" type="datetimeFigureOut">
              <a:rPr lang="en-US" smtClean="0"/>
              <a:t>10/1/24</a:t>
            </a:fld>
            <a:endParaRPr lang="en-US"/>
          </a:p>
        </p:txBody>
      </p:sp>
      <p:sp>
        <p:nvSpPr>
          <p:cNvPr id="5" name="Footer Placeholder 4">
            <a:extLst>
              <a:ext uri="{FF2B5EF4-FFF2-40B4-BE49-F238E27FC236}">
                <a16:creationId xmlns:a16="http://schemas.microsoft.com/office/drawing/2014/main" id="{2A487403-D3DF-EED7-AC4A-58DC6ACD60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4F9626-CF06-4327-1460-B41D736AD62E}"/>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272489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58E38-3DF8-0E50-B41F-24E2F9647C5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0DF70C4-F003-C288-3E3B-F320E8EDA2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9AF0F96-1D0B-7BE6-0DA5-722FDD17D8A8}"/>
              </a:ext>
            </a:extLst>
          </p:cNvPr>
          <p:cNvSpPr>
            <a:spLocks noGrp="1"/>
          </p:cNvSpPr>
          <p:nvPr>
            <p:ph type="dt" sz="half" idx="10"/>
          </p:nvPr>
        </p:nvSpPr>
        <p:spPr/>
        <p:txBody>
          <a:bodyPr/>
          <a:lstStyle/>
          <a:p>
            <a:fld id="{A0CE7AAE-89D3-5444-979C-39A9910DDA2F}" type="datetimeFigureOut">
              <a:rPr lang="en-US" smtClean="0"/>
              <a:t>10/1/24</a:t>
            </a:fld>
            <a:endParaRPr lang="en-US"/>
          </a:p>
        </p:txBody>
      </p:sp>
      <p:sp>
        <p:nvSpPr>
          <p:cNvPr id="5" name="Footer Placeholder 4">
            <a:extLst>
              <a:ext uri="{FF2B5EF4-FFF2-40B4-BE49-F238E27FC236}">
                <a16:creationId xmlns:a16="http://schemas.microsoft.com/office/drawing/2014/main" id="{8FBFA99A-36B8-13EE-009B-F71B62B1EA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75676F-30E5-E5C7-0601-07574EB2D6DA}"/>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1391519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4B8B2-55D6-055B-5C09-E65DD8C951A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75256CA-6EF2-B2E8-7D4B-52ECBC95853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D456E81-36C0-EE8A-9E4E-8470ED18AAD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C4A4CF9-8A85-9602-5D37-E5036C3F74B5}"/>
              </a:ext>
            </a:extLst>
          </p:cNvPr>
          <p:cNvSpPr>
            <a:spLocks noGrp="1"/>
          </p:cNvSpPr>
          <p:nvPr>
            <p:ph type="dt" sz="half" idx="10"/>
          </p:nvPr>
        </p:nvSpPr>
        <p:spPr/>
        <p:txBody>
          <a:bodyPr/>
          <a:lstStyle/>
          <a:p>
            <a:fld id="{A0CE7AAE-89D3-5444-979C-39A9910DDA2F}" type="datetimeFigureOut">
              <a:rPr lang="en-US" smtClean="0"/>
              <a:t>10/1/24</a:t>
            </a:fld>
            <a:endParaRPr lang="en-US"/>
          </a:p>
        </p:txBody>
      </p:sp>
      <p:sp>
        <p:nvSpPr>
          <p:cNvPr id="6" name="Footer Placeholder 5">
            <a:extLst>
              <a:ext uri="{FF2B5EF4-FFF2-40B4-BE49-F238E27FC236}">
                <a16:creationId xmlns:a16="http://schemas.microsoft.com/office/drawing/2014/main" id="{E3A8346B-1F76-4AD0-4C90-AD7234282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91F1-5E0B-7A68-8722-F1575298775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927745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BFBBD-1722-4224-F9BB-8EBD1C001F3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354CB22-1AE7-CA9A-D0DC-DC783753CB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E55AA36-5AC2-7491-7C18-242609E9FE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0A99B3A-36E2-CFCE-6301-878B769EC1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1E6ABAF-F340-A78E-DFD6-A0867F846F7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FF998BD-30CD-7920-E753-C252CA2B2BBA}"/>
              </a:ext>
            </a:extLst>
          </p:cNvPr>
          <p:cNvSpPr>
            <a:spLocks noGrp="1"/>
          </p:cNvSpPr>
          <p:nvPr>
            <p:ph type="dt" sz="half" idx="10"/>
          </p:nvPr>
        </p:nvSpPr>
        <p:spPr/>
        <p:txBody>
          <a:bodyPr/>
          <a:lstStyle/>
          <a:p>
            <a:fld id="{A0CE7AAE-89D3-5444-979C-39A9910DDA2F}" type="datetimeFigureOut">
              <a:rPr lang="en-US" smtClean="0"/>
              <a:t>10/1/24</a:t>
            </a:fld>
            <a:endParaRPr lang="en-US"/>
          </a:p>
        </p:txBody>
      </p:sp>
      <p:sp>
        <p:nvSpPr>
          <p:cNvPr id="8" name="Footer Placeholder 7">
            <a:extLst>
              <a:ext uri="{FF2B5EF4-FFF2-40B4-BE49-F238E27FC236}">
                <a16:creationId xmlns:a16="http://schemas.microsoft.com/office/drawing/2014/main" id="{3AA7ABC1-3752-46E5-F1AF-00F01D4BE0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2F4455-339C-F08F-C4CD-B3F2A7952737}"/>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504233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AA960-22DE-E5A9-7830-63B79FA7472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71E3637-07FD-41EA-C7DB-1E60FA870257}"/>
              </a:ext>
            </a:extLst>
          </p:cNvPr>
          <p:cNvSpPr>
            <a:spLocks noGrp="1"/>
          </p:cNvSpPr>
          <p:nvPr>
            <p:ph type="dt" sz="half" idx="10"/>
          </p:nvPr>
        </p:nvSpPr>
        <p:spPr/>
        <p:txBody>
          <a:bodyPr/>
          <a:lstStyle/>
          <a:p>
            <a:fld id="{A0CE7AAE-89D3-5444-979C-39A9910DDA2F}" type="datetimeFigureOut">
              <a:rPr lang="en-US" smtClean="0"/>
              <a:t>10/1/24</a:t>
            </a:fld>
            <a:endParaRPr lang="en-US"/>
          </a:p>
        </p:txBody>
      </p:sp>
      <p:sp>
        <p:nvSpPr>
          <p:cNvPr id="4" name="Footer Placeholder 3">
            <a:extLst>
              <a:ext uri="{FF2B5EF4-FFF2-40B4-BE49-F238E27FC236}">
                <a16:creationId xmlns:a16="http://schemas.microsoft.com/office/drawing/2014/main" id="{201F13C8-AE6B-EC91-149D-C4F99AB0D4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F6A696-6FF2-5CBD-6F28-EC15D5709D21}"/>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568098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68334D-D93A-3844-6818-5266D3B3D6E9}"/>
              </a:ext>
            </a:extLst>
          </p:cNvPr>
          <p:cNvSpPr>
            <a:spLocks noGrp="1"/>
          </p:cNvSpPr>
          <p:nvPr>
            <p:ph type="dt" sz="half" idx="10"/>
          </p:nvPr>
        </p:nvSpPr>
        <p:spPr/>
        <p:txBody>
          <a:bodyPr/>
          <a:lstStyle/>
          <a:p>
            <a:fld id="{A0CE7AAE-89D3-5444-979C-39A9910DDA2F}" type="datetimeFigureOut">
              <a:rPr lang="en-US" smtClean="0"/>
              <a:t>10/1/24</a:t>
            </a:fld>
            <a:endParaRPr lang="en-US"/>
          </a:p>
        </p:txBody>
      </p:sp>
      <p:sp>
        <p:nvSpPr>
          <p:cNvPr id="3" name="Footer Placeholder 2">
            <a:extLst>
              <a:ext uri="{FF2B5EF4-FFF2-40B4-BE49-F238E27FC236}">
                <a16:creationId xmlns:a16="http://schemas.microsoft.com/office/drawing/2014/main" id="{5FB9EED5-89A1-ACE4-55B7-3E9C29A57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EA3269-AD29-F734-147B-CF871F8F93D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293418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EF10A-D478-0EAA-0D79-6B896263640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0101B23-CF69-1895-9367-83A95BCF1C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E200D4B-7EEA-3448-A4D6-3B78AD012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A856B4C-B757-9048-D019-358A416E5641}"/>
              </a:ext>
            </a:extLst>
          </p:cNvPr>
          <p:cNvSpPr>
            <a:spLocks noGrp="1"/>
          </p:cNvSpPr>
          <p:nvPr>
            <p:ph type="dt" sz="half" idx="10"/>
          </p:nvPr>
        </p:nvSpPr>
        <p:spPr/>
        <p:txBody>
          <a:bodyPr/>
          <a:lstStyle/>
          <a:p>
            <a:fld id="{A0CE7AAE-89D3-5444-979C-39A9910DDA2F}" type="datetimeFigureOut">
              <a:rPr lang="en-US" smtClean="0"/>
              <a:t>10/1/24</a:t>
            </a:fld>
            <a:endParaRPr lang="en-US"/>
          </a:p>
        </p:txBody>
      </p:sp>
      <p:sp>
        <p:nvSpPr>
          <p:cNvPr id="6" name="Footer Placeholder 5">
            <a:extLst>
              <a:ext uri="{FF2B5EF4-FFF2-40B4-BE49-F238E27FC236}">
                <a16:creationId xmlns:a16="http://schemas.microsoft.com/office/drawing/2014/main" id="{CFFE17CD-B648-BBC6-40F2-86A87DD4A8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55F0EB-2058-FC2E-EDCF-37CD7BC36E7B}"/>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60055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B20EC-5AFE-8DF7-F581-AEE45E4A993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869887F-796D-C2EF-5316-35FE57640F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76A06E-DDBD-D2B6-9290-9E50813A44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77558D9-110B-23FB-23FE-284059F2192C}"/>
              </a:ext>
            </a:extLst>
          </p:cNvPr>
          <p:cNvSpPr>
            <a:spLocks noGrp="1"/>
          </p:cNvSpPr>
          <p:nvPr>
            <p:ph type="dt" sz="half" idx="10"/>
          </p:nvPr>
        </p:nvSpPr>
        <p:spPr/>
        <p:txBody>
          <a:bodyPr/>
          <a:lstStyle/>
          <a:p>
            <a:fld id="{A0CE7AAE-89D3-5444-979C-39A9910DDA2F}" type="datetimeFigureOut">
              <a:rPr lang="en-US" smtClean="0"/>
              <a:t>10/1/24</a:t>
            </a:fld>
            <a:endParaRPr lang="en-US"/>
          </a:p>
        </p:txBody>
      </p:sp>
      <p:sp>
        <p:nvSpPr>
          <p:cNvPr id="6" name="Footer Placeholder 5">
            <a:extLst>
              <a:ext uri="{FF2B5EF4-FFF2-40B4-BE49-F238E27FC236}">
                <a16:creationId xmlns:a16="http://schemas.microsoft.com/office/drawing/2014/main" id="{B628022B-6382-BE9C-A25F-0B02B02931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23489-F0FC-18E2-45F1-463EFAAB24A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356510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F9BB7-6F7E-5B81-4F71-4BE777730CA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2698EFD-6E2D-073D-2777-B8197B8AD90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5FCEA36-4478-D24E-E2AB-CF9EEA3E9F2A}"/>
              </a:ext>
            </a:extLst>
          </p:cNvPr>
          <p:cNvSpPr>
            <a:spLocks noGrp="1"/>
          </p:cNvSpPr>
          <p:nvPr>
            <p:ph type="dt" sz="half" idx="10"/>
          </p:nvPr>
        </p:nvSpPr>
        <p:spPr/>
        <p:txBody>
          <a:bodyPr/>
          <a:lstStyle/>
          <a:p>
            <a:fld id="{A0CE7AAE-89D3-5444-979C-39A9910DDA2F}" type="datetimeFigureOut">
              <a:rPr lang="en-US" smtClean="0"/>
              <a:t>10/1/24</a:t>
            </a:fld>
            <a:endParaRPr lang="en-US"/>
          </a:p>
        </p:txBody>
      </p:sp>
      <p:sp>
        <p:nvSpPr>
          <p:cNvPr id="5" name="Footer Placeholder 4">
            <a:extLst>
              <a:ext uri="{FF2B5EF4-FFF2-40B4-BE49-F238E27FC236}">
                <a16:creationId xmlns:a16="http://schemas.microsoft.com/office/drawing/2014/main" id="{A63BC77E-E47B-EBFA-D7E2-EB8CAFC4C6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8DF2F-19EC-AA0F-C42C-20F34B9C706A}"/>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1170652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DB8503-2440-79EE-E716-072BE6DE3E8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8CF235D-189D-2752-0AD8-7B97748CAC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E86B4F1-B968-C9DC-36A0-40D3A9249691}"/>
              </a:ext>
            </a:extLst>
          </p:cNvPr>
          <p:cNvSpPr>
            <a:spLocks noGrp="1"/>
          </p:cNvSpPr>
          <p:nvPr>
            <p:ph type="dt" sz="half" idx="10"/>
          </p:nvPr>
        </p:nvSpPr>
        <p:spPr/>
        <p:txBody>
          <a:bodyPr/>
          <a:lstStyle/>
          <a:p>
            <a:fld id="{A0CE7AAE-89D3-5444-979C-39A9910DDA2F}" type="datetimeFigureOut">
              <a:rPr lang="en-US" smtClean="0"/>
              <a:t>10/1/24</a:t>
            </a:fld>
            <a:endParaRPr lang="en-US"/>
          </a:p>
        </p:txBody>
      </p:sp>
      <p:sp>
        <p:nvSpPr>
          <p:cNvPr id="5" name="Footer Placeholder 4">
            <a:extLst>
              <a:ext uri="{FF2B5EF4-FFF2-40B4-BE49-F238E27FC236}">
                <a16:creationId xmlns:a16="http://schemas.microsoft.com/office/drawing/2014/main" id="{5FE11C7E-F8C8-E7B1-5AE1-6C0FD2430B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64DB4-9403-A5D1-815E-2C890E8D9E38}"/>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304233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2012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99037D-89B3-121A-2C40-3A64E3262F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6CA659-082C-0B10-3680-E2AAC011B6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A14A2A-5365-7A34-B293-F60F544841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CE7AAE-89D3-5444-979C-39A9910DDA2F}" type="datetimeFigureOut">
              <a:rPr lang="en-US" smtClean="0"/>
              <a:t>10/1/24</a:t>
            </a:fld>
            <a:endParaRPr lang="en-US"/>
          </a:p>
        </p:txBody>
      </p:sp>
      <p:sp>
        <p:nvSpPr>
          <p:cNvPr id="5" name="Footer Placeholder 4">
            <a:extLst>
              <a:ext uri="{FF2B5EF4-FFF2-40B4-BE49-F238E27FC236}">
                <a16:creationId xmlns:a16="http://schemas.microsoft.com/office/drawing/2014/main" id="{EDF3B83F-380E-CA22-46AF-AE6DC794FD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B1D42CC-6023-539B-3E1C-4866E62C81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E6BFF1-75E3-3D43-94C4-129BFF8AF248}" type="slidenum">
              <a:rPr lang="en-US" smtClean="0"/>
              <a:t>‹#›</a:t>
            </a:fld>
            <a:endParaRPr lang="en-US"/>
          </a:p>
        </p:txBody>
      </p:sp>
    </p:spTree>
    <p:extLst>
      <p:ext uri="{BB962C8B-B14F-4D97-AF65-F5344CB8AC3E}">
        <p14:creationId xmlns:p14="http://schemas.microsoft.com/office/powerpoint/2010/main" val="1240892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image" Target="../media/image4.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2.emf"/><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emf"/></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2.emf"/></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emf"/></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13.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emf"/><Relationship Id="rId9"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FDEFE-3BD7-6534-F0FE-3E6113B81D72}"/>
              </a:ext>
            </a:extLst>
          </p:cNvPr>
          <p:cNvSpPr>
            <a:spLocks noGrp="1"/>
          </p:cNvSpPr>
          <p:nvPr>
            <p:ph type="ctrTitle"/>
          </p:nvPr>
        </p:nvSpPr>
        <p:spPr>
          <a:xfrm>
            <a:off x="723796" y="2189079"/>
            <a:ext cx="9144000" cy="2030550"/>
          </a:xfrm>
          <a:ln>
            <a:noFill/>
          </a:ln>
        </p:spPr>
        <p:txBody>
          <a:bodyPr>
            <a:normAutofit/>
          </a:bodyPr>
          <a:lstStyle/>
          <a:p>
            <a:pPr algn="l"/>
            <a:r>
              <a:rPr lang="en-US" sz="3800" b="1" dirty="0">
                <a:solidFill>
                  <a:srgbClr val="423300"/>
                </a:solidFill>
                <a:latin typeface="Poppins" pitchFamily="2" charset="77"/>
                <a:cs typeface="Poppins" pitchFamily="2" charset="77"/>
              </a:rPr>
              <a:t>What is</a:t>
            </a:r>
            <a:br>
              <a:rPr lang="en-US" sz="3800" b="1" dirty="0">
                <a:solidFill>
                  <a:srgbClr val="423300"/>
                </a:solidFill>
                <a:latin typeface="Poppins" pitchFamily="2" charset="77"/>
                <a:cs typeface="Poppins" pitchFamily="2" charset="77"/>
              </a:rPr>
            </a:br>
            <a:r>
              <a:rPr lang="en-US" sz="3800" b="1" dirty="0">
                <a:solidFill>
                  <a:schemeClr val="accent2">
                    <a:lumMod val="75000"/>
                  </a:schemeClr>
                </a:solidFill>
                <a:latin typeface="Poppins" pitchFamily="2" charset="77"/>
                <a:cs typeface="Poppins" pitchFamily="2" charset="77"/>
              </a:rPr>
              <a:t>REST API</a:t>
            </a:r>
          </a:p>
        </p:txBody>
      </p:sp>
      <p:sp>
        <p:nvSpPr>
          <p:cNvPr id="5" name="4-point Star 4">
            <a:extLst>
              <a:ext uri="{FF2B5EF4-FFF2-40B4-BE49-F238E27FC236}">
                <a16:creationId xmlns:a16="http://schemas.microsoft.com/office/drawing/2014/main" id="{72042A47-18F1-19EA-DA4D-4B338208F7AB}"/>
              </a:ext>
            </a:extLst>
          </p:cNvPr>
          <p:cNvSpPr/>
          <p:nvPr/>
        </p:nvSpPr>
        <p:spPr>
          <a:xfrm rot="2055929">
            <a:off x="2050484" y="517788"/>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4-point Star 5">
            <a:extLst>
              <a:ext uri="{FF2B5EF4-FFF2-40B4-BE49-F238E27FC236}">
                <a16:creationId xmlns:a16="http://schemas.microsoft.com/office/drawing/2014/main" id="{567DD399-6D96-8282-2AF3-7548B8B8E838}"/>
              </a:ext>
            </a:extLst>
          </p:cNvPr>
          <p:cNvSpPr/>
          <p:nvPr/>
        </p:nvSpPr>
        <p:spPr>
          <a:xfrm rot="787370">
            <a:off x="6810715" y="5903344"/>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4-point Star 6">
            <a:extLst>
              <a:ext uri="{FF2B5EF4-FFF2-40B4-BE49-F238E27FC236}">
                <a16:creationId xmlns:a16="http://schemas.microsoft.com/office/drawing/2014/main" id="{0BFD952C-DB3A-88EE-1426-2396912F87A0}"/>
              </a:ext>
            </a:extLst>
          </p:cNvPr>
          <p:cNvSpPr/>
          <p:nvPr/>
        </p:nvSpPr>
        <p:spPr>
          <a:xfrm rot="20264836">
            <a:off x="675273" y="5875098"/>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F8D7621-FC0B-5370-77AC-A12637AA9E62}"/>
              </a:ext>
            </a:extLst>
          </p:cNvPr>
          <p:cNvPicPr>
            <a:picLocks noChangeAspect="1"/>
          </p:cNvPicPr>
          <p:nvPr/>
        </p:nvPicPr>
        <p:blipFill>
          <a:blip r:embed="rId3"/>
          <a:stretch>
            <a:fillRect/>
          </a:stretch>
        </p:blipFill>
        <p:spPr>
          <a:xfrm>
            <a:off x="11167313" y="6029624"/>
            <a:ext cx="618386" cy="501804"/>
          </a:xfrm>
          <a:prstGeom prst="rect">
            <a:avLst/>
          </a:prstGeom>
        </p:spPr>
      </p:pic>
      <p:sp>
        <p:nvSpPr>
          <p:cNvPr id="9" name="Title 1">
            <a:extLst>
              <a:ext uri="{FF2B5EF4-FFF2-40B4-BE49-F238E27FC236}">
                <a16:creationId xmlns:a16="http://schemas.microsoft.com/office/drawing/2014/main" id="{C0976C4D-1AC5-50E3-8628-B479D40EB899}"/>
              </a:ext>
            </a:extLst>
          </p:cNvPr>
          <p:cNvSpPr txBox="1">
            <a:spLocks/>
          </p:cNvSpPr>
          <p:nvPr/>
        </p:nvSpPr>
        <p:spPr>
          <a:xfrm>
            <a:off x="723796" y="4219629"/>
            <a:ext cx="9144000" cy="391925"/>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700" dirty="0">
                <a:solidFill>
                  <a:srgbClr val="745A00"/>
                </a:solidFill>
                <a:latin typeface="Arial" panose="020B0604020202020204" pitchFamily="34" charset="0"/>
                <a:cs typeface="Arial" panose="020B0604020202020204" pitchFamily="34" charset="0"/>
              </a:rPr>
              <a:t>Full-Stack Web Development Bootcamp</a:t>
            </a:r>
          </a:p>
        </p:txBody>
      </p:sp>
      <p:pic>
        <p:nvPicPr>
          <p:cNvPr id="10" name="Graphic 9">
            <a:extLst>
              <a:ext uri="{FF2B5EF4-FFF2-40B4-BE49-F238E27FC236}">
                <a16:creationId xmlns:a16="http://schemas.microsoft.com/office/drawing/2014/main" id="{BBC947DD-51D9-8B42-CFD6-9990EEEA7CD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5081" y="2050247"/>
            <a:ext cx="2665532" cy="720000"/>
          </a:xfrm>
          <a:prstGeom prst="rect">
            <a:avLst/>
          </a:prstGeom>
        </p:spPr>
      </p:pic>
    </p:spTree>
    <p:extLst>
      <p:ext uri="{BB962C8B-B14F-4D97-AF65-F5344CB8AC3E}">
        <p14:creationId xmlns:p14="http://schemas.microsoft.com/office/powerpoint/2010/main" val="38265223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1DE94F7-45A3-B780-1611-0989E2B6055A}"/>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5752B060-A796-CC02-A49A-46E15B9DB8A0}"/>
              </a:ext>
            </a:extLst>
          </p:cNvPr>
          <p:cNvSpPr/>
          <p:nvPr/>
        </p:nvSpPr>
        <p:spPr>
          <a:xfrm rot="2055929">
            <a:off x="619117" y="6250266"/>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CB53628D-1E36-4B87-73AC-7F4503E2FE32}"/>
              </a:ext>
            </a:extLst>
          </p:cNvPr>
          <p:cNvSpPr/>
          <p:nvPr/>
        </p:nvSpPr>
        <p:spPr>
          <a:xfrm rot="787370">
            <a:off x="8534862" y="164451"/>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138B1A9C-AA7D-DC51-EADD-1D9AE4C56F1F}"/>
              </a:ext>
            </a:extLst>
          </p:cNvPr>
          <p:cNvSpPr/>
          <p:nvPr/>
        </p:nvSpPr>
        <p:spPr>
          <a:xfrm rot="20264836">
            <a:off x="11509310" y="4635490"/>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17F2325D-9631-2624-B351-7C2D71A0D555}"/>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AF67CF8D-E1A7-9AE7-51FF-764F6F19DE20}"/>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What is </a:t>
            </a:r>
            <a:r>
              <a:rPr lang="en-US" sz="3600" b="1" dirty="0">
                <a:solidFill>
                  <a:schemeClr val="accent2">
                    <a:lumMod val="75000"/>
                  </a:schemeClr>
                </a:solidFill>
                <a:latin typeface="Poppins" pitchFamily="2" charset="77"/>
                <a:cs typeface="Poppins" pitchFamily="2" charset="77"/>
              </a:rPr>
              <a:t>REST API?</a:t>
            </a:r>
          </a:p>
        </p:txBody>
      </p:sp>
      <p:sp>
        <p:nvSpPr>
          <p:cNvPr id="13" name="TextBox 12">
            <a:extLst>
              <a:ext uri="{FF2B5EF4-FFF2-40B4-BE49-F238E27FC236}">
                <a16:creationId xmlns:a16="http://schemas.microsoft.com/office/drawing/2014/main" id="{423C20DB-B3C8-F6CB-C48A-38A57761FCEC}"/>
              </a:ext>
            </a:extLst>
          </p:cNvPr>
          <p:cNvSpPr txBox="1"/>
          <p:nvPr/>
        </p:nvSpPr>
        <p:spPr>
          <a:xfrm>
            <a:off x="1264794" y="4594054"/>
            <a:ext cx="9735438" cy="1034899"/>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A REST API (Representational State Transfer API) is a set of guidelines used for creating web services. It uses standard HTTP methods like GET, POST, PUT, and DELETE for reading, creating, updating, and deleting data, respectively. REST is designed to be stateless and utilize URLs to address resources.</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22" name="TextBox 21">
            <a:extLst>
              <a:ext uri="{FF2B5EF4-FFF2-40B4-BE49-F238E27FC236}">
                <a16:creationId xmlns:a16="http://schemas.microsoft.com/office/drawing/2014/main" id="{76499D39-4707-C7EC-4491-7C5FC2121DC7}"/>
              </a:ext>
            </a:extLst>
          </p:cNvPr>
          <p:cNvSpPr txBox="1"/>
          <p:nvPr/>
        </p:nvSpPr>
        <p:spPr>
          <a:xfrm>
            <a:off x="3374137" y="4247070"/>
            <a:ext cx="5419174"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REST API</a:t>
            </a:r>
            <a:endParaRPr lang="en-US" sz="1400" dirty="0">
              <a:solidFill>
                <a:srgbClr val="745A00"/>
              </a:solidFill>
              <a:latin typeface="Poppins" pitchFamily="2" charset="77"/>
              <a:cs typeface="Poppins" pitchFamily="2" charset="77"/>
            </a:endParaRPr>
          </a:p>
        </p:txBody>
      </p:sp>
      <p:pic>
        <p:nvPicPr>
          <p:cNvPr id="15" name="Picture 14">
            <a:extLst>
              <a:ext uri="{FF2B5EF4-FFF2-40B4-BE49-F238E27FC236}">
                <a16:creationId xmlns:a16="http://schemas.microsoft.com/office/drawing/2014/main" id="{7DEF7DCC-27BA-CE4E-5B63-C9F66A711BEA}"/>
              </a:ext>
            </a:extLst>
          </p:cNvPr>
          <p:cNvPicPr>
            <a:picLocks noChangeAspect="1"/>
          </p:cNvPicPr>
          <p:nvPr/>
        </p:nvPicPr>
        <p:blipFill>
          <a:blip r:embed="rId5"/>
          <a:stretch>
            <a:fillRect/>
          </a:stretch>
        </p:blipFill>
        <p:spPr>
          <a:xfrm>
            <a:off x="5322824" y="1861395"/>
            <a:ext cx="1800000" cy="1800000"/>
          </a:xfrm>
          <a:prstGeom prst="rect">
            <a:avLst/>
          </a:prstGeom>
        </p:spPr>
      </p:pic>
    </p:spTree>
    <p:extLst>
      <p:ext uri="{BB962C8B-B14F-4D97-AF65-F5344CB8AC3E}">
        <p14:creationId xmlns:p14="http://schemas.microsoft.com/office/powerpoint/2010/main" val="22399930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91E6B33-564A-A9B9-D4FB-D907A73E14B1}"/>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6D3F7350-B900-4686-E69A-E39D0BD0A46D}"/>
              </a:ext>
            </a:extLst>
          </p:cNvPr>
          <p:cNvSpPr/>
          <p:nvPr/>
        </p:nvSpPr>
        <p:spPr>
          <a:xfrm rot="2055929">
            <a:off x="719701" y="1312505"/>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89E14ECB-B2EE-AC09-FAD9-6428DB5E650A}"/>
              </a:ext>
            </a:extLst>
          </p:cNvPr>
          <p:cNvSpPr/>
          <p:nvPr/>
        </p:nvSpPr>
        <p:spPr>
          <a:xfrm rot="787370">
            <a:off x="11307111" y="1558956"/>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CB2E2A6D-83D2-719E-2568-AE07A5DE59F6}"/>
              </a:ext>
            </a:extLst>
          </p:cNvPr>
          <p:cNvSpPr/>
          <p:nvPr/>
        </p:nvSpPr>
        <p:spPr>
          <a:xfrm rot="20264836">
            <a:off x="1038833" y="6302234"/>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7E350A13-F045-F4B1-648E-8F4B4C96D297}"/>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FFF419F4-69B1-A208-58CF-2A3A78497A8E}"/>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Design Principles For </a:t>
            </a:r>
            <a:r>
              <a:rPr lang="en-US" sz="3600" b="1" dirty="0">
                <a:solidFill>
                  <a:schemeClr val="accent2">
                    <a:lumMod val="75000"/>
                  </a:schemeClr>
                </a:solidFill>
                <a:latin typeface="Poppins" pitchFamily="2" charset="77"/>
                <a:cs typeface="Poppins" pitchFamily="2" charset="77"/>
              </a:rPr>
              <a:t>REST API</a:t>
            </a:r>
          </a:p>
        </p:txBody>
      </p:sp>
      <p:sp>
        <p:nvSpPr>
          <p:cNvPr id="2" name="Rounded Rectangle 1">
            <a:extLst>
              <a:ext uri="{FF2B5EF4-FFF2-40B4-BE49-F238E27FC236}">
                <a16:creationId xmlns:a16="http://schemas.microsoft.com/office/drawing/2014/main" id="{45E2B7AB-E8B6-FAA5-47DB-5CED951EA6CC}"/>
              </a:ext>
            </a:extLst>
          </p:cNvPr>
          <p:cNvSpPr/>
          <p:nvPr/>
        </p:nvSpPr>
        <p:spPr>
          <a:xfrm>
            <a:off x="1250651" y="2543676"/>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Client Server Decoupling</a:t>
            </a:r>
          </a:p>
        </p:txBody>
      </p:sp>
      <p:sp>
        <p:nvSpPr>
          <p:cNvPr id="4" name="Rounded Rectangle 3">
            <a:extLst>
              <a:ext uri="{FF2B5EF4-FFF2-40B4-BE49-F238E27FC236}">
                <a16:creationId xmlns:a16="http://schemas.microsoft.com/office/drawing/2014/main" id="{6A1C803D-64A4-4E22-FD4B-487C34951AA8}"/>
              </a:ext>
            </a:extLst>
          </p:cNvPr>
          <p:cNvSpPr/>
          <p:nvPr/>
        </p:nvSpPr>
        <p:spPr>
          <a:xfrm>
            <a:off x="4761947" y="2543676"/>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Statelessness</a:t>
            </a:r>
          </a:p>
        </p:txBody>
      </p:sp>
      <p:sp>
        <p:nvSpPr>
          <p:cNvPr id="9" name="Rounded Rectangle 8">
            <a:extLst>
              <a:ext uri="{FF2B5EF4-FFF2-40B4-BE49-F238E27FC236}">
                <a16:creationId xmlns:a16="http://schemas.microsoft.com/office/drawing/2014/main" id="{262EB831-40E6-9161-E0D4-A6229E73B109}"/>
              </a:ext>
            </a:extLst>
          </p:cNvPr>
          <p:cNvSpPr/>
          <p:nvPr/>
        </p:nvSpPr>
        <p:spPr>
          <a:xfrm>
            <a:off x="8273243" y="2543676"/>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prstClr val="white"/>
                </a:solidFill>
                <a:effectLst/>
                <a:uLnTx/>
                <a:uFillTx/>
                <a:latin typeface="Poppins" pitchFamily="2" charset="77"/>
                <a:ea typeface="+mn-ea"/>
                <a:cs typeface="Poppins" pitchFamily="2" charset="77"/>
              </a:rPr>
              <a:t>Cacheability</a:t>
            </a:r>
            <a:endPar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sp>
        <p:nvSpPr>
          <p:cNvPr id="10" name="Rounded Rectangle 9">
            <a:extLst>
              <a:ext uri="{FF2B5EF4-FFF2-40B4-BE49-F238E27FC236}">
                <a16:creationId xmlns:a16="http://schemas.microsoft.com/office/drawing/2014/main" id="{06B89322-93AD-9DDC-4357-AB7107C1DA1A}"/>
              </a:ext>
            </a:extLst>
          </p:cNvPr>
          <p:cNvSpPr/>
          <p:nvPr/>
        </p:nvSpPr>
        <p:spPr>
          <a:xfrm>
            <a:off x="1250651" y="3768972"/>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Uniform Interface</a:t>
            </a:r>
          </a:p>
        </p:txBody>
      </p:sp>
      <p:sp>
        <p:nvSpPr>
          <p:cNvPr id="11" name="Rounded Rectangle 10">
            <a:extLst>
              <a:ext uri="{FF2B5EF4-FFF2-40B4-BE49-F238E27FC236}">
                <a16:creationId xmlns:a16="http://schemas.microsoft.com/office/drawing/2014/main" id="{B0AA342C-934D-A819-43B6-D541D6479805}"/>
              </a:ext>
            </a:extLst>
          </p:cNvPr>
          <p:cNvSpPr/>
          <p:nvPr/>
        </p:nvSpPr>
        <p:spPr>
          <a:xfrm>
            <a:off x="4761947" y="3768972"/>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Layered System</a:t>
            </a:r>
          </a:p>
        </p:txBody>
      </p:sp>
      <p:sp>
        <p:nvSpPr>
          <p:cNvPr id="12" name="Rounded Rectangle 11">
            <a:extLst>
              <a:ext uri="{FF2B5EF4-FFF2-40B4-BE49-F238E27FC236}">
                <a16:creationId xmlns:a16="http://schemas.microsoft.com/office/drawing/2014/main" id="{0DB3137F-8362-ABEB-8D00-489109ADC1D1}"/>
              </a:ext>
            </a:extLst>
          </p:cNvPr>
          <p:cNvSpPr/>
          <p:nvPr/>
        </p:nvSpPr>
        <p:spPr>
          <a:xfrm>
            <a:off x="8273243" y="3768972"/>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Code On Demand (opt)</a:t>
            </a:r>
          </a:p>
        </p:txBody>
      </p:sp>
    </p:spTree>
    <p:extLst>
      <p:ext uri="{BB962C8B-B14F-4D97-AF65-F5344CB8AC3E}">
        <p14:creationId xmlns:p14="http://schemas.microsoft.com/office/powerpoint/2010/main" val="220701098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AD17D31-B6BA-E9E9-EA15-927A64B27730}"/>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5F894511-5046-68EB-FF69-8A8D479E5645}"/>
              </a:ext>
            </a:extLst>
          </p:cNvPr>
          <p:cNvSpPr/>
          <p:nvPr/>
        </p:nvSpPr>
        <p:spPr>
          <a:xfrm rot="2055929">
            <a:off x="619117" y="6250266"/>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55B388B2-8F65-60C0-4D77-3AB11328A2D5}"/>
              </a:ext>
            </a:extLst>
          </p:cNvPr>
          <p:cNvSpPr/>
          <p:nvPr/>
        </p:nvSpPr>
        <p:spPr>
          <a:xfrm rot="787370">
            <a:off x="8534862" y="164451"/>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AF1C61B1-DBAE-A068-9211-0A8131E8EA84}"/>
              </a:ext>
            </a:extLst>
          </p:cNvPr>
          <p:cNvSpPr/>
          <p:nvPr/>
        </p:nvSpPr>
        <p:spPr>
          <a:xfrm rot="20264836">
            <a:off x="11509310" y="4635490"/>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7DEE9372-445A-7207-0DD0-E0EA0A007B25}"/>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4CAFCEF6-4247-FDA2-079C-49D415A2D478}"/>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Client Server </a:t>
            </a:r>
            <a:r>
              <a:rPr lang="en-US" sz="3600" b="1" dirty="0">
                <a:solidFill>
                  <a:schemeClr val="accent2">
                    <a:lumMod val="75000"/>
                  </a:schemeClr>
                </a:solidFill>
                <a:latin typeface="Poppins" pitchFamily="2" charset="77"/>
                <a:cs typeface="Poppins" pitchFamily="2" charset="77"/>
              </a:rPr>
              <a:t>Decoupling</a:t>
            </a:r>
          </a:p>
        </p:txBody>
      </p:sp>
      <p:sp>
        <p:nvSpPr>
          <p:cNvPr id="13" name="TextBox 12">
            <a:extLst>
              <a:ext uri="{FF2B5EF4-FFF2-40B4-BE49-F238E27FC236}">
                <a16:creationId xmlns:a16="http://schemas.microsoft.com/office/drawing/2014/main" id="{60980490-4544-89A9-676B-3CAB95F92DB7}"/>
              </a:ext>
            </a:extLst>
          </p:cNvPr>
          <p:cNvSpPr txBox="1"/>
          <p:nvPr/>
        </p:nvSpPr>
        <p:spPr>
          <a:xfrm>
            <a:off x="1264794" y="4994725"/>
            <a:ext cx="9735438" cy="1034899"/>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Client-server decoupling refers to the separation of frontend (client) and backend (server) components of an application, allowing independent development and scaling. This architecture enhances flexibility, as clients interact with servers via APIs without depending on server-side implementation details.</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7" name="Rectangle 16">
            <a:extLst>
              <a:ext uri="{FF2B5EF4-FFF2-40B4-BE49-F238E27FC236}">
                <a16:creationId xmlns:a16="http://schemas.microsoft.com/office/drawing/2014/main" id="{22FC9C5E-8566-7755-7A57-A66C77415745}"/>
              </a:ext>
            </a:extLst>
          </p:cNvPr>
          <p:cNvSpPr/>
          <p:nvPr/>
        </p:nvSpPr>
        <p:spPr>
          <a:xfrm>
            <a:off x="4493117" y="1388289"/>
            <a:ext cx="3205765" cy="3205765"/>
          </a:xfrm>
          <a:prstGeom prst="rect">
            <a:avLst/>
          </a:prstGeom>
          <a:noFill/>
          <a:ln w="19050">
            <a:solidFill>
              <a:schemeClr val="accent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D6513"/>
              </a:solidFill>
              <a:effectLst/>
              <a:uLnTx/>
              <a:uFillTx/>
              <a:latin typeface="Calibri" panose="020F0502020204030204"/>
              <a:ea typeface="+mn-ea"/>
              <a:cs typeface="+mn-cs"/>
            </a:endParaRPr>
          </a:p>
        </p:txBody>
      </p:sp>
      <p:sp>
        <p:nvSpPr>
          <p:cNvPr id="18" name="Rounded Rectangle 17">
            <a:extLst>
              <a:ext uri="{FF2B5EF4-FFF2-40B4-BE49-F238E27FC236}">
                <a16:creationId xmlns:a16="http://schemas.microsoft.com/office/drawing/2014/main" id="{23666FDC-C1CB-2D56-E92C-3A5659F564FD}"/>
              </a:ext>
            </a:extLst>
          </p:cNvPr>
          <p:cNvSpPr/>
          <p:nvPr/>
        </p:nvSpPr>
        <p:spPr>
          <a:xfrm>
            <a:off x="4774958" y="1604929"/>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GET</a:t>
            </a:r>
          </a:p>
        </p:txBody>
      </p:sp>
      <p:sp>
        <p:nvSpPr>
          <p:cNvPr id="19" name="Rounded Rectangle 18">
            <a:extLst>
              <a:ext uri="{FF2B5EF4-FFF2-40B4-BE49-F238E27FC236}">
                <a16:creationId xmlns:a16="http://schemas.microsoft.com/office/drawing/2014/main" id="{3F76BBDA-09C8-1F69-CC2B-D3B8A890EC89}"/>
              </a:ext>
            </a:extLst>
          </p:cNvPr>
          <p:cNvSpPr/>
          <p:nvPr/>
        </p:nvSpPr>
        <p:spPr>
          <a:xfrm>
            <a:off x="4774958" y="2217577"/>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POST</a:t>
            </a:r>
          </a:p>
        </p:txBody>
      </p:sp>
      <p:sp>
        <p:nvSpPr>
          <p:cNvPr id="20" name="Rounded Rectangle 19">
            <a:extLst>
              <a:ext uri="{FF2B5EF4-FFF2-40B4-BE49-F238E27FC236}">
                <a16:creationId xmlns:a16="http://schemas.microsoft.com/office/drawing/2014/main" id="{25B3F10D-4DE9-700F-B4E9-3B3A251A261C}"/>
              </a:ext>
            </a:extLst>
          </p:cNvPr>
          <p:cNvSpPr/>
          <p:nvPr/>
        </p:nvSpPr>
        <p:spPr>
          <a:xfrm>
            <a:off x="4774958" y="2793649"/>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DELETE</a:t>
            </a:r>
          </a:p>
        </p:txBody>
      </p:sp>
      <p:sp>
        <p:nvSpPr>
          <p:cNvPr id="21" name="Rounded Rectangle 20">
            <a:extLst>
              <a:ext uri="{FF2B5EF4-FFF2-40B4-BE49-F238E27FC236}">
                <a16:creationId xmlns:a16="http://schemas.microsoft.com/office/drawing/2014/main" id="{EBFD0F19-07D2-9724-0871-0BF002C9D535}"/>
              </a:ext>
            </a:extLst>
          </p:cNvPr>
          <p:cNvSpPr/>
          <p:nvPr/>
        </p:nvSpPr>
        <p:spPr>
          <a:xfrm>
            <a:off x="4774958" y="3388009"/>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PUT</a:t>
            </a:r>
          </a:p>
        </p:txBody>
      </p:sp>
      <p:sp>
        <p:nvSpPr>
          <p:cNvPr id="23" name="Rounded Rectangle 22">
            <a:extLst>
              <a:ext uri="{FF2B5EF4-FFF2-40B4-BE49-F238E27FC236}">
                <a16:creationId xmlns:a16="http://schemas.microsoft.com/office/drawing/2014/main" id="{546BF5BE-9E03-E619-57DB-E22191C6E9F0}"/>
              </a:ext>
            </a:extLst>
          </p:cNvPr>
          <p:cNvSpPr/>
          <p:nvPr/>
        </p:nvSpPr>
        <p:spPr>
          <a:xfrm>
            <a:off x="4774958" y="4000657"/>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PATCH</a:t>
            </a:r>
          </a:p>
        </p:txBody>
      </p:sp>
      <p:pic>
        <p:nvPicPr>
          <p:cNvPr id="25" name="Picture 24">
            <a:extLst>
              <a:ext uri="{FF2B5EF4-FFF2-40B4-BE49-F238E27FC236}">
                <a16:creationId xmlns:a16="http://schemas.microsoft.com/office/drawing/2014/main" id="{4D8DDF6C-459A-A493-8677-F27506271EBE}"/>
              </a:ext>
            </a:extLst>
          </p:cNvPr>
          <p:cNvPicPr>
            <a:picLocks noChangeAspect="1"/>
          </p:cNvPicPr>
          <p:nvPr/>
        </p:nvPicPr>
        <p:blipFill>
          <a:blip r:embed="rId5"/>
          <a:stretch>
            <a:fillRect/>
          </a:stretch>
        </p:blipFill>
        <p:spPr>
          <a:xfrm>
            <a:off x="1606296" y="2571105"/>
            <a:ext cx="720000" cy="720000"/>
          </a:xfrm>
          <a:prstGeom prst="rect">
            <a:avLst/>
          </a:prstGeom>
        </p:spPr>
      </p:pic>
      <p:pic>
        <p:nvPicPr>
          <p:cNvPr id="27" name="Graphic 26">
            <a:extLst>
              <a:ext uri="{FF2B5EF4-FFF2-40B4-BE49-F238E27FC236}">
                <a16:creationId xmlns:a16="http://schemas.microsoft.com/office/drawing/2014/main" id="{F0D819E8-3AF1-1F4D-6787-F820D515CBB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23463" y="2634756"/>
            <a:ext cx="1999149" cy="540000"/>
          </a:xfrm>
          <a:prstGeom prst="rect">
            <a:avLst/>
          </a:prstGeom>
        </p:spPr>
      </p:pic>
      <p:sp>
        <p:nvSpPr>
          <p:cNvPr id="28" name="TextBox 27">
            <a:extLst>
              <a:ext uri="{FF2B5EF4-FFF2-40B4-BE49-F238E27FC236}">
                <a16:creationId xmlns:a16="http://schemas.microsoft.com/office/drawing/2014/main" id="{35AFDE3D-53ED-B784-78B5-A71B5A119CA1}"/>
              </a:ext>
            </a:extLst>
          </p:cNvPr>
          <p:cNvSpPr txBox="1"/>
          <p:nvPr/>
        </p:nvSpPr>
        <p:spPr>
          <a:xfrm>
            <a:off x="660231" y="3395441"/>
            <a:ext cx="2612130" cy="38856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Client</a:t>
            </a:r>
          </a:p>
        </p:txBody>
      </p:sp>
      <p:sp>
        <p:nvSpPr>
          <p:cNvPr id="29" name="TextBox 28">
            <a:extLst>
              <a:ext uri="{FF2B5EF4-FFF2-40B4-BE49-F238E27FC236}">
                <a16:creationId xmlns:a16="http://schemas.microsoft.com/office/drawing/2014/main" id="{B2F204DC-388B-A226-14C4-EBC41FF17610}"/>
              </a:ext>
            </a:extLst>
          </p:cNvPr>
          <p:cNvSpPr txBox="1"/>
          <p:nvPr/>
        </p:nvSpPr>
        <p:spPr>
          <a:xfrm>
            <a:off x="9739949" y="3323959"/>
            <a:ext cx="1366176" cy="38856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Server</a:t>
            </a:r>
          </a:p>
        </p:txBody>
      </p:sp>
      <p:cxnSp>
        <p:nvCxnSpPr>
          <p:cNvPr id="30" name="Straight Arrow Connector 29">
            <a:extLst>
              <a:ext uri="{FF2B5EF4-FFF2-40B4-BE49-F238E27FC236}">
                <a16:creationId xmlns:a16="http://schemas.microsoft.com/office/drawing/2014/main" id="{D0F55089-8887-1B59-1476-5B2090C158EE}"/>
              </a:ext>
            </a:extLst>
          </p:cNvPr>
          <p:cNvCxnSpPr>
            <a:cxnSpLocks/>
          </p:cNvCxnSpPr>
          <p:nvPr/>
        </p:nvCxnSpPr>
        <p:spPr>
          <a:xfrm>
            <a:off x="2768537" y="2943350"/>
            <a:ext cx="1282339" cy="7936"/>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68A8818-0427-94E6-2041-0634529C9D53}"/>
              </a:ext>
            </a:extLst>
          </p:cNvPr>
          <p:cNvCxnSpPr>
            <a:cxnSpLocks/>
          </p:cNvCxnSpPr>
          <p:nvPr/>
        </p:nvCxnSpPr>
        <p:spPr>
          <a:xfrm>
            <a:off x="7889677" y="2943350"/>
            <a:ext cx="1282339" cy="7936"/>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347863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FA09640-250C-0283-5194-9F983D235735}"/>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A460649C-6E76-3CAB-27ED-28B5E05FB1F9}"/>
              </a:ext>
            </a:extLst>
          </p:cNvPr>
          <p:cNvSpPr/>
          <p:nvPr/>
        </p:nvSpPr>
        <p:spPr>
          <a:xfrm rot="2055929">
            <a:off x="719701" y="1312505"/>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1AB0C636-B055-B366-66B4-619631A979ED}"/>
              </a:ext>
            </a:extLst>
          </p:cNvPr>
          <p:cNvSpPr/>
          <p:nvPr/>
        </p:nvSpPr>
        <p:spPr>
          <a:xfrm rot="787370">
            <a:off x="11307111" y="1558956"/>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B0E558A0-729E-E5E6-C07A-940C06A759EC}"/>
              </a:ext>
            </a:extLst>
          </p:cNvPr>
          <p:cNvSpPr/>
          <p:nvPr/>
        </p:nvSpPr>
        <p:spPr>
          <a:xfrm rot="20264836">
            <a:off x="1038833" y="6302234"/>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D203D37D-A61C-12CB-CAA1-F6E6D5912D10}"/>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5FF183EC-01A1-FF2F-C081-712C33FBB33C}"/>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Types Of </a:t>
            </a:r>
            <a:r>
              <a:rPr lang="en-US" sz="3600" b="1" dirty="0">
                <a:solidFill>
                  <a:schemeClr val="accent2">
                    <a:lumMod val="75000"/>
                  </a:schemeClr>
                </a:solidFill>
                <a:latin typeface="Poppins" pitchFamily="2" charset="77"/>
                <a:cs typeface="Poppins" pitchFamily="2" charset="77"/>
              </a:rPr>
              <a:t>HTTP Request Methods</a:t>
            </a:r>
          </a:p>
        </p:txBody>
      </p:sp>
      <p:sp>
        <p:nvSpPr>
          <p:cNvPr id="13" name="Rounded Rectangle 12">
            <a:extLst>
              <a:ext uri="{FF2B5EF4-FFF2-40B4-BE49-F238E27FC236}">
                <a16:creationId xmlns:a16="http://schemas.microsoft.com/office/drawing/2014/main" id="{458AC9A3-ADC4-12CA-16CC-C94C5AA8FEF4}"/>
              </a:ext>
            </a:extLst>
          </p:cNvPr>
          <p:cNvSpPr/>
          <p:nvPr/>
        </p:nvSpPr>
        <p:spPr>
          <a:xfrm>
            <a:off x="1260395" y="1986557"/>
            <a:ext cx="15193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GET</a:t>
            </a:r>
          </a:p>
        </p:txBody>
      </p:sp>
      <p:sp>
        <p:nvSpPr>
          <p:cNvPr id="14" name="Rounded Rectangle 13">
            <a:extLst>
              <a:ext uri="{FF2B5EF4-FFF2-40B4-BE49-F238E27FC236}">
                <a16:creationId xmlns:a16="http://schemas.microsoft.com/office/drawing/2014/main" id="{3E038FC1-E30C-F911-86C3-26D4E14E87A3}"/>
              </a:ext>
            </a:extLst>
          </p:cNvPr>
          <p:cNvSpPr/>
          <p:nvPr/>
        </p:nvSpPr>
        <p:spPr>
          <a:xfrm>
            <a:off x="1260395" y="2692252"/>
            <a:ext cx="15193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POST</a:t>
            </a:r>
          </a:p>
        </p:txBody>
      </p:sp>
      <p:sp>
        <p:nvSpPr>
          <p:cNvPr id="15" name="Rounded Rectangle 14">
            <a:extLst>
              <a:ext uri="{FF2B5EF4-FFF2-40B4-BE49-F238E27FC236}">
                <a16:creationId xmlns:a16="http://schemas.microsoft.com/office/drawing/2014/main" id="{A2D8819C-6358-FAE0-0270-6CEF087D38C4}"/>
              </a:ext>
            </a:extLst>
          </p:cNvPr>
          <p:cNvSpPr/>
          <p:nvPr/>
        </p:nvSpPr>
        <p:spPr>
          <a:xfrm>
            <a:off x="1260395" y="3397947"/>
            <a:ext cx="15193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DELETE</a:t>
            </a:r>
          </a:p>
        </p:txBody>
      </p:sp>
      <p:sp>
        <p:nvSpPr>
          <p:cNvPr id="16" name="Rounded Rectangle 15">
            <a:extLst>
              <a:ext uri="{FF2B5EF4-FFF2-40B4-BE49-F238E27FC236}">
                <a16:creationId xmlns:a16="http://schemas.microsoft.com/office/drawing/2014/main" id="{6E4CEB22-74ED-EB79-0DE3-20B3AE4D8FA5}"/>
              </a:ext>
            </a:extLst>
          </p:cNvPr>
          <p:cNvSpPr/>
          <p:nvPr/>
        </p:nvSpPr>
        <p:spPr>
          <a:xfrm>
            <a:off x="1260395" y="4103642"/>
            <a:ext cx="15193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PUT</a:t>
            </a:r>
          </a:p>
        </p:txBody>
      </p:sp>
      <p:sp>
        <p:nvSpPr>
          <p:cNvPr id="17" name="Rounded Rectangle 16">
            <a:extLst>
              <a:ext uri="{FF2B5EF4-FFF2-40B4-BE49-F238E27FC236}">
                <a16:creationId xmlns:a16="http://schemas.microsoft.com/office/drawing/2014/main" id="{A86085FC-F751-BDEB-F19E-6D03CD1002AB}"/>
              </a:ext>
            </a:extLst>
          </p:cNvPr>
          <p:cNvSpPr/>
          <p:nvPr/>
        </p:nvSpPr>
        <p:spPr>
          <a:xfrm>
            <a:off x="1260395" y="4809337"/>
            <a:ext cx="15193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PATCH</a:t>
            </a:r>
          </a:p>
        </p:txBody>
      </p:sp>
      <p:sp>
        <p:nvSpPr>
          <p:cNvPr id="18" name="TextBox 17">
            <a:extLst>
              <a:ext uri="{FF2B5EF4-FFF2-40B4-BE49-F238E27FC236}">
                <a16:creationId xmlns:a16="http://schemas.microsoft.com/office/drawing/2014/main" id="{09E4482D-4817-6875-38E5-4230D07E1F74}"/>
              </a:ext>
            </a:extLst>
          </p:cNvPr>
          <p:cNvSpPr txBox="1"/>
          <p:nvPr/>
        </p:nvSpPr>
        <p:spPr>
          <a:xfrm>
            <a:off x="3236977" y="1922947"/>
            <a:ext cx="7930337" cy="523220"/>
          </a:xfrm>
          <a:prstGeom prst="rect">
            <a:avLst/>
          </a:prstGeom>
          <a:noFill/>
        </p:spPr>
        <p:txBody>
          <a:bodyPr wrap="square" rtlCol="0">
            <a:spAutoFit/>
          </a:bodyPr>
          <a:lstStyle/>
          <a:p>
            <a:pPr marR="0" lvl="0" defTabSz="914400" rtl="0" eaLnBrk="1" fontAlgn="auto" latinLnBrk="0" hangingPunct="1">
              <a:lnSpc>
                <a:spcPts val="1720"/>
              </a:lnSpc>
              <a:spcBef>
                <a:spcPts val="0"/>
              </a:spcBef>
              <a:spcAft>
                <a:spcPts val="0"/>
              </a:spcAft>
              <a:buClrTx/>
              <a:buSzTx/>
              <a:tabLst/>
              <a:defRPr/>
            </a:pP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The GET method requests a representation of the specified resource. Requests using GET should only retrieve data.</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9" name="TextBox 18">
            <a:extLst>
              <a:ext uri="{FF2B5EF4-FFF2-40B4-BE49-F238E27FC236}">
                <a16:creationId xmlns:a16="http://schemas.microsoft.com/office/drawing/2014/main" id="{9EFF2388-51F8-E887-0265-1A508138199F}"/>
              </a:ext>
            </a:extLst>
          </p:cNvPr>
          <p:cNvSpPr txBox="1"/>
          <p:nvPr/>
        </p:nvSpPr>
        <p:spPr>
          <a:xfrm>
            <a:off x="3236977" y="2627035"/>
            <a:ext cx="7930337" cy="523220"/>
          </a:xfrm>
          <a:prstGeom prst="rect">
            <a:avLst/>
          </a:prstGeom>
          <a:noFill/>
        </p:spPr>
        <p:txBody>
          <a:bodyPr wrap="square" rtlCol="0">
            <a:spAutoFit/>
          </a:bodyPr>
          <a:lstStyle/>
          <a:p>
            <a:pPr marR="0" lvl="0" defTabSz="914400" rtl="0" eaLnBrk="1" fontAlgn="auto" latinLnBrk="0" hangingPunct="1">
              <a:lnSpc>
                <a:spcPts val="1720"/>
              </a:lnSpc>
              <a:spcBef>
                <a:spcPts val="0"/>
              </a:spcBef>
              <a:spcAft>
                <a:spcPts val="0"/>
              </a:spcAft>
              <a:buClrTx/>
              <a:buSzTx/>
              <a:tabLst/>
              <a:defRPr/>
            </a:pP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The POST method submits an entity to the specified resource, often causing a change in state or side effects on the server.</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20" name="TextBox 19">
            <a:extLst>
              <a:ext uri="{FF2B5EF4-FFF2-40B4-BE49-F238E27FC236}">
                <a16:creationId xmlns:a16="http://schemas.microsoft.com/office/drawing/2014/main" id="{FD6A1633-FE51-F45D-A3B2-2244FFC06486}"/>
              </a:ext>
            </a:extLst>
          </p:cNvPr>
          <p:cNvSpPr txBox="1"/>
          <p:nvPr/>
        </p:nvSpPr>
        <p:spPr>
          <a:xfrm>
            <a:off x="3236977" y="3441097"/>
            <a:ext cx="7930337" cy="309700"/>
          </a:xfrm>
          <a:prstGeom prst="rect">
            <a:avLst/>
          </a:prstGeom>
          <a:noFill/>
        </p:spPr>
        <p:txBody>
          <a:bodyPr wrap="square" rtlCol="0">
            <a:spAutoFit/>
          </a:bodyPr>
          <a:lstStyle/>
          <a:p>
            <a:pPr marR="0" lvl="0" defTabSz="914400" rtl="0" eaLnBrk="1" fontAlgn="auto" latinLnBrk="0" hangingPunct="1">
              <a:lnSpc>
                <a:spcPts val="1720"/>
              </a:lnSpc>
              <a:spcBef>
                <a:spcPts val="0"/>
              </a:spcBef>
              <a:spcAft>
                <a:spcPts val="0"/>
              </a:spcAft>
              <a:buClrTx/>
              <a:buSzTx/>
              <a:tabLst/>
              <a:defRPr/>
            </a:pP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The DELETE method deletes the specified resource.</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21" name="TextBox 20">
            <a:extLst>
              <a:ext uri="{FF2B5EF4-FFF2-40B4-BE49-F238E27FC236}">
                <a16:creationId xmlns:a16="http://schemas.microsoft.com/office/drawing/2014/main" id="{839BC9D8-A785-BB15-4C9E-7C723C7A8240}"/>
              </a:ext>
            </a:extLst>
          </p:cNvPr>
          <p:cNvSpPr txBox="1"/>
          <p:nvPr/>
        </p:nvSpPr>
        <p:spPr>
          <a:xfrm>
            <a:off x="3236977" y="4035211"/>
            <a:ext cx="7930337" cy="523220"/>
          </a:xfrm>
          <a:prstGeom prst="rect">
            <a:avLst/>
          </a:prstGeom>
          <a:noFill/>
        </p:spPr>
        <p:txBody>
          <a:bodyPr wrap="square" rtlCol="0">
            <a:spAutoFit/>
          </a:bodyPr>
          <a:lstStyle/>
          <a:p>
            <a:pPr marR="0" lvl="0" defTabSz="914400" rtl="0" eaLnBrk="1" fontAlgn="auto" latinLnBrk="0" hangingPunct="1">
              <a:lnSpc>
                <a:spcPts val="1720"/>
              </a:lnSpc>
              <a:spcBef>
                <a:spcPts val="0"/>
              </a:spcBef>
              <a:spcAft>
                <a:spcPts val="0"/>
              </a:spcAft>
              <a:buClrTx/>
              <a:buSzTx/>
              <a:tabLst/>
              <a:defRPr/>
            </a:pP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The PUT method replaces all current representations of the target resource with the request payload.</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22" name="TextBox 21">
            <a:extLst>
              <a:ext uri="{FF2B5EF4-FFF2-40B4-BE49-F238E27FC236}">
                <a16:creationId xmlns:a16="http://schemas.microsoft.com/office/drawing/2014/main" id="{1777C0FE-6DA5-7B32-13A0-E79213F7CA08}"/>
              </a:ext>
            </a:extLst>
          </p:cNvPr>
          <p:cNvSpPr txBox="1"/>
          <p:nvPr/>
        </p:nvSpPr>
        <p:spPr>
          <a:xfrm>
            <a:off x="3236976" y="4852487"/>
            <a:ext cx="7930337" cy="309700"/>
          </a:xfrm>
          <a:prstGeom prst="rect">
            <a:avLst/>
          </a:prstGeom>
          <a:noFill/>
        </p:spPr>
        <p:txBody>
          <a:bodyPr wrap="square" rtlCol="0">
            <a:spAutoFit/>
          </a:bodyPr>
          <a:lstStyle/>
          <a:p>
            <a:pPr marR="0" lvl="0" defTabSz="914400" rtl="0" eaLnBrk="1" fontAlgn="auto" latinLnBrk="0" hangingPunct="1">
              <a:lnSpc>
                <a:spcPts val="1720"/>
              </a:lnSpc>
              <a:spcBef>
                <a:spcPts val="0"/>
              </a:spcBef>
              <a:spcAft>
                <a:spcPts val="0"/>
              </a:spcAft>
              <a:buClrTx/>
              <a:buSzTx/>
              <a:tabLst/>
              <a:defRPr/>
            </a:pP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The PATCH method applies partial modifications to a resource.</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Tree>
    <p:extLst>
      <p:ext uri="{BB962C8B-B14F-4D97-AF65-F5344CB8AC3E}">
        <p14:creationId xmlns:p14="http://schemas.microsoft.com/office/powerpoint/2010/main" val="26696633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21DFE87-6E64-576C-6A43-FFD2E0DE16BE}"/>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AED941C6-0B42-28BA-8E1E-D6432F6009B7}"/>
              </a:ext>
            </a:extLst>
          </p:cNvPr>
          <p:cNvSpPr/>
          <p:nvPr/>
        </p:nvSpPr>
        <p:spPr>
          <a:xfrm rot="2055929">
            <a:off x="619117" y="6250266"/>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8C58508D-7644-D795-DC73-D84C883BA0BC}"/>
              </a:ext>
            </a:extLst>
          </p:cNvPr>
          <p:cNvSpPr/>
          <p:nvPr/>
        </p:nvSpPr>
        <p:spPr>
          <a:xfrm rot="787370">
            <a:off x="8534862" y="164451"/>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F29DF86E-D32F-252A-5F99-C8B7CD600CB1}"/>
              </a:ext>
            </a:extLst>
          </p:cNvPr>
          <p:cNvSpPr/>
          <p:nvPr/>
        </p:nvSpPr>
        <p:spPr>
          <a:xfrm rot="20264836">
            <a:off x="11509310" y="4635490"/>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377A677B-70FC-CF5A-0727-1EB91F65D7A5}"/>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0BAB2044-62E9-4FD5-9F32-B212FEC7C3F7}"/>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Uniform </a:t>
            </a:r>
            <a:r>
              <a:rPr lang="en-US" sz="3600" b="1" dirty="0">
                <a:solidFill>
                  <a:schemeClr val="accent2">
                    <a:lumMod val="75000"/>
                  </a:schemeClr>
                </a:solidFill>
                <a:latin typeface="Poppins" pitchFamily="2" charset="77"/>
                <a:cs typeface="Poppins" pitchFamily="2" charset="77"/>
              </a:rPr>
              <a:t>Interface</a:t>
            </a:r>
          </a:p>
        </p:txBody>
      </p:sp>
      <p:sp>
        <p:nvSpPr>
          <p:cNvPr id="13" name="TextBox 12">
            <a:extLst>
              <a:ext uri="{FF2B5EF4-FFF2-40B4-BE49-F238E27FC236}">
                <a16:creationId xmlns:a16="http://schemas.microsoft.com/office/drawing/2014/main" id="{483AC1A8-8982-5C10-0EB7-781B32566891}"/>
              </a:ext>
            </a:extLst>
          </p:cNvPr>
          <p:cNvSpPr txBox="1"/>
          <p:nvPr/>
        </p:nvSpPr>
        <p:spPr>
          <a:xfrm>
            <a:off x="1264794" y="4994725"/>
            <a:ext cx="9735438" cy="1034899"/>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A uniform interface means that REST API interactions are standardized: requests for the same resource use identical URIs and HTTP methods, regardless of the client making the request. This consistency simplifies development and integration, ensuring predictability and scalability.</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7" name="Rectangle 16">
            <a:extLst>
              <a:ext uri="{FF2B5EF4-FFF2-40B4-BE49-F238E27FC236}">
                <a16:creationId xmlns:a16="http://schemas.microsoft.com/office/drawing/2014/main" id="{0EBD8C5F-7BB0-424B-52D3-8CEEE3930B1A}"/>
              </a:ext>
            </a:extLst>
          </p:cNvPr>
          <p:cNvSpPr/>
          <p:nvPr/>
        </p:nvSpPr>
        <p:spPr>
          <a:xfrm>
            <a:off x="4493117" y="1388289"/>
            <a:ext cx="3205765" cy="3205765"/>
          </a:xfrm>
          <a:prstGeom prst="rect">
            <a:avLst/>
          </a:prstGeom>
          <a:noFill/>
          <a:ln w="19050">
            <a:solidFill>
              <a:schemeClr val="accent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D6513"/>
              </a:solidFill>
              <a:effectLst/>
              <a:uLnTx/>
              <a:uFillTx/>
              <a:latin typeface="Calibri" panose="020F0502020204030204"/>
              <a:ea typeface="+mn-ea"/>
              <a:cs typeface="+mn-cs"/>
            </a:endParaRPr>
          </a:p>
        </p:txBody>
      </p:sp>
      <p:sp>
        <p:nvSpPr>
          <p:cNvPr id="18" name="Rounded Rectangle 17">
            <a:extLst>
              <a:ext uri="{FF2B5EF4-FFF2-40B4-BE49-F238E27FC236}">
                <a16:creationId xmlns:a16="http://schemas.microsoft.com/office/drawing/2014/main" id="{A91E9A8C-974D-38BE-3C9A-4BB4F6B5CE90}"/>
              </a:ext>
            </a:extLst>
          </p:cNvPr>
          <p:cNvSpPr/>
          <p:nvPr/>
        </p:nvSpPr>
        <p:spPr>
          <a:xfrm>
            <a:off x="4774958" y="2199289"/>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GET /posts</a:t>
            </a:r>
          </a:p>
        </p:txBody>
      </p:sp>
      <p:sp>
        <p:nvSpPr>
          <p:cNvPr id="19" name="Rounded Rectangle 18">
            <a:extLst>
              <a:ext uri="{FF2B5EF4-FFF2-40B4-BE49-F238E27FC236}">
                <a16:creationId xmlns:a16="http://schemas.microsoft.com/office/drawing/2014/main" id="{60DE7F4D-F275-29C8-876B-4F4B20F9680F}"/>
              </a:ext>
            </a:extLst>
          </p:cNvPr>
          <p:cNvSpPr/>
          <p:nvPr/>
        </p:nvSpPr>
        <p:spPr>
          <a:xfrm>
            <a:off x="4774958" y="2811937"/>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POST /posts</a:t>
            </a:r>
          </a:p>
        </p:txBody>
      </p:sp>
      <p:sp>
        <p:nvSpPr>
          <p:cNvPr id="20" name="Rounded Rectangle 19">
            <a:extLst>
              <a:ext uri="{FF2B5EF4-FFF2-40B4-BE49-F238E27FC236}">
                <a16:creationId xmlns:a16="http://schemas.microsoft.com/office/drawing/2014/main" id="{F126A324-242F-192A-775F-0FA2C900A35E}"/>
              </a:ext>
            </a:extLst>
          </p:cNvPr>
          <p:cNvSpPr/>
          <p:nvPr/>
        </p:nvSpPr>
        <p:spPr>
          <a:xfrm>
            <a:off x="4774958" y="3388009"/>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DELETE /posts</a:t>
            </a:r>
          </a:p>
        </p:txBody>
      </p:sp>
      <p:pic>
        <p:nvPicPr>
          <p:cNvPr id="25" name="Picture 24">
            <a:extLst>
              <a:ext uri="{FF2B5EF4-FFF2-40B4-BE49-F238E27FC236}">
                <a16:creationId xmlns:a16="http://schemas.microsoft.com/office/drawing/2014/main" id="{D660AE7C-9E7B-91A1-764F-0C4A6DD0F661}"/>
              </a:ext>
            </a:extLst>
          </p:cNvPr>
          <p:cNvPicPr>
            <a:picLocks noChangeAspect="1"/>
          </p:cNvPicPr>
          <p:nvPr/>
        </p:nvPicPr>
        <p:blipFill>
          <a:blip r:embed="rId5"/>
          <a:stretch>
            <a:fillRect/>
          </a:stretch>
        </p:blipFill>
        <p:spPr>
          <a:xfrm>
            <a:off x="1606296" y="1668835"/>
            <a:ext cx="720000" cy="720000"/>
          </a:xfrm>
          <a:prstGeom prst="rect">
            <a:avLst/>
          </a:prstGeom>
        </p:spPr>
      </p:pic>
      <p:pic>
        <p:nvPicPr>
          <p:cNvPr id="27" name="Graphic 26">
            <a:extLst>
              <a:ext uri="{FF2B5EF4-FFF2-40B4-BE49-F238E27FC236}">
                <a16:creationId xmlns:a16="http://schemas.microsoft.com/office/drawing/2014/main" id="{CDE0B0B8-57D5-EB5E-4D8B-41E70442A88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23463" y="2634756"/>
            <a:ext cx="1999149" cy="540000"/>
          </a:xfrm>
          <a:prstGeom prst="rect">
            <a:avLst/>
          </a:prstGeom>
        </p:spPr>
      </p:pic>
      <p:sp>
        <p:nvSpPr>
          <p:cNvPr id="28" name="TextBox 27">
            <a:extLst>
              <a:ext uri="{FF2B5EF4-FFF2-40B4-BE49-F238E27FC236}">
                <a16:creationId xmlns:a16="http://schemas.microsoft.com/office/drawing/2014/main" id="{5C2C56BA-7AC4-3B5F-6DDA-60D93017BB7B}"/>
              </a:ext>
            </a:extLst>
          </p:cNvPr>
          <p:cNvSpPr txBox="1"/>
          <p:nvPr/>
        </p:nvSpPr>
        <p:spPr>
          <a:xfrm>
            <a:off x="660231" y="2493171"/>
            <a:ext cx="2612130" cy="38856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Client One</a:t>
            </a:r>
          </a:p>
        </p:txBody>
      </p:sp>
      <p:sp>
        <p:nvSpPr>
          <p:cNvPr id="29" name="TextBox 28">
            <a:extLst>
              <a:ext uri="{FF2B5EF4-FFF2-40B4-BE49-F238E27FC236}">
                <a16:creationId xmlns:a16="http://schemas.microsoft.com/office/drawing/2014/main" id="{6BA6E991-D885-9FAC-FDC4-0D43DA537ED0}"/>
              </a:ext>
            </a:extLst>
          </p:cNvPr>
          <p:cNvSpPr txBox="1"/>
          <p:nvPr/>
        </p:nvSpPr>
        <p:spPr>
          <a:xfrm>
            <a:off x="9739949" y="3323959"/>
            <a:ext cx="1366176" cy="38856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Server</a:t>
            </a:r>
          </a:p>
        </p:txBody>
      </p:sp>
      <p:cxnSp>
        <p:nvCxnSpPr>
          <p:cNvPr id="30" name="Straight Arrow Connector 29">
            <a:extLst>
              <a:ext uri="{FF2B5EF4-FFF2-40B4-BE49-F238E27FC236}">
                <a16:creationId xmlns:a16="http://schemas.microsoft.com/office/drawing/2014/main" id="{BE8D7DCF-26A2-D856-A4B4-F090CB742CC3}"/>
              </a:ext>
            </a:extLst>
          </p:cNvPr>
          <p:cNvCxnSpPr>
            <a:cxnSpLocks/>
          </p:cNvCxnSpPr>
          <p:nvPr/>
        </p:nvCxnSpPr>
        <p:spPr>
          <a:xfrm>
            <a:off x="2768537" y="2041080"/>
            <a:ext cx="1282339" cy="7936"/>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37F5CCD-3694-1A2C-E561-1C5B232D2EA9}"/>
              </a:ext>
            </a:extLst>
          </p:cNvPr>
          <p:cNvCxnSpPr>
            <a:cxnSpLocks/>
          </p:cNvCxnSpPr>
          <p:nvPr/>
        </p:nvCxnSpPr>
        <p:spPr>
          <a:xfrm>
            <a:off x="7889677" y="2943350"/>
            <a:ext cx="1282339" cy="7936"/>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24699519-EE85-69C2-7253-BD21C43E119B}"/>
              </a:ext>
            </a:extLst>
          </p:cNvPr>
          <p:cNvPicPr>
            <a:picLocks noChangeAspect="1"/>
          </p:cNvPicPr>
          <p:nvPr/>
        </p:nvPicPr>
        <p:blipFill>
          <a:blip r:embed="rId5"/>
          <a:stretch>
            <a:fillRect/>
          </a:stretch>
        </p:blipFill>
        <p:spPr>
          <a:xfrm>
            <a:off x="1606296" y="3214171"/>
            <a:ext cx="720000" cy="720000"/>
          </a:xfrm>
          <a:prstGeom prst="rect">
            <a:avLst/>
          </a:prstGeom>
        </p:spPr>
      </p:pic>
      <p:sp>
        <p:nvSpPr>
          <p:cNvPr id="4" name="TextBox 3">
            <a:extLst>
              <a:ext uri="{FF2B5EF4-FFF2-40B4-BE49-F238E27FC236}">
                <a16:creationId xmlns:a16="http://schemas.microsoft.com/office/drawing/2014/main" id="{A3218DA5-2ED3-573F-CCDE-61D7BD19DF6C}"/>
              </a:ext>
            </a:extLst>
          </p:cNvPr>
          <p:cNvSpPr txBox="1"/>
          <p:nvPr/>
        </p:nvSpPr>
        <p:spPr>
          <a:xfrm>
            <a:off x="660231" y="4038507"/>
            <a:ext cx="2612130" cy="38856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Client Two</a:t>
            </a:r>
          </a:p>
        </p:txBody>
      </p:sp>
      <p:cxnSp>
        <p:nvCxnSpPr>
          <p:cNvPr id="9" name="Straight Arrow Connector 8">
            <a:extLst>
              <a:ext uri="{FF2B5EF4-FFF2-40B4-BE49-F238E27FC236}">
                <a16:creationId xmlns:a16="http://schemas.microsoft.com/office/drawing/2014/main" id="{4E289245-36B4-9BB7-3491-D437C08E9CB0}"/>
              </a:ext>
            </a:extLst>
          </p:cNvPr>
          <p:cNvCxnSpPr>
            <a:cxnSpLocks/>
          </p:cNvCxnSpPr>
          <p:nvPr/>
        </p:nvCxnSpPr>
        <p:spPr>
          <a:xfrm>
            <a:off x="2768537" y="3586416"/>
            <a:ext cx="1282339" cy="7936"/>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DE67349-68C6-BF29-D60B-A359F2FDE780}"/>
              </a:ext>
            </a:extLst>
          </p:cNvPr>
          <p:cNvSpPr txBox="1"/>
          <p:nvPr/>
        </p:nvSpPr>
        <p:spPr>
          <a:xfrm>
            <a:off x="4812666" y="4078902"/>
            <a:ext cx="2639694" cy="276999"/>
          </a:xfrm>
          <a:prstGeom prst="rect">
            <a:avLst/>
          </a:prstGeom>
          <a:noFill/>
        </p:spPr>
        <p:txBody>
          <a:bodyPr wrap="square" rtlCol="0">
            <a:spAutoFit/>
          </a:bodyPr>
          <a:lstStyle/>
          <a:p>
            <a:pPr marR="0" lvl="0" algn="ctr" defTabSz="914400" rtl="0" eaLnBrk="1" fontAlgn="auto" latinLnBrk="0" hangingPunct="1">
              <a:spcBef>
                <a:spcPts val="0"/>
              </a:spcBef>
              <a:spcAft>
                <a:spcPts val="0"/>
              </a:spcAft>
              <a:buClrTx/>
              <a:buSzTx/>
              <a:tabLst/>
              <a:defRPr/>
            </a:pPr>
            <a:r>
              <a:rPr lang="en-US" sz="1200" dirty="0">
                <a:solidFill>
                  <a:schemeClr val="accent2">
                    <a:lumMod val="75000"/>
                  </a:schemeClr>
                </a:solidFill>
                <a:latin typeface="Poppins" pitchFamily="2" charset="77"/>
                <a:cs typeface="Poppins" pitchFamily="2" charset="77"/>
              </a:rPr>
              <a:t>https://</a:t>
            </a:r>
            <a:r>
              <a:rPr lang="en-US" sz="1200" dirty="0" err="1">
                <a:solidFill>
                  <a:schemeClr val="accent2">
                    <a:lumMod val="75000"/>
                  </a:schemeClr>
                </a:solidFill>
                <a:latin typeface="Poppins" pitchFamily="2" charset="77"/>
                <a:cs typeface="Poppins" pitchFamily="2" charset="77"/>
              </a:rPr>
              <a:t>apiurl.com</a:t>
            </a:r>
            <a:r>
              <a:rPr lang="en-US" sz="1200" dirty="0">
                <a:solidFill>
                  <a:schemeClr val="accent2">
                    <a:lumMod val="75000"/>
                  </a:schemeClr>
                </a:solidFill>
                <a:latin typeface="Poppins" pitchFamily="2" charset="77"/>
                <a:cs typeface="Poppins" pitchFamily="2" charset="77"/>
              </a:rPr>
              <a:t>/posts</a:t>
            </a:r>
            <a:endParaRPr kumimoji="0" lang="en-US" sz="1200" b="1" i="0" u="none" strike="noStrike" kern="1200" cap="none" spc="0" normalizeH="0" baseline="0" noProof="0" dirty="0">
              <a:ln>
                <a:noFill/>
              </a:ln>
              <a:solidFill>
                <a:schemeClr val="accent2">
                  <a:lumMod val="75000"/>
                </a:schemeClr>
              </a:solidFill>
              <a:effectLst/>
              <a:uLnTx/>
              <a:uFillTx/>
              <a:latin typeface="Poppins SemiBold" pitchFamily="2" charset="77"/>
              <a:ea typeface="+mn-ea"/>
              <a:cs typeface="Poppins SemiBold" pitchFamily="2" charset="77"/>
            </a:endParaRPr>
          </a:p>
        </p:txBody>
      </p:sp>
    </p:spTree>
    <p:extLst>
      <p:ext uri="{BB962C8B-B14F-4D97-AF65-F5344CB8AC3E}">
        <p14:creationId xmlns:p14="http://schemas.microsoft.com/office/powerpoint/2010/main" val="300385879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7E75F9E-FBAB-6A77-1124-1DE755BFB58D}"/>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C0732957-0479-C99B-981F-63268FFCE25E}"/>
              </a:ext>
            </a:extLst>
          </p:cNvPr>
          <p:cNvSpPr/>
          <p:nvPr/>
        </p:nvSpPr>
        <p:spPr>
          <a:xfrm rot="2055929">
            <a:off x="719701" y="1312505"/>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CEBB92DF-B661-560F-4C62-4F287BE3D60E}"/>
              </a:ext>
            </a:extLst>
          </p:cNvPr>
          <p:cNvSpPr/>
          <p:nvPr/>
        </p:nvSpPr>
        <p:spPr>
          <a:xfrm rot="787370">
            <a:off x="11307111" y="1558956"/>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D0A4CFE5-66D1-93AA-E45B-B1B7F72EEB31}"/>
              </a:ext>
            </a:extLst>
          </p:cNvPr>
          <p:cNvSpPr/>
          <p:nvPr/>
        </p:nvSpPr>
        <p:spPr>
          <a:xfrm rot="20264836">
            <a:off x="1038833" y="6302234"/>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5DDF8C2-7BA1-E7A4-C74E-44B2BADFC1DD}"/>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E2AE2C7F-E085-3943-872C-E538EAE49C1F}"/>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REST is </a:t>
            </a:r>
            <a:r>
              <a:rPr lang="en-US" sz="3600" b="1" dirty="0">
                <a:solidFill>
                  <a:schemeClr val="accent2">
                    <a:lumMod val="75000"/>
                  </a:schemeClr>
                </a:solidFill>
                <a:latin typeface="Poppins" pitchFamily="2" charset="77"/>
                <a:cs typeface="Poppins" pitchFamily="2" charset="77"/>
              </a:rPr>
              <a:t>Stateless</a:t>
            </a:r>
          </a:p>
        </p:txBody>
      </p:sp>
      <p:sp>
        <p:nvSpPr>
          <p:cNvPr id="2" name="TextBox 1">
            <a:extLst>
              <a:ext uri="{FF2B5EF4-FFF2-40B4-BE49-F238E27FC236}">
                <a16:creationId xmlns:a16="http://schemas.microsoft.com/office/drawing/2014/main" id="{E0797D00-11F3-1AD0-2AD7-82414141F074}"/>
              </a:ext>
            </a:extLst>
          </p:cNvPr>
          <p:cNvSpPr txBox="1"/>
          <p:nvPr/>
        </p:nvSpPr>
        <p:spPr>
          <a:xfrm>
            <a:off x="1264794" y="5055640"/>
            <a:ext cx="9735438" cy="1034899"/>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REST APIs are stateless, which means each request must contain all information necessary to understand and complete the request. This approach ensures that the server does not need to retain session or user-specific state between requests, enhancing reliability and scalability.</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25" name="Rectangle 24">
            <a:extLst>
              <a:ext uri="{FF2B5EF4-FFF2-40B4-BE49-F238E27FC236}">
                <a16:creationId xmlns:a16="http://schemas.microsoft.com/office/drawing/2014/main" id="{418A920F-7380-02CE-7661-4225C68BC40F}"/>
              </a:ext>
            </a:extLst>
          </p:cNvPr>
          <p:cNvSpPr/>
          <p:nvPr/>
        </p:nvSpPr>
        <p:spPr>
          <a:xfrm>
            <a:off x="4493117" y="1388289"/>
            <a:ext cx="3205765" cy="3205765"/>
          </a:xfrm>
          <a:prstGeom prst="rect">
            <a:avLst/>
          </a:prstGeom>
          <a:noFill/>
          <a:ln w="19050">
            <a:solidFill>
              <a:schemeClr val="accent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D6513"/>
              </a:solidFill>
              <a:effectLst/>
              <a:uLnTx/>
              <a:uFillTx/>
              <a:latin typeface="Calibri" panose="020F0502020204030204"/>
              <a:ea typeface="+mn-ea"/>
              <a:cs typeface="+mn-cs"/>
            </a:endParaRPr>
          </a:p>
        </p:txBody>
      </p:sp>
      <p:pic>
        <p:nvPicPr>
          <p:cNvPr id="29" name="Picture 28">
            <a:extLst>
              <a:ext uri="{FF2B5EF4-FFF2-40B4-BE49-F238E27FC236}">
                <a16:creationId xmlns:a16="http://schemas.microsoft.com/office/drawing/2014/main" id="{2090E9F6-0A01-620B-FAD0-FAC2527C0EB3}"/>
              </a:ext>
            </a:extLst>
          </p:cNvPr>
          <p:cNvPicPr>
            <a:picLocks noChangeAspect="1"/>
          </p:cNvPicPr>
          <p:nvPr/>
        </p:nvPicPr>
        <p:blipFill>
          <a:blip r:embed="rId5"/>
          <a:stretch>
            <a:fillRect/>
          </a:stretch>
        </p:blipFill>
        <p:spPr>
          <a:xfrm>
            <a:off x="1606296" y="1668835"/>
            <a:ext cx="720000" cy="720000"/>
          </a:xfrm>
          <a:prstGeom prst="rect">
            <a:avLst/>
          </a:prstGeom>
        </p:spPr>
      </p:pic>
      <p:pic>
        <p:nvPicPr>
          <p:cNvPr id="30" name="Graphic 29">
            <a:extLst>
              <a:ext uri="{FF2B5EF4-FFF2-40B4-BE49-F238E27FC236}">
                <a16:creationId xmlns:a16="http://schemas.microsoft.com/office/drawing/2014/main" id="{8C38A11A-6E6D-95B0-FD7C-D1C4B773EA7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23463" y="2634756"/>
            <a:ext cx="1999149" cy="540000"/>
          </a:xfrm>
          <a:prstGeom prst="rect">
            <a:avLst/>
          </a:prstGeom>
        </p:spPr>
      </p:pic>
      <p:sp>
        <p:nvSpPr>
          <p:cNvPr id="31" name="TextBox 30">
            <a:extLst>
              <a:ext uri="{FF2B5EF4-FFF2-40B4-BE49-F238E27FC236}">
                <a16:creationId xmlns:a16="http://schemas.microsoft.com/office/drawing/2014/main" id="{54CFDBAC-EF29-D3AE-A125-49A5A6E6983A}"/>
              </a:ext>
            </a:extLst>
          </p:cNvPr>
          <p:cNvSpPr txBox="1"/>
          <p:nvPr/>
        </p:nvSpPr>
        <p:spPr>
          <a:xfrm>
            <a:off x="9739949" y="3323959"/>
            <a:ext cx="1366176" cy="38856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Server</a:t>
            </a:r>
          </a:p>
        </p:txBody>
      </p:sp>
      <p:cxnSp>
        <p:nvCxnSpPr>
          <p:cNvPr id="32" name="Straight Arrow Connector 31">
            <a:extLst>
              <a:ext uri="{FF2B5EF4-FFF2-40B4-BE49-F238E27FC236}">
                <a16:creationId xmlns:a16="http://schemas.microsoft.com/office/drawing/2014/main" id="{D76BB837-9364-C912-1BE1-EF198FA3BD86}"/>
              </a:ext>
            </a:extLst>
          </p:cNvPr>
          <p:cNvCxnSpPr>
            <a:cxnSpLocks/>
          </p:cNvCxnSpPr>
          <p:nvPr/>
        </p:nvCxnSpPr>
        <p:spPr>
          <a:xfrm>
            <a:off x="2768537" y="2041080"/>
            <a:ext cx="1282339" cy="7936"/>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823F095-DE5B-A55D-0CDA-AB7C94FB987F}"/>
              </a:ext>
            </a:extLst>
          </p:cNvPr>
          <p:cNvCxnSpPr>
            <a:cxnSpLocks/>
          </p:cNvCxnSpPr>
          <p:nvPr/>
        </p:nvCxnSpPr>
        <p:spPr>
          <a:xfrm>
            <a:off x="7889677" y="2943350"/>
            <a:ext cx="1282339" cy="7936"/>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34" name="Picture 33">
            <a:extLst>
              <a:ext uri="{FF2B5EF4-FFF2-40B4-BE49-F238E27FC236}">
                <a16:creationId xmlns:a16="http://schemas.microsoft.com/office/drawing/2014/main" id="{FDA4C248-67E7-5A5D-7B6C-B8D785D07149}"/>
              </a:ext>
            </a:extLst>
          </p:cNvPr>
          <p:cNvPicPr>
            <a:picLocks noChangeAspect="1"/>
          </p:cNvPicPr>
          <p:nvPr/>
        </p:nvPicPr>
        <p:blipFill>
          <a:blip r:embed="rId5"/>
          <a:stretch>
            <a:fillRect/>
          </a:stretch>
        </p:blipFill>
        <p:spPr>
          <a:xfrm>
            <a:off x="1606296" y="3214171"/>
            <a:ext cx="720000" cy="720000"/>
          </a:xfrm>
          <a:prstGeom prst="rect">
            <a:avLst/>
          </a:prstGeom>
        </p:spPr>
      </p:pic>
      <p:cxnSp>
        <p:nvCxnSpPr>
          <p:cNvPr id="35" name="Straight Arrow Connector 34">
            <a:extLst>
              <a:ext uri="{FF2B5EF4-FFF2-40B4-BE49-F238E27FC236}">
                <a16:creationId xmlns:a16="http://schemas.microsoft.com/office/drawing/2014/main" id="{9690EE87-C08C-5A67-1D28-6121622C46BC}"/>
              </a:ext>
            </a:extLst>
          </p:cNvPr>
          <p:cNvCxnSpPr>
            <a:cxnSpLocks/>
          </p:cNvCxnSpPr>
          <p:nvPr/>
        </p:nvCxnSpPr>
        <p:spPr>
          <a:xfrm>
            <a:off x="2768537" y="3586416"/>
            <a:ext cx="1282339" cy="7936"/>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6BF7DA5D-D58C-99F7-A9C2-43E915DEB137}"/>
              </a:ext>
            </a:extLst>
          </p:cNvPr>
          <p:cNvSpPr txBox="1"/>
          <p:nvPr/>
        </p:nvSpPr>
        <p:spPr>
          <a:xfrm>
            <a:off x="1161960" y="2493171"/>
            <a:ext cx="1608672" cy="38856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400" b="1" dirty="0">
                <a:solidFill>
                  <a:srgbClr val="423300"/>
                </a:solidFill>
                <a:latin typeface="Poppins SemiBold" pitchFamily="2" charset="77"/>
                <a:cs typeface="Poppins SemiBold" pitchFamily="2" charset="77"/>
              </a:rPr>
              <a:t>U</a:t>
            </a: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ser One</a:t>
            </a:r>
          </a:p>
        </p:txBody>
      </p:sp>
      <p:sp>
        <p:nvSpPr>
          <p:cNvPr id="38" name="TextBox 37">
            <a:extLst>
              <a:ext uri="{FF2B5EF4-FFF2-40B4-BE49-F238E27FC236}">
                <a16:creationId xmlns:a16="http://schemas.microsoft.com/office/drawing/2014/main" id="{AFA3FFC2-F9ED-E516-EBD0-5E12693F91DD}"/>
              </a:ext>
            </a:extLst>
          </p:cNvPr>
          <p:cNvSpPr txBox="1"/>
          <p:nvPr/>
        </p:nvSpPr>
        <p:spPr>
          <a:xfrm>
            <a:off x="887640" y="4038507"/>
            <a:ext cx="2157312" cy="38856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User Two</a:t>
            </a:r>
          </a:p>
        </p:txBody>
      </p:sp>
      <p:pic>
        <p:nvPicPr>
          <p:cNvPr id="40" name="Picture 39">
            <a:extLst>
              <a:ext uri="{FF2B5EF4-FFF2-40B4-BE49-F238E27FC236}">
                <a16:creationId xmlns:a16="http://schemas.microsoft.com/office/drawing/2014/main" id="{69693202-E1D8-6EB8-961A-8ABA389AD926}"/>
              </a:ext>
            </a:extLst>
          </p:cNvPr>
          <p:cNvPicPr>
            <a:picLocks noChangeAspect="1"/>
          </p:cNvPicPr>
          <p:nvPr/>
        </p:nvPicPr>
        <p:blipFill>
          <a:blip r:embed="rId8"/>
          <a:stretch>
            <a:fillRect/>
          </a:stretch>
        </p:blipFill>
        <p:spPr>
          <a:xfrm>
            <a:off x="5735999" y="1681080"/>
            <a:ext cx="720000" cy="720000"/>
          </a:xfrm>
          <a:prstGeom prst="rect">
            <a:avLst/>
          </a:prstGeom>
        </p:spPr>
      </p:pic>
      <p:sp>
        <p:nvSpPr>
          <p:cNvPr id="41" name="TextBox 40">
            <a:extLst>
              <a:ext uri="{FF2B5EF4-FFF2-40B4-BE49-F238E27FC236}">
                <a16:creationId xmlns:a16="http://schemas.microsoft.com/office/drawing/2014/main" id="{D6DDAF6D-CF7A-B130-1E27-9EFF740A1CAD}"/>
              </a:ext>
            </a:extLst>
          </p:cNvPr>
          <p:cNvSpPr txBox="1"/>
          <p:nvPr/>
        </p:nvSpPr>
        <p:spPr>
          <a:xfrm>
            <a:off x="5328177" y="2493171"/>
            <a:ext cx="1608672" cy="38856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400" b="1" dirty="0">
                <a:solidFill>
                  <a:srgbClr val="423300"/>
                </a:solidFill>
                <a:latin typeface="Poppins SemiBold" pitchFamily="2" charset="77"/>
                <a:cs typeface="Poppins SemiBold" pitchFamily="2" charset="77"/>
              </a:rPr>
              <a:t>Token</a:t>
            </a: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 One</a:t>
            </a:r>
          </a:p>
        </p:txBody>
      </p:sp>
      <p:sp>
        <p:nvSpPr>
          <p:cNvPr id="42" name="TextBox 41">
            <a:extLst>
              <a:ext uri="{FF2B5EF4-FFF2-40B4-BE49-F238E27FC236}">
                <a16:creationId xmlns:a16="http://schemas.microsoft.com/office/drawing/2014/main" id="{BC2CFF55-F835-FB9E-F812-2634F8E66066}"/>
              </a:ext>
            </a:extLst>
          </p:cNvPr>
          <p:cNvSpPr txBox="1"/>
          <p:nvPr/>
        </p:nvSpPr>
        <p:spPr>
          <a:xfrm>
            <a:off x="5048160" y="4038507"/>
            <a:ext cx="2157312" cy="38856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Token Two</a:t>
            </a:r>
          </a:p>
        </p:txBody>
      </p:sp>
      <p:pic>
        <p:nvPicPr>
          <p:cNvPr id="44" name="Picture 43">
            <a:extLst>
              <a:ext uri="{FF2B5EF4-FFF2-40B4-BE49-F238E27FC236}">
                <a16:creationId xmlns:a16="http://schemas.microsoft.com/office/drawing/2014/main" id="{5B7CB391-8A99-1317-4ECF-4E4E9E57A720}"/>
              </a:ext>
            </a:extLst>
          </p:cNvPr>
          <p:cNvPicPr>
            <a:picLocks noChangeAspect="1"/>
          </p:cNvPicPr>
          <p:nvPr/>
        </p:nvPicPr>
        <p:blipFill>
          <a:blip r:embed="rId9"/>
          <a:stretch>
            <a:fillRect/>
          </a:stretch>
        </p:blipFill>
        <p:spPr>
          <a:xfrm>
            <a:off x="5731943" y="3236375"/>
            <a:ext cx="720000" cy="720000"/>
          </a:xfrm>
          <a:prstGeom prst="rect">
            <a:avLst/>
          </a:prstGeom>
        </p:spPr>
      </p:pic>
    </p:spTree>
    <p:extLst>
      <p:ext uri="{BB962C8B-B14F-4D97-AF65-F5344CB8AC3E}">
        <p14:creationId xmlns:p14="http://schemas.microsoft.com/office/powerpoint/2010/main" val="204173878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D8C8AA1-57B6-BCB1-7286-2E91ED484AB2}"/>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CD8ED3C1-D2B8-A495-C1AD-6DD605A51A29}"/>
              </a:ext>
            </a:extLst>
          </p:cNvPr>
          <p:cNvSpPr/>
          <p:nvPr/>
        </p:nvSpPr>
        <p:spPr>
          <a:xfrm rot="2055929">
            <a:off x="619117" y="6250266"/>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9BD3BD23-2F42-D0E5-C0A1-EA599DD75E03}"/>
              </a:ext>
            </a:extLst>
          </p:cNvPr>
          <p:cNvSpPr/>
          <p:nvPr/>
        </p:nvSpPr>
        <p:spPr>
          <a:xfrm rot="787370">
            <a:off x="8534862" y="164451"/>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F427DA2A-6338-9B2C-1FBD-A7446AECD656}"/>
              </a:ext>
            </a:extLst>
          </p:cNvPr>
          <p:cNvSpPr/>
          <p:nvPr/>
        </p:nvSpPr>
        <p:spPr>
          <a:xfrm rot="20264836">
            <a:off x="11509310" y="4635490"/>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D0B9E2AC-8692-B741-3299-D9442888C97F}"/>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D8C02C3B-6884-F8EF-D032-4208E71F5C1E}"/>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err="1">
                <a:solidFill>
                  <a:schemeClr val="accent2">
                    <a:lumMod val="75000"/>
                  </a:schemeClr>
                </a:solidFill>
                <a:latin typeface="Poppins" pitchFamily="2" charset="77"/>
                <a:cs typeface="Poppins" pitchFamily="2" charset="77"/>
              </a:rPr>
              <a:t>Cacheability</a:t>
            </a:r>
            <a:endParaRPr lang="en-US" sz="3600" b="1" dirty="0">
              <a:solidFill>
                <a:schemeClr val="accent2">
                  <a:lumMod val="75000"/>
                </a:schemeClr>
              </a:solidFill>
              <a:latin typeface="Poppins" pitchFamily="2" charset="77"/>
              <a:cs typeface="Poppins" pitchFamily="2" charset="77"/>
            </a:endParaRPr>
          </a:p>
        </p:txBody>
      </p:sp>
      <p:sp>
        <p:nvSpPr>
          <p:cNvPr id="13" name="TextBox 12">
            <a:extLst>
              <a:ext uri="{FF2B5EF4-FFF2-40B4-BE49-F238E27FC236}">
                <a16:creationId xmlns:a16="http://schemas.microsoft.com/office/drawing/2014/main" id="{43954E55-8E19-7440-D073-54026AA6B685}"/>
              </a:ext>
            </a:extLst>
          </p:cNvPr>
          <p:cNvSpPr txBox="1"/>
          <p:nvPr/>
        </p:nvSpPr>
        <p:spPr>
          <a:xfrm>
            <a:off x="1264794" y="4415036"/>
            <a:ext cx="9735438" cy="1358064"/>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In RESTful architectures, both servers and clients can maintain their own independent caches. This means the server can cache common data to quickly serve multiple clients, while clients can cache server responses to reduce the number of requests sent. This dual-layer caching optimizes performance, reducing latency and server load by minimizing unnecessary data transmission.</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8" name="Rounded Rectangle 17">
            <a:extLst>
              <a:ext uri="{FF2B5EF4-FFF2-40B4-BE49-F238E27FC236}">
                <a16:creationId xmlns:a16="http://schemas.microsoft.com/office/drawing/2014/main" id="{89047187-71A1-9D42-A1B7-CDC283FD9EF1}"/>
              </a:ext>
            </a:extLst>
          </p:cNvPr>
          <p:cNvSpPr/>
          <p:nvPr/>
        </p:nvSpPr>
        <p:spPr>
          <a:xfrm>
            <a:off x="4547271" y="2495661"/>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Request</a:t>
            </a:r>
          </a:p>
        </p:txBody>
      </p:sp>
      <p:sp>
        <p:nvSpPr>
          <p:cNvPr id="19" name="Rounded Rectangle 18">
            <a:extLst>
              <a:ext uri="{FF2B5EF4-FFF2-40B4-BE49-F238E27FC236}">
                <a16:creationId xmlns:a16="http://schemas.microsoft.com/office/drawing/2014/main" id="{CD947B8F-1FED-71F0-71C5-958FB38A6C4C}"/>
              </a:ext>
            </a:extLst>
          </p:cNvPr>
          <p:cNvSpPr/>
          <p:nvPr/>
        </p:nvSpPr>
        <p:spPr>
          <a:xfrm>
            <a:off x="4547271" y="3108309"/>
            <a:ext cx="2642082"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Response</a:t>
            </a:r>
          </a:p>
        </p:txBody>
      </p:sp>
      <p:pic>
        <p:nvPicPr>
          <p:cNvPr id="27" name="Graphic 26">
            <a:extLst>
              <a:ext uri="{FF2B5EF4-FFF2-40B4-BE49-F238E27FC236}">
                <a16:creationId xmlns:a16="http://schemas.microsoft.com/office/drawing/2014/main" id="{F00B2A2B-462B-1CE0-C177-259245A699C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62055" y="2568309"/>
            <a:ext cx="1999149" cy="540000"/>
          </a:xfrm>
          <a:prstGeom prst="rect">
            <a:avLst/>
          </a:prstGeom>
        </p:spPr>
      </p:pic>
      <p:sp>
        <p:nvSpPr>
          <p:cNvPr id="29" name="TextBox 28">
            <a:extLst>
              <a:ext uri="{FF2B5EF4-FFF2-40B4-BE49-F238E27FC236}">
                <a16:creationId xmlns:a16="http://schemas.microsoft.com/office/drawing/2014/main" id="{29F9F0D2-2652-16A3-7BDD-829C7A3E7FD8}"/>
              </a:ext>
            </a:extLst>
          </p:cNvPr>
          <p:cNvSpPr txBox="1"/>
          <p:nvPr/>
        </p:nvSpPr>
        <p:spPr>
          <a:xfrm>
            <a:off x="9778541" y="3257512"/>
            <a:ext cx="1366176" cy="38856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Server</a:t>
            </a:r>
          </a:p>
        </p:txBody>
      </p:sp>
      <p:cxnSp>
        <p:nvCxnSpPr>
          <p:cNvPr id="32" name="Straight Arrow Connector 31">
            <a:extLst>
              <a:ext uri="{FF2B5EF4-FFF2-40B4-BE49-F238E27FC236}">
                <a16:creationId xmlns:a16="http://schemas.microsoft.com/office/drawing/2014/main" id="{040C1CC4-988D-9879-39E3-762800313856}"/>
              </a:ext>
            </a:extLst>
          </p:cNvPr>
          <p:cNvCxnSpPr>
            <a:cxnSpLocks/>
          </p:cNvCxnSpPr>
          <p:nvPr/>
        </p:nvCxnSpPr>
        <p:spPr>
          <a:xfrm>
            <a:off x="7416570" y="2674010"/>
            <a:ext cx="1063856" cy="3968"/>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2DE84C1F-DB44-C94B-7191-1A58BD0F3C67}"/>
              </a:ext>
            </a:extLst>
          </p:cNvPr>
          <p:cNvPicPr>
            <a:picLocks noChangeAspect="1"/>
          </p:cNvPicPr>
          <p:nvPr/>
        </p:nvPicPr>
        <p:blipFill>
          <a:blip r:embed="rId7"/>
          <a:stretch>
            <a:fillRect/>
          </a:stretch>
        </p:blipFill>
        <p:spPr>
          <a:xfrm>
            <a:off x="1482222" y="2442962"/>
            <a:ext cx="720000" cy="720000"/>
          </a:xfrm>
          <a:prstGeom prst="rect">
            <a:avLst/>
          </a:prstGeom>
        </p:spPr>
      </p:pic>
      <p:sp>
        <p:nvSpPr>
          <p:cNvPr id="4" name="TextBox 3">
            <a:extLst>
              <a:ext uri="{FF2B5EF4-FFF2-40B4-BE49-F238E27FC236}">
                <a16:creationId xmlns:a16="http://schemas.microsoft.com/office/drawing/2014/main" id="{91EB1CAE-3A1E-BF4E-6D07-A8B6DB4CBA61}"/>
              </a:ext>
            </a:extLst>
          </p:cNvPr>
          <p:cNvSpPr txBox="1"/>
          <p:nvPr/>
        </p:nvSpPr>
        <p:spPr>
          <a:xfrm>
            <a:off x="1056174" y="3267298"/>
            <a:ext cx="1572096" cy="38856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Client</a:t>
            </a:r>
          </a:p>
        </p:txBody>
      </p:sp>
      <p:sp>
        <p:nvSpPr>
          <p:cNvPr id="11" name="Rounded Rectangle 10">
            <a:extLst>
              <a:ext uri="{FF2B5EF4-FFF2-40B4-BE49-F238E27FC236}">
                <a16:creationId xmlns:a16="http://schemas.microsoft.com/office/drawing/2014/main" id="{600D9CB2-1B19-CC02-9D67-8FF1416EB652}"/>
              </a:ext>
            </a:extLst>
          </p:cNvPr>
          <p:cNvSpPr/>
          <p:nvPr/>
        </p:nvSpPr>
        <p:spPr>
          <a:xfrm>
            <a:off x="2656030" y="2273090"/>
            <a:ext cx="479760" cy="1565040"/>
          </a:xfrm>
          <a:prstGeom prst="round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t>C</a:t>
            </a:r>
            <a:b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br>
            <a: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t>a</a:t>
            </a:r>
            <a:b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br>
            <a: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t>c</a:t>
            </a:r>
            <a:b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br>
            <a: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t>h</a:t>
            </a:r>
            <a:b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br>
            <a: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t>e</a:t>
            </a:r>
            <a:endParaRPr kumimoji="0" lang="en-US"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endParaRPr>
          </a:p>
        </p:txBody>
      </p:sp>
      <p:sp>
        <p:nvSpPr>
          <p:cNvPr id="12" name="Rounded Rectangle 11">
            <a:extLst>
              <a:ext uri="{FF2B5EF4-FFF2-40B4-BE49-F238E27FC236}">
                <a16:creationId xmlns:a16="http://schemas.microsoft.com/office/drawing/2014/main" id="{1F040E80-8C31-4D2C-CE63-ED29915CE1FD}"/>
              </a:ext>
            </a:extLst>
          </p:cNvPr>
          <p:cNvSpPr/>
          <p:nvPr/>
        </p:nvSpPr>
        <p:spPr>
          <a:xfrm>
            <a:off x="8755078" y="2273090"/>
            <a:ext cx="479760" cy="1565040"/>
          </a:xfrm>
          <a:prstGeom prst="round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t>C</a:t>
            </a:r>
            <a:b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br>
            <a: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t>a</a:t>
            </a:r>
            <a:b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br>
            <a: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t>c</a:t>
            </a:r>
            <a:b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br>
            <a: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t>h</a:t>
            </a:r>
            <a:b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br>
            <a:r>
              <a:rPr kumimoji="0" lang="en-IN"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rPr>
              <a:t>e</a:t>
            </a:r>
            <a:endParaRPr kumimoji="0" lang="en-US" sz="1400" b="0" i="0" u="none" strike="noStrike" kern="1200" cap="none" spc="0" normalizeH="0" baseline="0" noProof="0" dirty="0">
              <a:ln>
                <a:noFill/>
              </a:ln>
              <a:solidFill>
                <a:srgbClr val="423300"/>
              </a:solidFill>
              <a:effectLst/>
              <a:uLnTx/>
              <a:uFillTx/>
              <a:latin typeface="Poppins" pitchFamily="2" charset="77"/>
              <a:ea typeface="+mn-ea"/>
              <a:cs typeface="Poppins" pitchFamily="2" charset="77"/>
            </a:endParaRPr>
          </a:p>
        </p:txBody>
      </p:sp>
      <p:cxnSp>
        <p:nvCxnSpPr>
          <p:cNvPr id="16" name="Straight Arrow Connector 15">
            <a:extLst>
              <a:ext uri="{FF2B5EF4-FFF2-40B4-BE49-F238E27FC236}">
                <a16:creationId xmlns:a16="http://schemas.microsoft.com/office/drawing/2014/main" id="{74BF6632-EE3E-1A29-7189-815CEA192761}"/>
              </a:ext>
            </a:extLst>
          </p:cNvPr>
          <p:cNvCxnSpPr>
            <a:cxnSpLocks/>
          </p:cNvCxnSpPr>
          <p:nvPr/>
        </p:nvCxnSpPr>
        <p:spPr>
          <a:xfrm>
            <a:off x="3292626" y="2674010"/>
            <a:ext cx="1063856" cy="3968"/>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3419BE4-56C0-82F5-A14F-0D105478BF18}"/>
              </a:ext>
            </a:extLst>
          </p:cNvPr>
          <p:cNvCxnSpPr>
            <a:cxnSpLocks/>
          </p:cNvCxnSpPr>
          <p:nvPr/>
        </p:nvCxnSpPr>
        <p:spPr>
          <a:xfrm flipH="1">
            <a:off x="7416570" y="3304946"/>
            <a:ext cx="1063856" cy="3968"/>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D6D430B-B43A-E7E4-B515-0DD8B9425D4F}"/>
              </a:ext>
            </a:extLst>
          </p:cNvPr>
          <p:cNvCxnSpPr>
            <a:cxnSpLocks/>
          </p:cNvCxnSpPr>
          <p:nvPr/>
        </p:nvCxnSpPr>
        <p:spPr>
          <a:xfrm flipH="1">
            <a:off x="3265194" y="3304946"/>
            <a:ext cx="1063856" cy="3968"/>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257776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D6818B9-B9DE-D26F-825C-082085418672}"/>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FF094EE2-7DC8-AE79-7F61-042D1E65831B}"/>
              </a:ext>
            </a:extLst>
          </p:cNvPr>
          <p:cNvSpPr/>
          <p:nvPr/>
        </p:nvSpPr>
        <p:spPr>
          <a:xfrm rot="2055929">
            <a:off x="805853" y="1233040"/>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ADD7C17B-B252-DA3D-44A8-3C8F4D54E197}"/>
              </a:ext>
            </a:extLst>
          </p:cNvPr>
          <p:cNvSpPr/>
          <p:nvPr/>
        </p:nvSpPr>
        <p:spPr>
          <a:xfrm rot="787370">
            <a:off x="11479459" y="946262"/>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32B165ED-AD4F-3347-F377-B6071288AC3B}"/>
              </a:ext>
            </a:extLst>
          </p:cNvPr>
          <p:cNvSpPr/>
          <p:nvPr/>
        </p:nvSpPr>
        <p:spPr>
          <a:xfrm rot="20264836">
            <a:off x="792864" y="6097114"/>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DCF75CF7-7EAC-818A-45CE-123925C9B617}"/>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4D2A8D39-F627-AB6B-1F92-9CF697E7746F}"/>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Layered</a:t>
            </a:r>
            <a:r>
              <a:rPr lang="en-US" sz="3600" b="1" dirty="0">
                <a:solidFill>
                  <a:schemeClr val="accent2">
                    <a:lumMod val="75000"/>
                  </a:schemeClr>
                </a:solidFill>
                <a:latin typeface="Poppins" pitchFamily="2" charset="77"/>
                <a:cs typeface="Poppins" pitchFamily="2" charset="77"/>
              </a:rPr>
              <a:t> Architecture</a:t>
            </a:r>
          </a:p>
        </p:txBody>
      </p:sp>
      <p:sp>
        <p:nvSpPr>
          <p:cNvPr id="13" name="TextBox 12">
            <a:extLst>
              <a:ext uri="{FF2B5EF4-FFF2-40B4-BE49-F238E27FC236}">
                <a16:creationId xmlns:a16="http://schemas.microsoft.com/office/drawing/2014/main" id="{84F6D6BC-972D-EB5C-008B-ED89D9941BE9}"/>
              </a:ext>
            </a:extLst>
          </p:cNvPr>
          <p:cNvSpPr txBox="1"/>
          <p:nvPr/>
        </p:nvSpPr>
        <p:spPr>
          <a:xfrm>
            <a:off x="1264794" y="4783526"/>
            <a:ext cx="9735438" cy="1034899"/>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REST APIs are designed within a layered system architecture, where interactions occur without the client or server knowing whether they are communicating directly with the end application or through intermediaries. This ensures that each layer can evolve independently, enhancing scalability and security.</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8" name="Rounded Rectangle 17">
            <a:extLst>
              <a:ext uri="{FF2B5EF4-FFF2-40B4-BE49-F238E27FC236}">
                <a16:creationId xmlns:a16="http://schemas.microsoft.com/office/drawing/2014/main" id="{D66FBF24-9AC3-3F7E-073C-25BB5543BADF}"/>
              </a:ext>
            </a:extLst>
          </p:cNvPr>
          <p:cNvSpPr/>
          <p:nvPr/>
        </p:nvSpPr>
        <p:spPr>
          <a:xfrm>
            <a:off x="4153200" y="2495661"/>
            <a:ext cx="1942800"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Request</a:t>
            </a:r>
          </a:p>
        </p:txBody>
      </p:sp>
      <p:sp>
        <p:nvSpPr>
          <p:cNvPr id="19" name="Rounded Rectangle 18">
            <a:extLst>
              <a:ext uri="{FF2B5EF4-FFF2-40B4-BE49-F238E27FC236}">
                <a16:creationId xmlns:a16="http://schemas.microsoft.com/office/drawing/2014/main" id="{9F0337FF-9E0D-6D62-5C47-BC8A8A88531E}"/>
              </a:ext>
            </a:extLst>
          </p:cNvPr>
          <p:cNvSpPr/>
          <p:nvPr/>
        </p:nvSpPr>
        <p:spPr>
          <a:xfrm>
            <a:off x="4153200" y="3108309"/>
            <a:ext cx="1942800"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Response</a:t>
            </a:r>
          </a:p>
        </p:txBody>
      </p:sp>
      <p:cxnSp>
        <p:nvCxnSpPr>
          <p:cNvPr id="32" name="Straight Arrow Connector 31">
            <a:extLst>
              <a:ext uri="{FF2B5EF4-FFF2-40B4-BE49-F238E27FC236}">
                <a16:creationId xmlns:a16="http://schemas.microsoft.com/office/drawing/2014/main" id="{96B3ACD6-381B-9E69-F8B5-4010936914E6}"/>
              </a:ext>
            </a:extLst>
          </p:cNvPr>
          <p:cNvCxnSpPr>
            <a:cxnSpLocks/>
          </p:cNvCxnSpPr>
          <p:nvPr/>
        </p:nvCxnSpPr>
        <p:spPr>
          <a:xfrm>
            <a:off x="6745021" y="2674010"/>
            <a:ext cx="1063856" cy="3968"/>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29DF0535-1F09-0ED0-9578-350E7FAC72B5}"/>
              </a:ext>
            </a:extLst>
          </p:cNvPr>
          <p:cNvPicPr>
            <a:picLocks noChangeAspect="1"/>
          </p:cNvPicPr>
          <p:nvPr/>
        </p:nvPicPr>
        <p:blipFill>
          <a:blip r:embed="rId5"/>
          <a:stretch>
            <a:fillRect/>
          </a:stretch>
        </p:blipFill>
        <p:spPr>
          <a:xfrm>
            <a:off x="1170806" y="2495130"/>
            <a:ext cx="720000" cy="720000"/>
          </a:xfrm>
          <a:prstGeom prst="rect">
            <a:avLst/>
          </a:prstGeom>
        </p:spPr>
      </p:pic>
      <p:sp>
        <p:nvSpPr>
          <p:cNvPr id="4" name="TextBox 3">
            <a:extLst>
              <a:ext uri="{FF2B5EF4-FFF2-40B4-BE49-F238E27FC236}">
                <a16:creationId xmlns:a16="http://schemas.microsoft.com/office/drawing/2014/main" id="{841E5343-5F35-2A9A-C0C3-4D8DF2E1E889}"/>
              </a:ext>
            </a:extLst>
          </p:cNvPr>
          <p:cNvSpPr txBox="1"/>
          <p:nvPr/>
        </p:nvSpPr>
        <p:spPr>
          <a:xfrm>
            <a:off x="744758" y="3319466"/>
            <a:ext cx="1572096" cy="38856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Client</a:t>
            </a:r>
          </a:p>
        </p:txBody>
      </p:sp>
      <p:cxnSp>
        <p:nvCxnSpPr>
          <p:cNvPr id="16" name="Straight Arrow Connector 15">
            <a:extLst>
              <a:ext uri="{FF2B5EF4-FFF2-40B4-BE49-F238E27FC236}">
                <a16:creationId xmlns:a16="http://schemas.microsoft.com/office/drawing/2014/main" id="{E7AF2163-4649-D836-18D4-F7B32595B2BF}"/>
              </a:ext>
            </a:extLst>
          </p:cNvPr>
          <p:cNvCxnSpPr>
            <a:cxnSpLocks/>
          </p:cNvCxnSpPr>
          <p:nvPr/>
        </p:nvCxnSpPr>
        <p:spPr>
          <a:xfrm>
            <a:off x="2440323" y="2674010"/>
            <a:ext cx="1063856" cy="3968"/>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8FCF05B-AC33-A225-3484-4CD4C0D5ABBB}"/>
              </a:ext>
            </a:extLst>
          </p:cNvPr>
          <p:cNvCxnSpPr>
            <a:cxnSpLocks/>
          </p:cNvCxnSpPr>
          <p:nvPr/>
        </p:nvCxnSpPr>
        <p:spPr>
          <a:xfrm flipH="1">
            <a:off x="6745021" y="3304946"/>
            <a:ext cx="1063856" cy="3968"/>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79CB78D-3D24-8437-B57A-0F75980A14EF}"/>
              </a:ext>
            </a:extLst>
          </p:cNvPr>
          <p:cNvCxnSpPr>
            <a:cxnSpLocks/>
          </p:cNvCxnSpPr>
          <p:nvPr/>
        </p:nvCxnSpPr>
        <p:spPr>
          <a:xfrm flipH="1">
            <a:off x="2412891" y="3304946"/>
            <a:ext cx="1063856" cy="3968"/>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DEA48658-B55C-8C38-8B68-A016423A6D5F}"/>
              </a:ext>
            </a:extLst>
          </p:cNvPr>
          <p:cNvSpPr/>
          <p:nvPr/>
        </p:nvSpPr>
        <p:spPr>
          <a:xfrm>
            <a:off x="8457898" y="1512054"/>
            <a:ext cx="3205765" cy="2808807"/>
          </a:xfrm>
          <a:prstGeom prst="rect">
            <a:avLst/>
          </a:prstGeom>
          <a:noFill/>
          <a:ln w="19050">
            <a:solidFill>
              <a:schemeClr val="accent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AD6513"/>
              </a:solidFill>
              <a:effectLst/>
              <a:uLnTx/>
              <a:uFillTx/>
              <a:latin typeface="Calibri" panose="020F0502020204030204"/>
              <a:ea typeface="+mn-ea"/>
              <a:cs typeface="+mn-cs"/>
            </a:endParaRPr>
          </a:p>
        </p:txBody>
      </p:sp>
      <p:sp>
        <p:nvSpPr>
          <p:cNvPr id="20" name="Rounded Rectangle 19">
            <a:extLst>
              <a:ext uri="{FF2B5EF4-FFF2-40B4-BE49-F238E27FC236}">
                <a16:creationId xmlns:a16="http://schemas.microsoft.com/office/drawing/2014/main" id="{BED4A608-90A1-6B1C-C3A5-4C883325E751}"/>
              </a:ext>
            </a:extLst>
          </p:cNvPr>
          <p:cNvSpPr/>
          <p:nvPr/>
        </p:nvSpPr>
        <p:spPr>
          <a:xfrm>
            <a:off x="9100104" y="2103026"/>
            <a:ext cx="1942800"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Logical Layer</a:t>
            </a:r>
          </a:p>
        </p:txBody>
      </p:sp>
      <p:sp>
        <p:nvSpPr>
          <p:cNvPr id="23" name="Rounded Rectangle 22">
            <a:extLst>
              <a:ext uri="{FF2B5EF4-FFF2-40B4-BE49-F238E27FC236}">
                <a16:creationId xmlns:a16="http://schemas.microsoft.com/office/drawing/2014/main" id="{015F3BBB-9610-90E0-347D-1FCF8CB7AB97}"/>
              </a:ext>
            </a:extLst>
          </p:cNvPr>
          <p:cNvSpPr/>
          <p:nvPr/>
        </p:nvSpPr>
        <p:spPr>
          <a:xfrm>
            <a:off x="9100104" y="2852834"/>
            <a:ext cx="1942800"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Database</a:t>
            </a:r>
          </a:p>
        </p:txBody>
      </p:sp>
      <p:sp>
        <p:nvSpPr>
          <p:cNvPr id="24" name="Rounded Rectangle 23">
            <a:extLst>
              <a:ext uri="{FF2B5EF4-FFF2-40B4-BE49-F238E27FC236}">
                <a16:creationId xmlns:a16="http://schemas.microsoft.com/office/drawing/2014/main" id="{1C093188-50C7-D1C2-546B-A62880E5091B}"/>
              </a:ext>
            </a:extLst>
          </p:cNvPr>
          <p:cNvSpPr/>
          <p:nvPr/>
        </p:nvSpPr>
        <p:spPr>
          <a:xfrm>
            <a:off x="9100104" y="3593498"/>
            <a:ext cx="1942800"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white"/>
                </a:solidFill>
                <a:latin typeface="Poppins" pitchFamily="2" charset="77"/>
                <a:cs typeface="Poppins" pitchFamily="2" charset="77"/>
              </a:rPr>
              <a:t>Middleware</a:t>
            </a:r>
            <a:endPar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pic>
        <p:nvPicPr>
          <p:cNvPr id="27" name="Graphic 26">
            <a:extLst>
              <a:ext uri="{FF2B5EF4-FFF2-40B4-BE49-F238E27FC236}">
                <a16:creationId xmlns:a16="http://schemas.microsoft.com/office/drawing/2014/main" id="{12E45597-D056-E677-F6A7-F9EB5D0A1E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61362" y="1232244"/>
            <a:ext cx="1570494" cy="424214"/>
          </a:xfrm>
          <a:prstGeom prst="rect">
            <a:avLst/>
          </a:prstGeom>
        </p:spPr>
      </p:pic>
    </p:spTree>
    <p:extLst>
      <p:ext uri="{BB962C8B-B14F-4D97-AF65-F5344CB8AC3E}">
        <p14:creationId xmlns:p14="http://schemas.microsoft.com/office/powerpoint/2010/main" val="329439500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BBD3125-270F-A215-DCD7-4E1DB6BB56D7}"/>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1BE071B0-E3EB-4BD7-0E5C-40A1DE6A7691}"/>
              </a:ext>
            </a:extLst>
          </p:cNvPr>
          <p:cNvSpPr/>
          <p:nvPr/>
        </p:nvSpPr>
        <p:spPr>
          <a:xfrm rot="2055929">
            <a:off x="619117" y="6250266"/>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9EC4C759-4D69-BA55-D5EF-E9CF84594F1D}"/>
              </a:ext>
            </a:extLst>
          </p:cNvPr>
          <p:cNvSpPr/>
          <p:nvPr/>
        </p:nvSpPr>
        <p:spPr>
          <a:xfrm rot="787370">
            <a:off x="8534862" y="164451"/>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6160B33A-164E-36DC-7779-53A9B83B9667}"/>
              </a:ext>
            </a:extLst>
          </p:cNvPr>
          <p:cNvSpPr/>
          <p:nvPr/>
        </p:nvSpPr>
        <p:spPr>
          <a:xfrm rot="20264836">
            <a:off x="10064407" y="6013216"/>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4C0730E-95E0-6973-CB36-C1E361E2BE95}"/>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AA37A8FC-51C6-2974-77BE-1F619E7E5749}"/>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Anatomy Of</a:t>
            </a:r>
            <a:r>
              <a:rPr lang="en-US" sz="3600" b="1" dirty="0">
                <a:solidFill>
                  <a:schemeClr val="accent2">
                    <a:lumMod val="75000"/>
                  </a:schemeClr>
                </a:solidFill>
                <a:latin typeface="Poppins" pitchFamily="2" charset="77"/>
                <a:cs typeface="Poppins" pitchFamily="2" charset="77"/>
              </a:rPr>
              <a:t> API Endpoint</a:t>
            </a:r>
          </a:p>
        </p:txBody>
      </p:sp>
      <p:sp>
        <p:nvSpPr>
          <p:cNvPr id="9" name="TextBox 8">
            <a:extLst>
              <a:ext uri="{FF2B5EF4-FFF2-40B4-BE49-F238E27FC236}">
                <a16:creationId xmlns:a16="http://schemas.microsoft.com/office/drawing/2014/main" id="{8C9739CA-8049-7E47-3119-09E639796352}"/>
              </a:ext>
            </a:extLst>
          </p:cNvPr>
          <p:cNvSpPr txBox="1"/>
          <p:nvPr/>
        </p:nvSpPr>
        <p:spPr>
          <a:xfrm>
            <a:off x="1532709" y="3556567"/>
            <a:ext cx="9126582" cy="400110"/>
          </a:xfrm>
          <a:prstGeom prst="rect">
            <a:avLst/>
          </a:prstGeom>
          <a:noFill/>
        </p:spPr>
        <p:txBody>
          <a:bodyPr wrap="square">
            <a:spAutoFit/>
          </a:bodyPr>
          <a:lstStyle/>
          <a:p>
            <a:pPr algn="ctr"/>
            <a:r>
              <a:rPr lang="en-US" sz="2000" i="1" dirty="0">
                <a:solidFill>
                  <a:srgbClr val="423300"/>
                </a:solidFill>
                <a:latin typeface="Poppins" pitchFamily="2" charset="77"/>
                <a:cs typeface="Poppins" pitchFamily="2" charset="77"/>
              </a:rPr>
              <a:t>GET https://</a:t>
            </a:r>
            <a:r>
              <a:rPr lang="en-US" sz="2000" i="1" dirty="0" err="1">
                <a:solidFill>
                  <a:srgbClr val="423300"/>
                </a:solidFill>
                <a:latin typeface="Poppins" pitchFamily="2" charset="77"/>
                <a:cs typeface="Poppins" pitchFamily="2" charset="77"/>
              </a:rPr>
              <a:t>apiurl.com</a:t>
            </a:r>
            <a:r>
              <a:rPr lang="en-US" sz="2000" i="1" dirty="0">
                <a:solidFill>
                  <a:srgbClr val="423300"/>
                </a:solidFill>
                <a:latin typeface="Poppins" pitchFamily="2" charset="77"/>
                <a:cs typeface="Poppins" pitchFamily="2" charset="77"/>
              </a:rPr>
              <a:t>/posts/author/?limit=10&amp;offset=20</a:t>
            </a:r>
          </a:p>
        </p:txBody>
      </p:sp>
      <p:sp>
        <p:nvSpPr>
          <p:cNvPr id="10" name="Rounded Rectangle 9">
            <a:extLst>
              <a:ext uri="{FF2B5EF4-FFF2-40B4-BE49-F238E27FC236}">
                <a16:creationId xmlns:a16="http://schemas.microsoft.com/office/drawing/2014/main" id="{DA397514-B4FF-F599-C7CC-BCAA5EA2AE62}"/>
              </a:ext>
            </a:extLst>
          </p:cNvPr>
          <p:cNvSpPr/>
          <p:nvPr/>
        </p:nvSpPr>
        <p:spPr>
          <a:xfrm>
            <a:off x="696686" y="2059488"/>
            <a:ext cx="2970260" cy="40229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prstClr val="white"/>
                </a:solidFill>
                <a:latin typeface="Poppins" pitchFamily="2" charset="77"/>
                <a:cs typeface="Poppins" pitchFamily="2" charset="77"/>
              </a:rPr>
              <a:t>HTTP verb: GET</a:t>
            </a:r>
          </a:p>
        </p:txBody>
      </p:sp>
      <p:sp>
        <p:nvSpPr>
          <p:cNvPr id="14" name="Rounded Rectangle 13">
            <a:extLst>
              <a:ext uri="{FF2B5EF4-FFF2-40B4-BE49-F238E27FC236}">
                <a16:creationId xmlns:a16="http://schemas.microsoft.com/office/drawing/2014/main" id="{E8F5E2BC-43B5-4EA1-9B6F-A720B8DEA886}"/>
              </a:ext>
            </a:extLst>
          </p:cNvPr>
          <p:cNvSpPr/>
          <p:nvPr/>
        </p:nvSpPr>
        <p:spPr>
          <a:xfrm>
            <a:off x="4706983" y="2059488"/>
            <a:ext cx="2970260" cy="40229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prstClr val="white"/>
                </a:solidFill>
                <a:latin typeface="Poppins" pitchFamily="2" charset="77"/>
                <a:cs typeface="Poppins" pitchFamily="2" charset="77"/>
              </a:rPr>
              <a:t>domain</a:t>
            </a:r>
            <a:r>
              <a:rPr lang="en-US" sz="1400">
                <a:solidFill>
                  <a:prstClr val="white"/>
                </a:solidFill>
                <a:latin typeface="Poppins" pitchFamily="2" charset="77"/>
                <a:cs typeface="Poppins" pitchFamily="2" charset="77"/>
              </a:rPr>
              <a:t>: https://</a:t>
            </a:r>
            <a:r>
              <a:rPr lang="en-US" sz="1400" dirty="0" err="1">
                <a:solidFill>
                  <a:prstClr val="white"/>
                </a:solidFill>
                <a:latin typeface="Poppins" pitchFamily="2" charset="77"/>
                <a:cs typeface="Poppins" pitchFamily="2" charset="77"/>
              </a:rPr>
              <a:t>apiurl</a:t>
            </a:r>
            <a:r>
              <a:rPr lang="en-US" sz="1400" err="1">
                <a:solidFill>
                  <a:prstClr val="white"/>
                </a:solidFill>
                <a:latin typeface="Poppins" pitchFamily="2" charset="77"/>
                <a:cs typeface="Poppins" pitchFamily="2" charset="77"/>
              </a:rPr>
              <a:t>.</a:t>
            </a:r>
            <a:r>
              <a:rPr lang="en-US" sz="1400">
                <a:solidFill>
                  <a:prstClr val="white"/>
                </a:solidFill>
                <a:latin typeface="Poppins" pitchFamily="2" charset="77"/>
                <a:cs typeface="Poppins" pitchFamily="2" charset="77"/>
              </a:rPr>
              <a:t>com/</a:t>
            </a:r>
            <a:endParaRPr lang="en-US" sz="1400" dirty="0">
              <a:solidFill>
                <a:prstClr val="white"/>
              </a:solidFill>
              <a:latin typeface="Poppins" pitchFamily="2" charset="77"/>
              <a:cs typeface="Poppins" pitchFamily="2" charset="77"/>
            </a:endParaRPr>
          </a:p>
        </p:txBody>
      </p:sp>
      <p:sp>
        <p:nvSpPr>
          <p:cNvPr id="15" name="Rounded Rectangle 14">
            <a:extLst>
              <a:ext uri="{FF2B5EF4-FFF2-40B4-BE49-F238E27FC236}">
                <a16:creationId xmlns:a16="http://schemas.microsoft.com/office/drawing/2014/main" id="{DCC62805-FC87-2DA6-1ADD-55A33CEC6243}"/>
              </a:ext>
            </a:extLst>
          </p:cNvPr>
          <p:cNvSpPr/>
          <p:nvPr/>
        </p:nvSpPr>
        <p:spPr>
          <a:xfrm>
            <a:off x="8717280" y="2059488"/>
            <a:ext cx="2970260" cy="40229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prstClr val="white"/>
                </a:solidFill>
                <a:latin typeface="Poppins" pitchFamily="2" charset="77"/>
                <a:cs typeface="Poppins" pitchFamily="2" charset="77"/>
              </a:rPr>
              <a:t>route</a:t>
            </a:r>
            <a:r>
              <a:rPr lang="en-US" sz="1400">
                <a:solidFill>
                  <a:prstClr val="white"/>
                </a:solidFill>
                <a:latin typeface="Poppins" pitchFamily="2" charset="77"/>
                <a:cs typeface="Poppins" pitchFamily="2" charset="77"/>
              </a:rPr>
              <a:t>: </a:t>
            </a:r>
            <a:r>
              <a:rPr lang="en-US" sz="1400" dirty="0">
                <a:solidFill>
                  <a:prstClr val="white"/>
                </a:solidFill>
                <a:latin typeface="Poppins" pitchFamily="2" charset="77"/>
                <a:cs typeface="Poppins" pitchFamily="2" charset="77"/>
              </a:rPr>
              <a:t>/</a:t>
            </a:r>
            <a:r>
              <a:rPr lang="en-US" sz="1400">
                <a:solidFill>
                  <a:prstClr val="white"/>
                </a:solidFill>
                <a:latin typeface="Poppins" pitchFamily="2" charset="77"/>
                <a:cs typeface="Poppins" pitchFamily="2" charset="77"/>
              </a:rPr>
              <a:t>posts/</a:t>
            </a:r>
            <a:endParaRPr lang="en-US" sz="1400" dirty="0">
              <a:solidFill>
                <a:prstClr val="white"/>
              </a:solidFill>
              <a:latin typeface="Poppins" pitchFamily="2" charset="77"/>
              <a:cs typeface="Poppins" pitchFamily="2" charset="77"/>
            </a:endParaRPr>
          </a:p>
        </p:txBody>
      </p:sp>
      <p:sp>
        <p:nvSpPr>
          <p:cNvPr id="17" name="Rounded Rectangle 16">
            <a:extLst>
              <a:ext uri="{FF2B5EF4-FFF2-40B4-BE49-F238E27FC236}">
                <a16:creationId xmlns:a16="http://schemas.microsoft.com/office/drawing/2014/main" id="{0FC07AF7-B27C-BD4E-E70F-0C9236E6915F}"/>
              </a:ext>
            </a:extLst>
          </p:cNvPr>
          <p:cNvSpPr/>
          <p:nvPr/>
        </p:nvSpPr>
        <p:spPr>
          <a:xfrm>
            <a:off x="696686" y="5100969"/>
            <a:ext cx="2970260" cy="40229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prstClr val="white"/>
                </a:solidFill>
                <a:latin typeface="Poppins" pitchFamily="2" charset="77"/>
                <a:cs typeface="Poppins" pitchFamily="2" charset="77"/>
              </a:rPr>
              <a:t>params</a:t>
            </a:r>
            <a:r>
              <a:rPr lang="en-US" sz="1400">
                <a:solidFill>
                  <a:prstClr val="white"/>
                </a:solidFill>
                <a:latin typeface="Poppins" pitchFamily="2" charset="77"/>
                <a:cs typeface="Poppins" pitchFamily="2" charset="77"/>
              </a:rPr>
              <a:t>: </a:t>
            </a:r>
            <a:r>
              <a:rPr lang="en-US" sz="1400" dirty="0">
                <a:solidFill>
                  <a:prstClr val="white"/>
                </a:solidFill>
                <a:latin typeface="Poppins" pitchFamily="2" charset="77"/>
                <a:cs typeface="Poppins" pitchFamily="2" charset="77"/>
              </a:rPr>
              <a:t>/</a:t>
            </a:r>
            <a:r>
              <a:rPr lang="en-US" sz="1400">
                <a:solidFill>
                  <a:prstClr val="white"/>
                </a:solidFill>
                <a:latin typeface="Poppins" pitchFamily="2" charset="77"/>
                <a:cs typeface="Poppins" pitchFamily="2" charset="77"/>
              </a:rPr>
              <a:t>author/</a:t>
            </a:r>
            <a:endParaRPr lang="en-US" sz="1400" dirty="0">
              <a:solidFill>
                <a:prstClr val="white"/>
              </a:solidFill>
              <a:latin typeface="Poppins" pitchFamily="2" charset="77"/>
              <a:cs typeface="Poppins" pitchFamily="2" charset="77"/>
            </a:endParaRPr>
          </a:p>
        </p:txBody>
      </p:sp>
      <p:sp>
        <p:nvSpPr>
          <p:cNvPr id="20" name="Rounded Rectangle 19">
            <a:extLst>
              <a:ext uri="{FF2B5EF4-FFF2-40B4-BE49-F238E27FC236}">
                <a16:creationId xmlns:a16="http://schemas.microsoft.com/office/drawing/2014/main" id="{BB7835E9-F845-8CD0-04DF-C791D61E4E46}"/>
              </a:ext>
            </a:extLst>
          </p:cNvPr>
          <p:cNvSpPr/>
          <p:nvPr/>
        </p:nvSpPr>
        <p:spPr>
          <a:xfrm>
            <a:off x="4702629" y="5100969"/>
            <a:ext cx="2970260" cy="40229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prstClr val="white"/>
                </a:solidFill>
                <a:latin typeface="Poppins" pitchFamily="2" charset="77"/>
                <a:cs typeface="Poppins" pitchFamily="2" charset="77"/>
              </a:rPr>
              <a:t>query</a:t>
            </a:r>
            <a:r>
              <a:rPr lang="en-US" sz="1400">
                <a:solidFill>
                  <a:prstClr val="white"/>
                </a:solidFill>
                <a:latin typeface="Poppins" pitchFamily="2" charset="77"/>
                <a:cs typeface="Poppins" pitchFamily="2" charset="77"/>
              </a:rPr>
              <a:t>: </a:t>
            </a:r>
            <a:r>
              <a:rPr lang="en-US" sz="1400" dirty="0">
                <a:solidFill>
                  <a:prstClr val="white"/>
                </a:solidFill>
                <a:latin typeface="Poppins" pitchFamily="2" charset="77"/>
                <a:cs typeface="Poppins" pitchFamily="2" charset="77"/>
              </a:rPr>
              <a:t>/?limit=10&amp;offset</a:t>
            </a:r>
            <a:r>
              <a:rPr lang="en-US" sz="1400">
                <a:solidFill>
                  <a:prstClr val="white"/>
                </a:solidFill>
                <a:latin typeface="Poppins" pitchFamily="2" charset="77"/>
                <a:cs typeface="Poppins" pitchFamily="2" charset="77"/>
              </a:rPr>
              <a:t>=20</a:t>
            </a:r>
            <a:endParaRPr lang="en-US" sz="1400" dirty="0">
              <a:solidFill>
                <a:prstClr val="white"/>
              </a:solidFill>
              <a:latin typeface="Poppins" pitchFamily="2" charset="77"/>
              <a:cs typeface="Poppins" pitchFamily="2" charset="77"/>
            </a:endParaRPr>
          </a:p>
        </p:txBody>
      </p:sp>
      <p:sp>
        <p:nvSpPr>
          <p:cNvPr id="23" name="Rounded Rectangle 22">
            <a:extLst>
              <a:ext uri="{FF2B5EF4-FFF2-40B4-BE49-F238E27FC236}">
                <a16:creationId xmlns:a16="http://schemas.microsoft.com/office/drawing/2014/main" id="{2CD3C0DF-C17E-6960-6781-6E6AC9F8BFF8}"/>
              </a:ext>
            </a:extLst>
          </p:cNvPr>
          <p:cNvSpPr/>
          <p:nvPr/>
        </p:nvSpPr>
        <p:spPr>
          <a:xfrm>
            <a:off x="8717281" y="5100969"/>
            <a:ext cx="2970260" cy="40229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prstClr val="white"/>
                </a:solidFill>
                <a:latin typeface="Poppins" pitchFamily="2" charset="77"/>
                <a:cs typeface="Poppins" pitchFamily="2" charset="77"/>
              </a:rPr>
              <a:t>body: {“author”: ”John”}</a:t>
            </a:r>
          </a:p>
        </p:txBody>
      </p:sp>
      <p:cxnSp>
        <p:nvCxnSpPr>
          <p:cNvPr id="24" name="Curved Connector 23">
            <a:extLst>
              <a:ext uri="{FF2B5EF4-FFF2-40B4-BE49-F238E27FC236}">
                <a16:creationId xmlns:a16="http://schemas.microsoft.com/office/drawing/2014/main" id="{8B094DF4-4D2E-2D11-D0EC-F0A91BA6C5CB}"/>
              </a:ext>
            </a:extLst>
          </p:cNvPr>
          <p:cNvCxnSpPr>
            <a:cxnSpLocks/>
            <a:endCxn id="10" idx="2"/>
          </p:cNvCxnSpPr>
          <p:nvPr/>
        </p:nvCxnSpPr>
        <p:spPr>
          <a:xfrm rot="16200000" flipV="1">
            <a:off x="1917937" y="2725657"/>
            <a:ext cx="967222" cy="439464"/>
          </a:xfrm>
          <a:prstGeom prst="curvedConnector3">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Curved Connector 24">
            <a:extLst>
              <a:ext uri="{FF2B5EF4-FFF2-40B4-BE49-F238E27FC236}">
                <a16:creationId xmlns:a16="http://schemas.microsoft.com/office/drawing/2014/main" id="{B7BEAF02-3C5D-1E3E-A99E-58AE8FC18613}"/>
              </a:ext>
            </a:extLst>
          </p:cNvPr>
          <p:cNvCxnSpPr>
            <a:cxnSpLocks/>
            <a:endCxn id="14" idx="2"/>
          </p:cNvCxnSpPr>
          <p:nvPr/>
        </p:nvCxnSpPr>
        <p:spPr>
          <a:xfrm flipV="1">
            <a:off x="3968050" y="2461778"/>
            <a:ext cx="2224063" cy="1003735"/>
          </a:xfrm>
          <a:prstGeom prst="curvedConnector2">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6" name="Curved Connector 25">
            <a:extLst>
              <a:ext uri="{FF2B5EF4-FFF2-40B4-BE49-F238E27FC236}">
                <a16:creationId xmlns:a16="http://schemas.microsoft.com/office/drawing/2014/main" id="{2A384DEA-DD55-843F-5247-8160605C913B}"/>
              </a:ext>
            </a:extLst>
          </p:cNvPr>
          <p:cNvCxnSpPr>
            <a:cxnSpLocks/>
          </p:cNvCxnSpPr>
          <p:nvPr/>
        </p:nvCxnSpPr>
        <p:spPr>
          <a:xfrm rot="5400000" flipH="1" flipV="1">
            <a:off x="7415702" y="931216"/>
            <a:ext cx="1094789" cy="4106410"/>
          </a:xfrm>
          <a:prstGeom prst="curvedConnector3">
            <a:avLst>
              <a:gd name="adj1" fmla="val 50000"/>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8" name="Curved Connector 27">
            <a:extLst>
              <a:ext uri="{FF2B5EF4-FFF2-40B4-BE49-F238E27FC236}">
                <a16:creationId xmlns:a16="http://schemas.microsoft.com/office/drawing/2014/main" id="{AD2600A7-3593-4036-AA82-C1C8CA3C72B4}"/>
              </a:ext>
            </a:extLst>
          </p:cNvPr>
          <p:cNvCxnSpPr>
            <a:cxnSpLocks/>
          </p:cNvCxnSpPr>
          <p:nvPr/>
        </p:nvCxnSpPr>
        <p:spPr>
          <a:xfrm rot="5400000">
            <a:off x="3880593" y="2546976"/>
            <a:ext cx="1144292" cy="3914184"/>
          </a:xfrm>
          <a:prstGeom prst="curvedConnector3">
            <a:avLst>
              <a:gd name="adj1" fmla="val 62938"/>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 name="Curved Connector 29">
            <a:extLst>
              <a:ext uri="{FF2B5EF4-FFF2-40B4-BE49-F238E27FC236}">
                <a16:creationId xmlns:a16="http://schemas.microsoft.com/office/drawing/2014/main" id="{40C37335-0AEB-2ACB-24E4-C364212B999E}"/>
              </a:ext>
            </a:extLst>
          </p:cNvPr>
          <p:cNvCxnSpPr>
            <a:cxnSpLocks/>
            <a:endCxn id="20" idx="0"/>
          </p:cNvCxnSpPr>
          <p:nvPr/>
        </p:nvCxnSpPr>
        <p:spPr>
          <a:xfrm rot="10800000" flipV="1">
            <a:off x="6187760" y="3956673"/>
            <a:ext cx="1828805" cy="1144295"/>
          </a:xfrm>
          <a:prstGeom prst="curvedConnector2">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08828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C96344D-5E1E-A63D-04F1-2C648D853C86}"/>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22169EC2-CB96-E7B0-B383-537AC722A020}"/>
              </a:ext>
            </a:extLst>
          </p:cNvPr>
          <p:cNvSpPr/>
          <p:nvPr/>
        </p:nvSpPr>
        <p:spPr>
          <a:xfrm rot="2055929">
            <a:off x="805853" y="1233040"/>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F9878EC7-D076-4A9C-81FC-B49EB6259AB6}"/>
              </a:ext>
            </a:extLst>
          </p:cNvPr>
          <p:cNvSpPr/>
          <p:nvPr/>
        </p:nvSpPr>
        <p:spPr>
          <a:xfrm rot="787370">
            <a:off x="11479459" y="946262"/>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770171DB-E592-F6F4-823C-E66A0C6E319B}"/>
              </a:ext>
            </a:extLst>
          </p:cNvPr>
          <p:cNvSpPr/>
          <p:nvPr/>
        </p:nvSpPr>
        <p:spPr>
          <a:xfrm rot="20264836">
            <a:off x="792864" y="6097114"/>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5AC76F1-EC62-12D7-046B-4DB4259A6DB7}"/>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C84EED0F-F091-F501-E45B-19D9EBE686A1}"/>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Params Vs. </a:t>
            </a:r>
            <a:r>
              <a:rPr lang="en-US" sz="3600" b="1" dirty="0">
                <a:solidFill>
                  <a:schemeClr val="accent2">
                    <a:lumMod val="75000"/>
                  </a:schemeClr>
                </a:solidFill>
                <a:latin typeface="Poppins" pitchFamily="2" charset="77"/>
                <a:cs typeface="Poppins" pitchFamily="2" charset="77"/>
              </a:rPr>
              <a:t>Query</a:t>
            </a:r>
          </a:p>
        </p:txBody>
      </p:sp>
      <p:sp>
        <p:nvSpPr>
          <p:cNvPr id="9" name="Rounded Rectangle 8">
            <a:extLst>
              <a:ext uri="{FF2B5EF4-FFF2-40B4-BE49-F238E27FC236}">
                <a16:creationId xmlns:a16="http://schemas.microsoft.com/office/drawing/2014/main" id="{350B43FE-B035-BD16-736D-3370A464D65F}"/>
              </a:ext>
            </a:extLst>
          </p:cNvPr>
          <p:cNvSpPr/>
          <p:nvPr/>
        </p:nvSpPr>
        <p:spPr>
          <a:xfrm>
            <a:off x="1207295" y="3574516"/>
            <a:ext cx="2988000" cy="568800"/>
          </a:xfrm>
          <a:prstGeom prst="round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423300"/>
                </a:solidFill>
                <a:latin typeface="Poppins" pitchFamily="2" charset="77"/>
                <a:cs typeface="Poppins" pitchFamily="2" charset="77"/>
              </a:rPr>
              <a:t>params</a:t>
            </a:r>
            <a:r>
              <a:rPr lang="en-US" sz="1400">
                <a:solidFill>
                  <a:srgbClr val="423300"/>
                </a:solidFill>
                <a:latin typeface="Poppins" pitchFamily="2" charset="77"/>
                <a:cs typeface="Poppins" pitchFamily="2" charset="77"/>
              </a:rPr>
              <a:t>: </a:t>
            </a:r>
            <a:r>
              <a:rPr lang="en-US" sz="1400" dirty="0">
                <a:solidFill>
                  <a:srgbClr val="423300"/>
                </a:solidFill>
                <a:latin typeface="Poppins" pitchFamily="2" charset="77"/>
                <a:cs typeface="Poppins" pitchFamily="2" charset="77"/>
              </a:rPr>
              <a:t>/</a:t>
            </a:r>
            <a:r>
              <a:rPr lang="en-US" sz="1400">
                <a:solidFill>
                  <a:srgbClr val="423300"/>
                </a:solidFill>
                <a:latin typeface="Poppins" pitchFamily="2" charset="77"/>
                <a:cs typeface="Poppins" pitchFamily="2" charset="77"/>
              </a:rPr>
              <a:t>author/</a:t>
            </a:r>
            <a:endParaRPr lang="en-US" sz="1400" dirty="0">
              <a:solidFill>
                <a:srgbClr val="423300"/>
              </a:solidFill>
              <a:latin typeface="Poppins" pitchFamily="2" charset="77"/>
              <a:cs typeface="Poppins" pitchFamily="2" charset="77"/>
            </a:endParaRPr>
          </a:p>
        </p:txBody>
      </p:sp>
      <p:sp>
        <p:nvSpPr>
          <p:cNvPr id="10" name="Rounded Rectangle 9">
            <a:extLst>
              <a:ext uri="{FF2B5EF4-FFF2-40B4-BE49-F238E27FC236}">
                <a16:creationId xmlns:a16="http://schemas.microsoft.com/office/drawing/2014/main" id="{2F060B2E-3C5B-BECB-AC38-E40471561763}"/>
              </a:ext>
            </a:extLst>
          </p:cNvPr>
          <p:cNvSpPr/>
          <p:nvPr/>
        </p:nvSpPr>
        <p:spPr>
          <a:xfrm>
            <a:off x="1207295" y="4551262"/>
            <a:ext cx="2988000" cy="568800"/>
          </a:xfrm>
          <a:prstGeom prst="round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423300"/>
                </a:solidFill>
                <a:latin typeface="Poppins" pitchFamily="2" charset="77"/>
                <a:cs typeface="Poppins" pitchFamily="2" charset="77"/>
              </a:rPr>
              <a:t>query</a:t>
            </a:r>
            <a:r>
              <a:rPr lang="en-US" sz="1400">
                <a:solidFill>
                  <a:srgbClr val="423300"/>
                </a:solidFill>
                <a:latin typeface="Poppins" pitchFamily="2" charset="77"/>
                <a:cs typeface="Poppins" pitchFamily="2" charset="77"/>
              </a:rPr>
              <a:t>: </a:t>
            </a:r>
            <a:r>
              <a:rPr lang="en-US" sz="1400" dirty="0">
                <a:solidFill>
                  <a:srgbClr val="423300"/>
                </a:solidFill>
                <a:latin typeface="Poppins" pitchFamily="2" charset="77"/>
                <a:cs typeface="Poppins" pitchFamily="2" charset="77"/>
              </a:rPr>
              <a:t>/?limit=10&amp;offset</a:t>
            </a:r>
            <a:r>
              <a:rPr lang="en-US" sz="1400">
                <a:solidFill>
                  <a:srgbClr val="423300"/>
                </a:solidFill>
                <a:latin typeface="Poppins" pitchFamily="2" charset="77"/>
                <a:cs typeface="Poppins" pitchFamily="2" charset="77"/>
              </a:rPr>
              <a:t>=20</a:t>
            </a:r>
            <a:endParaRPr lang="en-US" sz="1400" dirty="0">
              <a:solidFill>
                <a:srgbClr val="423300"/>
              </a:solidFill>
              <a:latin typeface="Poppins" pitchFamily="2" charset="77"/>
              <a:cs typeface="Poppins" pitchFamily="2" charset="77"/>
            </a:endParaRPr>
          </a:p>
        </p:txBody>
      </p:sp>
      <p:cxnSp>
        <p:nvCxnSpPr>
          <p:cNvPr id="11" name="Elbow Connector 10">
            <a:extLst>
              <a:ext uri="{FF2B5EF4-FFF2-40B4-BE49-F238E27FC236}">
                <a16:creationId xmlns:a16="http://schemas.microsoft.com/office/drawing/2014/main" id="{99CC08FF-7A93-E015-9271-D6DD554051D3}"/>
              </a:ext>
            </a:extLst>
          </p:cNvPr>
          <p:cNvCxnSpPr>
            <a:cxnSpLocks/>
            <a:stCxn id="9" idx="3"/>
            <a:endCxn id="12" idx="1"/>
          </p:cNvCxnSpPr>
          <p:nvPr/>
        </p:nvCxnSpPr>
        <p:spPr>
          <a:xfrm flipV="1">
            <a:off x="4195295" y="3855620"/>
            <a:ext cx="1900705" cy="3296"/>
          </a:xfrm>
          <a:prstGeom prst="bentConnector3">
            <a:avLst>
              <a:gd name="adj1" fmla="val 50000"/>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C2CF72EB-73B2-8903-1848-3AC4172A15A9}"/>
              </a:ext>
            </a:extLst>
          </p:cNvPr>
          <p:cNvSpPr/>
          <p:nvPr/>
        </p:nvSpPr>
        <p:spPr>
          <a:xfrm>
            <a:off x="6096000" y="3571220"/>
            <a:ext cx="5068389" cy="5688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prstClr val="white"/>
                </a:solidFill>
                <a:latin typeface="Poppins" pitchFamily="2" charset="77"/>
                <a:cs typeface="Poppins" pitchFamily="2" charset="77"/>
              </a:rPr>
              <a:t>Params can be thought of as categories</a:t>
            </a:r>
          </a:p>
        </p:txBody>
      </p:sp>
      <p:sp>
        <p:nvSpPr>
          <p:cNvPr id="15" name="Rounded Rectangle 14">
            <a:extLst>
              <a:ext uri="{FF2B5EF4-FFF2-40B4-BE49-F238E27FC236}">
                <a16:creationId xmlns:a16="http://schemas.microsoft.com/office/drawing/2014/main" id="{3A5C5B49-B987-54DA-F484-A2EAFA88ECEA}"/>
              </a:ext>
            </a:extLst>
          </p:cNvPr>
          <p:cNvSpPr/>
          <p:nvPr/>
        </p:nvSpPr>
        <p:spPr>
          <a:xfrm>
            <a:off x="6098924" y="4551258"/>
            <a:ext cx="5068389" cy="5688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prstClr val="white"/>
                </a:solidFill>
                <a:latin typeface="Poppins" pitchFamily="2" charset="77"/>
                <a:cs typeface="Poppins" pitchFamily="2" charset="77"/>
              </a:rPr>
              <a:t>And queries can be thought of as filters</a:t>
            </a:r>
          </a:p>
        </p:txBody>
      </p:sp>
      <p:cxnSp>
        <p:nvCxnSpPr>
          <p:cNvPr id="17" name="Elbow Connector 16">
            <a:extLst>
              <a:ext uri="{FF2B5EF4-FFF2-40B4-BE49-F238E27FC236}">
                <a16:creationId xmlns:a16="http://schemas.microsoft.com/office/drawing/2014/main" id="{8F66A9A3-A31C-520B-8B76-4E4125649425}"/>
              </a:ext>
            </a:extLst>
          </p:cNvPr>
          <p:cNvCxnSpPr>
            <a:cxnSpLocks/>
            <a:stCxn id="10" idx="3"/>
            <a:endCxn id="15" idx="1"/>
          </p:cNvCxnSpPr>
          <p:nvPr/>
        </p:nvCxnSpPr>
        <p:spPr>
          <a:xfrm flipV="1">
            <a:off x="4195295" y="4835658"/>
            <a:ext cx="1903629" cy="4"/>
          </a:xfrm>
          <a:prstGeom prst="bentConnector3">
            <a:avLst>
              <a:gd name="adj1" fmla="val 50000"/>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38AA5B7-1AB4-F042-3870-8AC4126C206A}"/>
              </a:ext>
            </a:extLst>
          </p:cNvPr>
          <p:cNvSpPr txBox="1"/>
          <p:nvPr/>
        </p:nvSpPr>
        <p:spPr>
          <a:xfrm>
            <a:off x="1532709" y="2212847"/>
            <a:ext cx="9126582" cy="400110"/>
          </a:xfrm>
          <a:prstGeom prst="rect">
            <a:avLst/>
          </a:prstGeom>
          <a:noFill/>
        </p:spPr>
        <p:txBody>
          <a:bodyPr wrap="square">
            <a:spAutoFit/>
          </a:bodyPr>
          <a:lstStyle/>
          <a:p>
            <a:pPr algn="ctr"/>
            <a:r>
              <a:rPr lang="en-US" sz="2000" i="1" dirty="0">
                <a:solidFill>
                  <a:srgbClr val="423300"/>
                </a:solidFill>
                <a:latin typeface="Poppins" pitchFamily="2" charset="77"/>
                <a:cs typeface="Poppins" pitchFamily="2" charset="77"/>
              </a:rPr>
              <a:t>GET https://</a:t>
            </a:r>
            <a:r>
              <a:rPr lang="en-US" sz="2000" i="1" dirty="0" err="1">
                <a:solidFill>
                  <a:srgbClr val="423300"/>
                </a:solidFill>
                <a:latin typeface="Poppins" pitchFamily="2" charset="77"/>
                <a:cs typeface="Poppins" pitchFamily="2" charset="77"/>
              </a:rPr>
              <a:t>apiurl.com</a:t>
            </a:r>
            <a:r>
              <a:rPr lang="en-US" sz="2000" i="1" dirty="0">
                <a:solidFill>
                  <a:srgbClr val="423300"/>
                </a:solidFill>
                <a:latin typeface="Poppins" pitchFamily="2" charset="77"/>
                <a:cs typeface="Poppins" pitchFamily="2" charset="77"/>
              </a:rPr>
              <a:t>/posts/author/?limit=10&amp;offset=20</a:t>
            </a:r>
          </a:p>
        </p:txBody>
      </p:sp>
    </p:spTree>
    <p:extLst>
      <p:ext uri="{BB962C8B-B14F-4D97-AF65-F5344CB8AC3E}">
        <p14:creationId xmlns:p14="http://schemas.microsoft.com/office/powerpoint/2010/main" val="402412157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AE8F158-3B2E-9CE4-65A9-656CBC18F347}"/>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A40B224C-6DA7-00B9-D662-88971F5EF4DE}"/>
              </a:ext>
            </a:extLst>
          </p:cNvPr>
          <p:cNvSpPr/>
          <p:nvPr/>
        </p:nvSpPr>
        <p:spPr>
          <a:xfrm rot="2055929">
            <a:off x="8029613" y="445303"/>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7DBDC513-0CBD-2E43-902A-0413B201EB00}"/>
              </a:ext>
            </a:extLst>
          </p:cNvPr>
          <p:cNvSpPr/>
          <p:nvPr/>
        </p:nvSpPr>
        <p:spPr>
          <a:xfrm rot="787370">
            <a:off x="11526409" y="3782997"/>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C3F61E75-F07D-D562-34D5-5084D8389EF4}"/>
              </a:ext>
            </a:extLst>
          </p:cNvPr>
          <p:cNvSpPr/>
          <p:nvPr/>
        </p:nvSpPr>
        <p:spPr>
          <a:xfrm rot="20264836">
            <a:off x="350366" y="2254282"/>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A7EAB191-72E8-5673-5A27-98CB621198AE}"/>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66C8D620-8A6B-BCFD-61EE-A3839C6A4BA5}"/>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Body Object </a:t>
            </a:r>
            <a:r>
              <a:rPr lang="en-US" sz="3600" b="1" dirty="0">
                <a:solidFill>
                  <a:schemeClr val="accent2">
                    <a:lumMod val="75000"/>
                  </a:schemeClr>
                </a:solidFill>
                <a:latin typeface="Poppins" pitchFamily="2" charset="77"/>
                <a:cs typeface="Poppins" pitchFamily="2" charset="77"/>
              </a:rPr>
              <a:t>Example (JSON)</a:t>
            </a:r>
          </a:p>
        </p:txBody>
      </p:sp>
      <p:sp>
        <p:nvSpPr>
          <p:cNvPr id="13" name="TextBox 12">
            <a:extLst>
              <a:ext uri="{FF2B5EF4-FFF2-40B4-BE49-F238E27FC236}">
                <a16:creationId xmlns:a16="http://schemas.microsoft.com/office/drawing/2014/main" id="{5067AD24-594E-133B-4BBB-E5A5074F0B81}"/>
              </a:ext>
            </a:extLst>
          </p:cNvPr>
          <p:cNvSpPr txBox="1"/>
          <p:nvPr/>
        </p:nvSpPr>
        <p:spPr>
          <a:xfrm>
            <a:off x="1228281" y="4920222"/>
            <a:ext cx="9735438" cy="1034899"/>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In HTTP APIs, the request body is utilized with POST, PATCH, and PUT methods for transmitting data to the server. These methods respectively create, partially update, and replace resources, allowing detailed data inclusion in the request body for processing.</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16" name="Picture 15">
            <a:extLst>
              <a:ext uri="{FF2B5EF4-FFF2-40B4-BE49-F238E27FC236}">
                <a16:creationId xmlns:a16="http://schemas.microsoft.com/office/drawing/2014/main" id="{4C6CEDBC-DA79-708E-B915-69420A02C9EF}"/>
              </a:ext>
            </a:extLst>
          </p:cNvPr>
          <p:cNvPicPr>
            <a:picLocks noChangeAspect="1"/>
          </p:cNvPicPr>
          <p:nvPr/>
        </p:nvPicPr>
        <p:blipFill>
          <a:blip r:embed="rId5"/>
          <a:stretch>
            <a:fillRect/>
          </a:stretch>
        </p:blipFill>
        <p:spPr>
          <a:xfrm>
            <a:off x="2499835" y="1230028"/>
            <a:ext cx="7192330" cy="3327651"/>
          </a:xfrm>
          <a:prstGeom prst="rect">
            <a:avLst/>
          </a:prstGeom>
        </p:spPr>
      </p:pic>
    </p:spTree>
    <p:extLst>
      <p:ext uri="{BB962C8B-B14F-4D97-AF65-F5344CB8AC3E}">
        <p14:creationId xmlns:p14="http://schemas.microsoft.com/office/powerpoint/2010/main" val="96548076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1E32545-8210-F734-833C-54B0A78930F7}"/>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08BBA206-3B52-541D-77C0-4E11F7F131B6}"/>
              </a:ext>
            </a:extLst>
          </p:cNvPr>
          <p:cNvSpPr/>
          <p:nvPr/>
        </p:nvSpPr>
        <p:spPr>
          <a:xfrm rot="2055929">
            <a:off x="805853" y="1233040"/>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D21EBDCB-C140-28F9-F472-03F5E9C7DC88}"/>
              </a:ext>
            </a:extLst>
          </p:cNvPr>
          <p:cNvSpPr/>
          <p:nvPr/>
        </p:nvSpPr>
        <p:spPr>
          <a:xfrm rot="787370">
            <a:off x="11479459" y="946262"/>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01664B4B-DF95-86CB-AC3D-D6054E484519}"/>
              </a:ext>
            </a:extLst>
          </p:cNvPr>
          <p:cNvSpPr/>
          <p:nvPr/>
        </p:nvSpPr>
        <p:spPr>
          <a:xfrm rot="20264836">
            <a:off x="792864" y="6097114"/>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AC3E2EA8-3AC0-FD3D-5446-E4C0A7A366FD}"/>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C9B9AC49-6D18-50AF-1BE3-5572C97B1C16}"/>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Development </a:t>
            </a:r>
            <a:r>
              <a:rPr lang="en-US" sz="3600" b="1" dirty="0">
                <a:solidFill>
                  <a:schemeClr val="accent2">
                    <a:lumMod val="75000"/>
                  </a:schemeClr>
                </a:solidFill>
                <a:latin typeface="Poppins" pitchFamily="2" charset="77"/>
                <a:cs typeface="Poppins" pitchFamily="2" charset="77"/>
              </a:rPr>
              <a:t>Environment</a:t>
            </a:r>
          </a:p>
        </p:txBody>
      </p:sp>
      <p:sp>
        <p:nvSpPr>
          <p:cNvPr id="4" name="TextBox 3">
            <a:extLst>
              <a:ext uri="{FF2B5EF4-FFF2-40B4-BE49-F238E27FC236}">
                <a16:creationId xmlns:a16="http://schemas.microsoft.com/office/drawing/2014/main" id="{7A8309B3-A488-E803-5445-32084DEEF2F0}"/>
              </a:ext>
            </a:extLst>
          </p:cNvPr>
          <p:cNvSpPr txBox="1"/>
          <p:nvPr/>
        </p:nvSpPr>
        <p:spPr>
          <a:xfrm>
            <a:off x="531223" y="5072293"/>
            <a:ext cx="1985554" cy="338554"/>
          </a:xfrm>
          <a:prstGeom prst="rect">
            <a:avLst/>
          </a:prstGeom>
          <a:noFill/>
        </p:spPr>
        <p:txBody>
          <a:bodyPr wrap="square">
            <a:spAutoFit/>
          </a:bodyPr>
          <a:lstStyle>
            <a:defPPr>
              <a:defRPr lang="en-US"/>
            </a:defPPr>
            <a:lvl1pPr algn="ctr">
              <a:defRPr sz="1600" b="1">
                <a:solidFill>
                  <a:srgbClr val="423300"/>
                </a:solidFill>
                <a:latin typeface="Poppins SemiBold" pitchFamily="2" charset="77"/>
                <a:cs typeface="Poppins SemiBold" pitchFamily="2" charset="77"/>
              </a:defRPr>
            </a:lvl1pPr>
          </a:lstStyle>
          <a:p>
            <a:r>
              <a:rPr lang="en-US" dirty="0"/>
              <a:t>Client</a:t>
            </a:r>
          </a:p>
        </p:txBody>
      </p:sp>
      <p:sp>
        <p:nvSpPr>
          <p:cNvPr id="13" name="TextBox 12">
            <a:extLst>
              <a:ext uri="{FF2B5EF4-FFF2-40B4-BE49-F238E27FC236}">
                <a16:creationId xmlns:a16="http://schemas.microsoft.com/office/drawing/2014/main" id="{B8F2C09D-D726-07DE-D73D-FDBDFB664585}"/>
              </a:ext>
            </a:extLst>
          </p:cNvPr>
          <p:cNvSpPr txBox="1"/>
          <p:nvPr/>
        </p:nvSpPr>
        <p:spPr>
          <a:xfrm>
            <a:off x="9675223" y="4404164"/>
            <a:ext cx="1985554" cy="553998"/>
          </a:xfrm>
          <a:prstGeom prst="rect">
            <a:avLst/>
          </a:prstGeom>
          <a:noFill/>
        </p:spPr>
        <p:txBody>
          <a:bodyPr wrap="square">
            <a:spAutoFit/>
          </a:bodyPr>
          <a:lstStyle/>
          <a:p>
            <a:pPr algn="ctr"/>
            <a:r>
              <a:rPr lang="en-US" sz="1600" b="1" dirty="0">
                <a:solidFill>
                  <a:srgbClr val="423300"/>
                </a:solidFill>
                <a:latin typeface="Poppins SemiBold" pitchFamily="2" charset="77"/>
                <a:cs typeface="Poppins SemiBold" pitchFamily="2" charset="77"/>
              </a:rPr>
              <a:t>Server</a:t>
            </a:r>
            <a:br>
              <a:rPr lang="en-US" sz="1600" b="1" dirty="0">
                <a:solidFill>
                  <a:srgbClr val="423300"/>
                </a:solidFill>
                <a:latin typeface="Poppins SemiBold" pitchFamily="2" charset="77"/>
                <a:cs typeface="Poppins SemiBold" pitchFamily="2" charset="77"/>
              </a:rPr>
            </a:br>
            <a:r>
              <a:rPr lang="en-US" sz="1400" b="1" dirty="0">
                <a:solidFill>
                  <a:srgbClr val="423300"/>
                </a:solidFill>
                <a:latin typeface="Poppins SemiBold" pitchFamily="2" charset="77"/>
                <a:cs typeface="Poppins SemiBold" pitchFamily="2" charset="77"/>
              </a:rPr>
              <a:t>(localhost)</a:t>
            </a:r>
          </a:p>
        </p:txBody>
      </p:sp>
      <p:cxnSp>
        <p:nvCxnSpPr>
          <p:cNvPr id="14" name="Straight Arrow Connector 13">
            <a:extLst>
              <a:ext uri="{FF2B5EF4-FFF2-40B4-BE49-F238E27FC236}">
                <a16:creationId xmlns:a16="http://schemas.microsoft.com/office/drawing/2014/main" id="{02EC3FFA-7B6C-DB0E-7C71-2AFAAEFABE3B}"/>
              </a:ext>
            </a:extLst>
          </p:cNvPr>
          <p:cNvCxnSpPr>
            <a:cxnSpLocks/>
          </p:cNvCxnSpPr>
          <p:nvPr/>
        </p:nvCxnSpPr>
        <p:spPr>
          <a:xfrm>
            <a:off x="2706542" y="3649725"/>
            <a:ext cx="2065755"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B9DD43C-B754-92BC-FADC-4D8DDD91E135}"/>
              </a:ext>
            </a:extLst>
          </p:cNvPr>
          <p:cNvCxnSpPr>
            <a:cxnSpLocks/>
          </p:cNvCxnSpPr>
          <p:nvPr/>
        </p:nvCxnSpPr>
        <p:spPr>
          <a:xfrm flipH="1">
            <a:off x="7254240" y="4311576"/>
            <a:ext cx="2220686"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a:extLst>
              <a:ext uri="{FF2B5EF4-FFF2-40B4-BE49-F238E27FC236}">
                <a16:creationId xmlns:a16="http://schemas.microsoft.com/office/drawing/2014/main" id="{BC8B495F-98AB-5499-DC81-AAE013434108}"/>
              </a:ext>
            </a:extLst>
          </p:cNvPr>
          <p:cNvSpPr/>
          <p:nvPr/>
        </p:nvSpPr>
        <p:spPr>
          <a:xfrm>
            <a:off x="5016137" y="3416543"/>
            <a:ext cx="2020389" cy="40229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prstClr val="white"/>
                </a:solidFill>
                <a:latin typeface="Poppins" pitchFamily="2" charset="77"/>
                <a:cs typeface="Poppins" pitchFamily="2" charset="77"/>
              </a:rPr>
              <a:t>Request</a:t>
            </a:r>
          </a:p>
        </p:txBody>
      </p:sp>
      <p:sp>
        <p:nvSpPr>
          <p:cNvPr id="19" name="Rounded Rectangle 18">
            <a:extLst>
              <a:ext uri="{FF2B5EF4-FFF2-40B4-BE49-F238E27FC236}">
                <a16:creationId xmlns:a16="http://schemas.microsoft.com/office/drawing/2014/main" id="{3918C00D-F9CC-B987-BE84-EDF84BA16587}"/>
              </a:ext>
            </a:extLst>
          </p:cNvPr>
          <p:cNvSpPr/>
          <p:nvPr/>
        </p:nvSpPr>
        <p:spPr>
          <a:xfrm>
            <a:off x="5016137" y="4085235"/>
            <a:ext cx="2020389" cy="40229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prstClr val="white"/>
                </a:solidFill>
                <a:latin typeface="Poppins" pitchFamily="2" charset="77"/>
                <a:cs typeface="Poppins" pitchFamily="2" charset="77"/>
              </a:rPr>
              <a:t>Response</a:t>
            </a:r>
          </a:p>
        </p:txBody>
      </p:sp>
      <p:cxnSp>
        <p:nvCxnSpPr>
          <p:cNvPr id="20" name="Straight Arrow Connector 19">
            <a:extLst>
              <a:ext uri="{FF2B5EF4-FFF2-40B4-BE49-F238E27FC236}">
                <a16:creationId xmlns:a16="http://schemas.microsoft.com/office/drawing/2014/main" id="{2089795A-404E-BF59-90FB-7F94EEE1C66E}"/>
              </a:ext>
            </a:extLst>
          </p:cNvPr>
          <p:cNvCxnSpPr>
            <a:cxnSpLocks/>
          </p:cNvCxnSpPr>
          <p:nvPr/>
        </p:nvCxnSpPr>
        <p:spPr>
          <a:xfrm>
            <a:off x="7254240" y="3649725"/>
            <a:ext cx="2285471"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651E090-D57D-0716-89AF-F28F61D7DAD7}"/>
              </a:ext>
            </a:extLst>
          </p:cNvPr>
          <p:cNvCxnSpPr>
            <a:cxnSpLocks/>
          </p:cNvCxnSpPr>
          <p:nvPr/>
        </p:nvCxnSpPr>
        <p:spPr>
          <a:xfrm flipH="1">
            <a:off x="2706542" y="4311576"/>
            <a:ext cx="2057047"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150797B4-0206-440C-88E5-7B13ACEEA4AC}"/>
              </a:ext>
            </a:extLst>
          </p:cNvPr>
          <p:cNvPicPr>
            <a:picLocks noChangeAspect="1"/>
          </p:cNvPicPr>
          <p:nvPr/>
        </p:nvPicPr>
        <p:blipFill>
          <a:blip r:embed="rId5"/>
          <a:stretch>
            <a:fillRect/>
          </a:stretch>
        </p:blipFill>
        <p:spPr>
          <a:xfrm>
            <a:off x="919726" y="2604756"/>
            <a:ext cx="1208548" cy="1208548"/>
          </a:xfrm>
          <a:prstGeom prst="rect">
            <a:avLst/>
          </a:prstGeom>
        </p:spPr>
      </p:pic>
      <p:pic>
        <p:nvPicPr>
          <p:cNvPr id="23" name="Graphic 22">
            <a:extLst>
              <a:ext uri="{FF2B5EF4-FFF2-40B4-BE49-F238E27FC236}">
                <a16:creationId xmlns:a16="http://schemas.microsoft.com/office/drawing/2014/main" id="{00B5F297-62AE-DC23-221F-A4AB936E27F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30703" y="3989977"/>
            <a:ext cx="828371" cy="828371"/>
          </a:xfrm>
          <a:prstGeom prst="rect">
            <a:avLst/>
          </a:prstGeom>
        </p:spPr>
      </p:pic>
      <p:pic>
        <p:nvPicPr>
          <p:cNvPr id="26" name="Graphic 25">
            <a:extLst>
              <a:ext uri="{FF2B5EF4-FFF2-40B4-BE49-F238E27FC236}">
                <a16:creationId xmlns:a16="http://schemas.microsoft.com/office/drawing/2014/main" id="{1CAE235A-9A3F-A298-88DD-1E022D552E6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87177" y="3682945"/>
            <a:ext cx="1489329" cy="402290"/>
          </a:xfrm>
          <a:prstGeom prst="rect">
            <a:avLst/>
          </a:prstGeom>
        </p:spPr>
      </p:pic>
    </p:spTree>
    <p:extLst>
      <p:ext uri="{BB962C8B-B14F-4D97-AF65-F5344CB8AC3E}">
        <p14:creationId xmlns:p14="http://schemas.microsoft.com/office/powerpoint/2010/main" val="159932146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5579</TotalTime>
  <Words>688</Words>
  <Application>Microsoft Macintosh PowerPoint</Application>
  <PresentationFormat>Widescreen</PresentationFormat>
  <Paragraphs>97</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Poppins</vt:lpstr>
      <vt:lpstr>Poppins SemiBold</vt:lpstr>
      <vt:lpstr>Office Theme</vt:lpstr>
      <vt:lpstr>What is REST API</vt:lpstr>
      <vt:lpstr>What is REST API?</vt:lpstr>
      <vt:lpstr>Design Principles For REST API</vt:lpstr>
      <vt:lpstr>Client Server Decoupling</vt:lpstr>
      <vt:lpstr>Types Of HTTP Request Methods</vt:lpstr>
      <vt:lpstr>Uniform Interface</vt:lpstr>
      <vt:lpstr>REST is Stateless</vt:lpstr>
      <vt:lpstr>Cacheability</vt:lpstr>
      <vt:lpstr>Layered Architecture</vt:lpstr>
      <vt:lpstr>Anatomy Of API Endpoint</vt:lpstr>
      <vt:lpstr>Params Vs. Query</vt:lpstr>
      <vt:lpstr>Body Object Example (JSON)</vt:lpstr>
      <vt:lpstr>Development Environment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NESTJS</dc:title>
  <dc:creator>Microsoft Office User</dc:creator>
  <cp:lastModifiedBy>Manik Bajaj</cp:lastModifiedBy>
  <cp:revision>606</cp:revision>
  <dcterms:created xsi:type="dcterms:W3CDTF">2024-02-28T11:24:07Z</dcterms:created>
  <dcterms:modified xsi:type="dcterms:W3CDTF">2024-10-01T10:51:21Z</dcterms:modified>
</cp:coreProperties>
</file>